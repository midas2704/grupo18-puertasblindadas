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10287000" cx="18288000"/>
  <p:notesSz cx="6858000" cy="9144000"/>
  <p:embeddedFontLst>
    <p:embeddedFont>
      <p:font typeface="Inter"/>
      <p:regular r:id="rId22"/>
      <p:bold r:id="rId23"/>
      <p:italic r:id="rId24"/>
      <p:boldItalic r:id="rId25"/>
    </p:embeddedFont>
    <p:embeddedFont>
      <p:font typeface="Poppins Black"/>
      <p:bold r:id="rId26"/>
      <p:boldItalic r:id="rId27"/>
    </p:embeddedFont>
    <p:embeddedFont>
      <p:font typeface="Inter Medium"/>
      <p:regular r:id="rId28"/>
      <p:bold r:id="rId29"/>
      <p:italic r:id="rId30"/>
      <p:boldItalic r:id="rId31"/>
    </p:embeddedFont>
    <p:embeddedFont>
      <p:font typeface="Open Sans"/>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4" roundtripDataSignature="AMtx7mjW/qWb7QzT3F57UL1bSniHMCoP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00DF99-A3A3-461B-A070-3797F53F9581}">
  <a:tblStyle styleId="{6B00DF99-A3A3-461B-A070-3797F53F958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regular.fntdata"/><Relationship Id="rId21" Type="http://schemas.openxmlformats.org/officeDocument/2006/relationships/slide" Target="slides/slide15.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Black-bold.fntdata"/><Relationship Id="rId25" Type="http://schemas.openxmlformats.org/officeDocument/2006/relationships/font" Target="fonts/Inter-boldItalic.fntdata"/><Relationship Id="rId28" Type="http://schemas.openxmlformats.org/officeDocument/2006/relationships/font" Target="fonts/InterMedium-regular.fntdata"/><Relationship Id="rId27" Type="http://schemas.openxmlformats.org/officeDocument/2006/relationships/font" Target="fonts/PoppinsBlack-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boldItalic.fntdata"/><Relationship Id="rId30" Type="http://schemas.openxmlformats.org/officeDocument/2006/relationships/font" Target="fonts/InterMedium-italic.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bold.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Somos el equipo del Modulo Financiero para Puertas Blindadas. En esta presentación mostraremos el Incremento 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15" name="Google Shape;115;p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presentación se organiza en una visión general del incremento, luego una revisión de la modologia utilizada y finalmente dos requerimientos representativos del negocio.</a:t>
            </a:r>
            <a:endParaRPr/>
          </a:p>
        </p:txBody>
      </p:sp>
      <p:sp>
        <p:nvSpPr>
          <p:cNvPr id="117" name="Google Shape;117;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8" name="Google Shape;118;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67" name="Google Shape;167;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68" name="Google Shape;168;p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71" name="Google Shape;171;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6" name="Google Shape;206;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07" name="Google Shape;207;p8: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10" name="Google Shape;210;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0" name="Google Shape;250;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51" name="Google Shape;251;p9: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54" name="Google Shape;254;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4" name="Google Shape;274;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75" name="Google Shape;275;p10: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78" name="Google Shape;278;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98" name="Google Shape;298;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9" name="Google Shape;299;p12: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01" name="Google Shape;301;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02" name="Google Shape;302;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2" name="Google Shape;34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3" name="Google Shape;343;p13: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46" name="Google Shape;34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2f583de033a753c6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69" name="Google Shape;369;g2f583de033a753c6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70" name="Google Shape;370;g2f583de033a753c6_0: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f583de033a753c6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2f583de033a753c6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73" name="Google Shape;373;g2f583de033a753c6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3" name="Google Shape;393;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94" name="Google Shape;394;p4: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5" name="Google Shape;395;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397" name="Google Shape;397;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0" name="Google Shape;410;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11" name="Google Shape;411;p5: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14" name="Google Shape;414;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26" name="Google Shape;426;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27" name="Google Shape;427;p6: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Como </a:t>
            </a:r>
            <a:r>
              <a:rPr lang="en-US"/>
              <a:t>podemos</a:t>
            </a:r>
            <a:r>
              <a:rPr lang="en-US"/>
              <a:t> observar, este es el segmento del modelo fisico utilizado para este incremento 2, se muestran las entidades, la informacion que guarda cada tabla junto a su tipo de dato y relaciones necesarias para soportar la </a:t>
            </a:r>
            <a:r>
              <a:rPr lang="en-US"/>
              <a:t>información</a:t>
            </a:r>
            <a:r>
              <a:rPr lang="en-US"/>
              <a:t> financiera y compartida. Este modelo contiene 38 entidades fisicas y 61 relaciones de claves foraneas concentradas en los esquemas de finanzas y común. Lo central de este incremento es clientes, cotizaciones, notas de venta, pagos y la informacion de seguridad quedan vinculados mediante una estructura persistente coherente. Finalmente esta estructura funcional debe traducirse en una navegacion comprensible para el usuario.</a:t>
            </a:r>
            <a:endParaRPr/>
          </a:p>
        </p:txBody>
      </p:sp>
      <p:sp>
        <p:nvSpPr>
          <p:cNvPr id="429" name="Google Shape;429;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30" name="Google Shape;430;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8" name="Google Shape;448;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49" name="Google Shape;449;p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Aca podemos ver el arbol de </a:t>
            </a:r>
            <a:r>
              <a:rPr lang="en-US"/>
              <a:t>navegación</a:t>
            </a:r>
            <a:r>
              <a:rPr lang="en-US"/>
              <a:t> el cual organiza las vistas implementadas en este segundo incremento junto a sus funcionalidades que se ejecutan dentro de cada una. En gris se representan las vistas y en naranja sus funcionalidades. Para este incremento se consideran especialmente los contextos asociados a pagos y a seguridad, como por ejemplo la vista llamada “Registro de pago” en la cual se encuentran las funcionalidades como buscar y seleccionar cliente, asociar pago a la nota de venta, clasificar pagos, entre otros. </a:t>
            </a:r>
            <a:endParaRPr/>
          </a:p>
        </p:txBody>
      </p:sp>
      <p:sp>
        <p:nvSpPr>
          <p:cNvPr id="451" name="Google Shape;451;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2" name="Google Shape;452;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0" name="Google Shape;470;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71" name="Google Shape;471;p17:notes"/>
          <p:cNvSpPr/>
          <p:nvPr>
            <p:ph idx="3" type="sldImg"/>
          </p:nvPr>
        </p:nvSpPr>
        <p:spPr>
          <a:xfrm>
            <a:off x="2290763" y="512763"/>
            <a:ext cx="4562475"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3" name="Google Shape;473;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74" name="Google Shape;474;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f583de033a753c6_8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91" name="Google Shape;491;g2f583de033a753c6_8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2" name="Google Shape;492;g2f583de033a753c6_89:notes"/>
          <p:cNvSpPr/>
          <p:nvPr>
            <p:ph idx="3" type="sldImg"/>
          </p:nvPr>
        </p:nvSpPr>
        <p:spPr>
          <a:xfrm>
            <a:off x="2290763" y="512763"/>
            <a:ext cx="45624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g2f583de033a753c6_8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Somos el equipo del Modulo Financiero para Puertas Blindadas. En esta presentación mostraremos el Incremento 1.</a:t>
            </a:r>
            <a:endParaRPr/>
          </a:p>
        </p:txBody>
      </p:sp>
      <p:sp>
        <p:nvSpPr>
          <p:cNvPr id="494" name="Google Shape;494;g2f583de033a753c6_89: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95" name="Google Shape;495;g2f583de033a753c6_89: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drive.google.com/file/d/1fNdI5Io5FK4ujabURc4wCjEaL27n1rra/view" TargetMode="Externa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91" name="Shape 91"/>
        <p:cNvGrpSpPr/>
        <p:nvPr/>
      </p:nvGrpSpPr>
      <p:grpSpPr>
        <a:xfrm>
          <a:off x="0" y="0"/>
          <a:ext cx="0" cy="0"/>
          <a:chOff x="0" y="0"/>
          <a:chExt cx="0" cy="0"/>
        </a:xfrm>
      </p:grpSpPr>
      <p:grpSp>
        <p:nvGrpSpPr>
          <p:cNvPr id="92" name="Google Shape;92;p1"/>
          <p:cNvGrpSpPr/>
          <p:nvPr/>
        </p:nvGrpSpPr>
        <p:grpSpPr>
          <a:xfrm>
            <a:off x="-4432416" y="4521897"/>
            <a:ext cx="7613660" cy="7613660"/>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5" name="Google Shape;95;p1"/>
          <p:cNvGrpSpPr/>
          <p:nvPr/>
        </p:nvGrpSpPr>
        <p:grpSpPr>
          <a:xfrm>
            <a:off x="-106638" y="8075352"/>
            <a:ext cx="18501275" cy="2443817"/>
            <a:chOff x="0" y="-38100"/>
            <a:chExt cx="4872764" cy="709165"/>
          </a:xfrm>
        </p:grpSpPr>
        <p:sp>
          <p:nvSpPr>
            <p:cNvPr id="96" name="Google Shape;96;p1"/>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
            <p:cNvSpPr txBox="1"/>
            <p:nvPr/>
          </p:nvSpPr>
          <p:spPr>
            <a:xfrm>
              <a:off x="0" y="-38100"/>
              <a:ext cx="4872764" cy="70916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8" name="Google Shape;98;p1"/>
          <p:cNvGrpSpPr/>
          <p:nvPr/>
        </p:nvGrpSpPr>
        <p:grpSpPr>
          <a:xfrm>
            <a:off x="13172228" y="5377078"/>
            <a:ext cx="2291446" cy="2291446"/>
            <a:chOff x="0" y="0"/>
            <a:chExt cx="812800" cy="812800"/>
          </a:xfrm>
        </p:grpSpPr>
        <p:sp>
          <p:nvSpPr>
            <p:cNvPr id="99" name="Google Shape;99;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1" name="Google Shape;101;p1"/>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02" name="Google Shape;102;p1"/>
          <p:cNvGrpSpPr/>
          <p:nvPr/>
        </p:nvGrpSpPr>
        <p:grpSpPr>
          <a:xfrm>
            <a:off x="-2609694" y="5597423"/>
            <a:ext cx="4689577" cy="4689577"/>
            <a:chOff x="0" y="0"/>
            <a:chExt cx="812800" cy="812800"/>
          </a:xfrm>
        </p:grpSpPr>
        <p:sp>
          <p:nvSpPr>
            <p:cNvPr id="103" name="Google Shape;10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05" name="Google Shape;105;p1"/>
          <p:cNvGrpSpPr/>
          <p:nvPr/>
        </p:nvGrpSpPr>
        <p:grpSpPr>
          <a:xfrm>
            <a:off x="14740038" y="-3443680"/>
            <a:ext cx="6669748" cy="6669748"/>
            <a:chOff x="0" y="0"/>
            <a:chExt cx="812800" cy="812800"/>
          </a:xfrm>
        </p:grpSpPr>
        <p:sp>
          <p:nvSpPr>
            <p:cNvPr id="106" name="Google Shape;106;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8" name="Google Shape;108;p1"/>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
          <p:cNvSpPr txBox="1"/>
          <p:nvPr/>
        </p:nvSpPr>
        <p:spPr>
          <a:xfrm>
            <a:off x="1261789" y="2528950"/>
            <a:ext cx="15764400" cy="31746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lang="en-US" sz="9999">
                <a:solidFill>
                  <a:srgbClr val="000000"/>
                </a:solidFill>
                <a:latin typeface="Impact"/>
                <a:ea typeface="Impact"/>
                <a:cs typeface="Impact"/>
                <a:sym typeface="Impact"/>
              </a:rPr>
              <a:t>GRUPO 18:PUERTAS BLINDADAS - MODULO FINANCIERO</a:t>
            </a:r>
            <a:endParaRPr/>
          </a:p>
        </p:txBody>
      </p:sp>
      <p:sp>
        <p:nvSpPr>
          <p:cNvPr id="110" name="Google Shape;110;p1"/>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Angella Sanchez</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Daniella Lecanda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Gianella Catalán</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Sebastian Bravo</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Valentin Garcia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Vicente Hernandez</a:t>
            </a:r>
            <a:endParaRPr/>
          </a:p>
          <a:p>
            <a:pPr indent="0" lvl="0" marL="0" marR="0" rtl="0" algn="just">
              <a:lnSpc>
                <a:spcPct val="140000"/>
              </a:lnSpc>
              <a:spcBef>
                <a:spcPts val="0"/>
              </a:spcBef>
              <a:spcAft>
                <a:spcPts val="0"/>
              </a:spcAft>
              <a:buNone/>
            </a:pPr>
            <a:r>
              <a:t/>
            </a:r>
            <a:endParaRPr b="1" sz="2000">
              <a:solidFill>
                <a:srgbClr val="7D7C7C"/>
              </a:solidFill>
              <a:latin typeface="Inter Medium"/>
              <a:ea typeface="Inter Medium"/>
              <a:cs typeface="Inter Medium"/>
              <a:sym typeface="Inter Medium"/>
            </a:endParaRPr>
          </a:p>
        </p:txBody>
      </p:sp>
      <p:sp>
        <p:nvSpPr>
          <p:cNvPr id="111" name="Google Shape;111;p1"/>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19" name="Shape 119"/>
        <p:cNvGrpSpPr/>
        <p:nvPr/>
      </p:nvGrpSpPr>
      <p:grpSpPr>
        <a:xfrm>
          <a:off x="0" y="0"/>
          <a:ext cx="0" cy="0"/>
          <a:chOff x="0" y="0"/>
          <a:chExt cx="0" cy="0"/>
        </a:xfrm>
      </p:grpSpPr>
      <p:grpSp>
        <p:nvGrpSpPr>
          <p:cNvPr id="120" name="Google Shape;120;p2"/>
          <p:cNvGrpSpPr/>
          <p:nvPr/>
        </p:nvGrpSpPr>
        <p:grpSpPr>
          <a:xfrm>
            <a:off x="13964328" y="289313"/>
            <a:ext cx="3480018" cy="6840051"/>
            <a:chOff x="0" y="-38100"/>
            <a:chExt cx="916542" cy="1801483"/>
          </a:xfrm>
        </p:grpSpPr>
        <p:sp>
          <p:nvSpPr>
            <p:cNvPr id="121" name="Google Shape;121;p2"/>
            <p:cNvSpPr/>
            <p:nvPr/>
          </p:nvSpPr>
          <p:spPr>
            <a:xfrm>
              <a:off x="0" y="0"/>
              <a:ext cx="916542" cy="1763382"/>
            </a:xfrm>
            <a:custGeom>
              <a:rect b="b" l="l" r="r" t="t"/>
              <a:pathLst>
                <a:path extrusionOk="0" h="1763382" w="916542">
                  <a:moveTo>
                    <a:pt x="0" y="0"/>
                  </a:moveTo>
                  <a:lnTo>
                    <a:pt x="916542" y="0"/>
                  </a:lnTo>
                  <a:lnTo>
                    <a:pt x="916542" y="1763382"/>
                  </a:lnTo>
                  <a:lnTo>
                    <a:pt x="0" y="1763382"/>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txBox="1"/>
            <p:nvPr/>
          </p:nvSpPr>
          <p:spPr>
            <a:xfrm>
              <a:off x="0" y="-38100"/>
              <a:ext cx="916542" cy="1801483"/>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3" name="Google Shape;123;p2"/>
          <p:cNvGrpSpPr/>
          <p:nvPr/>
        </p:nvGrpSpPr>
        <p:grpSpPr>
          <a:xfrm>
            <a:off x="5957953" y="3791041"/>
            <a:ext cx="7613660" cy="7613660"/>
            <a:chOff x="0" y="0"/>
            <a:chExt cx="812800" cy="812800"/>
          </a:xfrm>
        </p:grpSpPr>
        <p:sp>
          <p:nvSpPr>
            <p:cNvPr id="124" name="Google Shape;124;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 name="Google Shape;125;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6" name="Google Shape;126;p2"/>
          <p:cNvGrpSpPr/>
          <p:nvPr/>
        </p:nvGrpSpPr>
        <p:grpSpPr>
          <a:xfrm>
            <a:off x="9490227" y="490073"/>
            <a:ext cx="6409551" cy="9129897"/>
            <a:chOff x="0" y="-38100"/>
            <a:chExt cx="1688101" cy="2404566"/>
          </a:xfrm>
        </p:grpSpPr>
        <p:sp>
          <p:nvSpPr>
            <p:cNvPr id="127" name="Google Shape;127;p2"/>
            <p:cNvSpPr/>
            <p:nvPr/>
          </p:nvSpPr>
          <p:spPr>
            <a:xfrm>
              <a:off x="0" y="0"/>
              <a:ext cx="1688101" cy="2366466"/>
            </a:xfrm>
            <a:custGeom>
              <a:rect b="b" l="l" r="r" t="t"/>
              <a:pathLst>
                <a:path extrusionOk="0" h="2366466" w="1688101">
                  <a:moveTo>
                    <a:pt x="0" y="0"/>
                  </a:moveTo>
                  <a:lnTo>
                    <a:pt x="1688101" y="0"/>
                  </a:lnTo>
                  <a:lnTo>
                    <a:pt x="1688101" y="2366466"/>
                  </a:lnTo>
                  <a:lnTo>
                    <a:pt x="0" y="2366466"/>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
            <p:cNvSpPr txBox="1"/>
            <p:nvPr/>
          </p:nvSpPr>
          <p:spPr>
            <a:xfrm>
              <a:off x="0" y="-38100"/>
              <a:ext cx="1688101" cy="2404566"/>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29" name="Google Shape;129;p2"/>
          <p:cNvGrpSpPr/>
          <p:nvPr/>
        </p:nvGrpSpPr>
        <p:grpSpPr>
          <a:xfrm>
            <a:off x="10567253" y="1240279"/>
            <a:ext cx="709005" cy="709005"/>
            <a:chOff x="0" y="0"/>
            <a:chExt cx="812800" cy="812800"/>
          </a:xfrm>
        </p:grpSpPr>
        <p:sp>
          <p:nvSpPr>
            <p:cNvPr id="130" name="Google Shape;130;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1</a:t>
              </a:r>
              <a:endParaRPr/>
            </a:p>
          </p:txBody>
        </p:sp>
      </p:grpSp>
      <p:grpSp>
        <p:nvGrpSpPr>
          <p:cNvPr id="132" name="Google Shape;132;p2"/>
          <p:cNvGrpSpPr/>
          <p:nvPr/>
        </p:nvGrpSpPr>
        <p:grpSpPr>
          <a:xfrm>
            <a:off x="10567253" y="2196258"/>
            <a:ext cx="709005" cy="709005"/>
            <a:chOff x="0" y="0"/>
            <a:chExt cx="812800" cy="812800"/>
          </a:xfrm>
        </p:grpSpPr>
        <p:sp>
          <p:nvSpPr>
            <p:cNvPr id="133" name="Google Shape;133;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2</a:t>
              </a:r>
              <a:endParaRPr/>
            </a:p>
          </p:txBody>
        </p:sp>
      </p:grpSp>
      <p:grpSp>
        <p:nvGrpSpPr>
          <p:cNvPr id="135" name="Google Shape;135;p2"/>
          <p:cNvGrpSpPr/>
          <p:nvPr/>
        </p:nvGrpSpPr>
        <p:grpSpPr>
          <a:xfrm>
            <a:off x="10567253" y="3152939"/>
            <a:ext cx="709005" cy="709005"/>
            <a:chOff x="0" y="0"/>
            <a:chExt cx="812800" cy="812800"/>
          </a:xfrm>
        </p:grpSpPr>
        <p:sp>
          <p:nvSpPr>
            <p:cNvPr id="136" name="Google Shape;13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3</a:t>
              </a:r>
              <a:endParaRPr/>
            </a:p>
          </p:txBody>
        </p:sp>
      </p:grpSp>
      <p:grpSp>
        <p:nvGrpSpPr>
          <p:cNvPr id="138" name="Google Shape;138;p2"/>
          <p:cNvGrpSpPr/>
          <p:nvPr/>
        </p:nvGrpSpPr>
        <p:grpSpPr>
          <a:xfrm>
            <a:off x="10567253" y="4109619"/>
            <a:ext cx="709005" cy="709005"/>
            <a:chOff x="0" y="0"/>
            <a:chExt cx="812800" cy="812800"/>
          </a:xfrm>
        </p:grpSpPr>
        <p:sp>
          <p:nvSpPr>
            <p:cNvPr id="139" name="Google Shape;13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4</a:t>
              </a:r>
              <a:endParaRPr/>
            </a:p>
          </p:txBody>
        </p:sp>
      </p:grpSp>
      <p:grpSp>
        <p:nvGrpSpPr>
          <p:cNvPr id="141" name="Google Shape;141;p2"/>
          <p:cNvGrpSpPr/>
          <p:nvPr/>
        </p:nvGrpSpPr>
        <p:grpSpPr>
          <a:xfrm>
            <a:off x="10567253" y="5066299"/>
            <a:ext cx="709005" cy="709005"/>
            <a:chOff x="0" y="0"/>
            <a:chExt cx="812800" cy="812800"/>
          </a:xfrm>
        </p:grpSpPr>
        <p:sp>
          <p:nvSpPr>
            <p:cNvPr id="142" name="Google Shape;14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 name="Google Shape;14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5</a:t>
              </a:r>
              <a:endParaRPr/>
            </a:p>
          </p:txBody>
        </p:sp>
      </p:grpSp>
      <p:grpSp>
        <p:nvGrpSpPr>
          <p:cNvPr id="144" name="Google Shape;144;p2"/>
          <p:cNvGrpSpPr/>
          <p:nvPr/>
        </p:nvGrpSpPr>
        <p:grpSpPr>
          <a:xfrm>
            <a:off x="10567253" y="6022979"/>
            <a:ext cx="709005" cy="709005"/>
            <a:chOff x="0" y="0"/>
            <a:chExt cx="812800" cy="812800"/>
          </a:xfrm>
        </p:grpSpPr>
        <p:sp>
          <p:nvSpPr>
            <p:cNvPr id="145" name="Google Shape;145;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6</a:t>
              </a:r>
              <a:endParaRPr/>
            </a:p>
          </p:txBody>
        </p:sp>
      </p:grpSp>
      <p:sp>
        <p:nvSpPr>
          <p:cNvPr id="147" name="Google Shape;147;p2"/>
          <p:cNvSpPr/>
          <p:nvPr/>
        </p:nvSpPr>
        <p:spPr>
          <a:xfrm>
            <a:off x="1028700" y="7053599"/>
            <a:ext cx="7159730" cy="833132"/>
          </a:xfrm>
          <a:custGeom>
            <a:rect b="b" l="l" r="r" t="t"/>
            <a:pathLst>
              <a:path extrusionOk="0" h="833132" w="7159730">
                <a:moveTo>
                  <a:pt x="0" y="0"/>
                </a:moveTo>
                <a:lnTo>
                  <a:pt x="7159730" y="0"/>
                </a:lnTo>
                <a:lnTo>
                  <a:pt x="7159730" y="833132"/>
                </a:lnTo>
                <a:lnTo>
                  <a:pt x="0" y="83313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2"/>
          <p:cNvSpPr/>
          <p:nvPr/>
        </p:nvSpPr>
        <p:spPr>
          <a:xfrm rot="-5400000">
            <a:off x="1687106" y="5007850"/>
            <a:ext cx="239244" cy="1556056"/>
          </a:xfrm>
          <a:custGeom>
            <a:rect b="b" l="l" r="r" t="t"/>
            <a:pathLst>
              <a:path extrusionOk="0" h="1556056" w="239244">
                <a:moveTo>
                  <a:pt x="0" y="0"/>
                </a:moveTo>
                <a:lnTo>
                  <a:pt x="239244" y="0"/>
                </a:lnTo>
                <a:lnTo>
                  <a:pt x="239244" y="1556056"/>
                </a:lnTo>
                <a:lnTo>
                  <a:pt x="0" y="1556056"/>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
          <p:cNvSpPr txBox="1"/>
          <p:nvPr/>
        </p:nvSpPr>
        <p:spPr>
          <a:xfrm>
            <a:off x="311939" y="925385"/>
            <a:ext cx="9484500" cy="2847600"/>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lang="en-US" sz="8999">
                <a:solidFill>
                  <a:srgbClr val="000000"/>
                </a:solidFill>
                <a:latin typeface="Impact"/>
                <a:ea typeface="Impact"/>
                <a:cs typeface="Impact"/>
                <a:sym typeface="Impact"/>
              </a:rPr>
              <a:t>TABLA DE CONTENIDOS</a:t>
            </a:r>
            <a:endParaRPr/>
          </a:p>
        </p:txBody>
      </p:sp>
      <p:sp>
        <p:nvSpPr>
          <p:cNvPr id="150" name="Google Shape;150;p2"/>
          <p:cNvSpPr txBox="1"/>
          <p:nvPr/>
        </p:nvSpPr>
        <p:spPr>
          <a:xfrm>
            <a:off x="1028700" y="4305300"/>
            <a:ext cx="4929247" cy="1308098"/>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2500">
                <a:solidFill>
                  <a:srgbClr val="000000"/>
                </a:solidFill>
                <a:latin typeface="Inter"/>
                <a:ea typeface="Inter"/>
                <a:cs typeface="Inter"/>
                <a:sym typeface="Inter"/>
              </a:rPr>
              <a:t>Para la siguiente presentación se consideran los siguientes contenidos.</a:t>
            </a:r>
            <a:endParaRPr/>
          </a:p>
        </p:txBody>
      </p:sp>
      <p:sp>
        <p:nvSpPr>
          <p:cNvPr id="151" name="Google Shape;151;p2"/>
          <p:cNvSpPr txBox="1"/>
          <p:nvPr/>
        </p:nvSpPr>
        <p:spPr>
          <a:xfrm>
            <a:off x="11608223" y="1368100"/>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Introducción</a:t>
            </a:r>
            <a:endParaRPr/>
          </a:p>
        </p:txBody>
      </p:sp>
      <p:sp>
        <p:nvSpPr>
          <p:cNvPr id="152" name="Google Shape;152;p2"/>
          <p:cNvSpPr txBox="1"/>
          <p:nvPr/>
        </p:nvSpPr>
        <p:spPr>
          <a:xfrm>
            <a:off x="11608223" y="6179290"/>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Modelo de Datos</a:t>
            </a:r>
            <a:endParaRPr/>
          </a:p>
        </p:txBody>
      </p:sp>
      <p:sp>
        <p:nvSpPr>
          <p:cNvPr id="153" name="Google Shape;153;p2"/>
          <p:cNvSpPr txBox="1"/>
          <p:nvPr/>
        </p:nvSpPr>
        <p:spPr>
          <a:xfrm>
            <a:off x="11608223" y="7122446"/>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Árbol de Navegación </a:t>
            </a:r>
            <a:endParaRPr/>
          </a:p>
        </p:txBody>
      </p:sp>
      <p:sp>
        <p:nvSpPr>
          <p:cNvPr id="154" name="Google Shape;154;p2"/>
          <p:cNvSpPr txBox="1"/>
          <p:nvPr/>
        </p:nvSpPr>
        <p:spPr>
          <a:xfrm>
            <a:off x="11598024" y="4264032"/>
            <a:ext cx="41751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Diagrama de Componentes</a:t>
            </a:r>
            <a:endParaRPr/>
          </a:p>
        </p:txBody>
      </p:sp>
      <p:sp>
        <p:nvSpPr>
          <p:cNvPr id="155" name="Google Shape;155;p2"/>
          <p:cNvSpPr txBox="1"/>
          <p:nvPr/>
        </p:nvSpPr>
        <p:spPr>
          <a:xfrm>
            <a:off x="11608223" y="2196252"/>
            <a:ext cx="3538200" cy="886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Requerimiento 17</a:t>
            </a:r>
            <a:endParaRPr/>
          </a:p>
          <a:p>
            <a:pPr indent="0" lvl="0" marL="0" marR="0" rtl="0" algn="just">
              <a:lnSpc>
                <a:spcPct val="140000"/>
              </a:lnSpc>
              <a:spcBef>
                <a:spcPts val="0"/>
              </a:spcBef>
              <a:spcAft>
                <a:spcPts val="0"/>
              </a:spcAft>
              <a:buNone/>
            </a:pPr>
            <a:r>
              <a:t/>
            </a:r>
            <a:endParaRPr b="1" sz="2400">
              <a:solidFill>
                <a:srgbClr val="FFFFFF"/>
              </a:solidFill>
              <a:latin typeface="Inter"/>
              <a:ea typeface="Inter"/>
              <a:cs typeface="Inter"/>
              <a:sym typeface="Inter"/>
            </a:endParaRPr>
          </a:p>
        </p:txBody>
      </p:sp>
      <p:sp>
        <p:nvSpPr>
          <p:cNvPr id="156" name="Google Shape;156;p2"/>
          <p:cNvSpPr txBox="1"/>
          <p:nvPr/>
        </p:nvSpPr>
        <p:spPr>
          <a:xfrm>
            <a:off x="11608223" y="3222477"/>
            <a:ext cx="35382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Requerimiento 45</a:t>
            </a:r>
            <a:endParaRPr/>
          </a:p>
        </p:txBody>
      </p:sp>
      <p:grpSp>
        <p:nvGrpSpPr>
          <p:cNvPr id="157" name="Google Shape;157;p2"/>
          <p:cNvGrpSpPr/>
          <p:nvPr/>
        </p:nvGrpSpPr>
        <p:grpSpPr>
          <a:xfrm>
            <a:off x="10567253" y="6979659"/>
            <a:ext cx="709005" cy="709005"/>
            <a:chOff x="0" y="0"/>
            <a:chExt cx="812800" cy="812800"/>
          </a:xfrm>
        </p:grpSpPr>
        <p:sp>
          <p:nvSpPr>
            <p:cNvPr id="158" name="Google Shape;158;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7</a:t>
              </a:r>
              <a:endParaRPr/>
            </a:p>
          </p:txBody>
        </p:sp>
      </p:grpSp>
      <p:sp>
        <p:nvSpPr>
          <p:cNvPr id="160" name="Google Shape;160;p2"/>
          <p:cNvSpPr txBox="1"/>
          <p:nvPr/>
        </p:nvSpPr>
        <p:spPr>
          <a:xfrm>
            <a:off x="11608223" y="8061513"/>
            <a:ext cx="3538200" cy="519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Demostración </a:t>
            </a:r>
            <a:endParaRPr/>
          </a:p>
        </p:txBody>
      </p:sp>
      <p:grpSp>
        <p:nvGrpSpPr>
          <p:cNvPr id="161" name="Google Shape;161;p2"/>
          <p:cNvGrpSpPr/>
          <p:nvPr/>
        </p:nvGrpSpPr>
        <p:grpSpPr>
          <a:xfrm>
            <a:off x="10567253" y="7936339"/>
            <a:ext cx="709005" cy="709005"/>
            <a:chOff x="0" y="0"/>
            <a:chExt cx="812800" cy="812800"/>
          </a:xfrm>
        </p:grpSpPr>
        <p:sp>
          <p:nvSpPr>
            <p:cNvPr id="162" name="Google Shape;162;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rPr b="1" lang="en-US" sz="2300">
                  <a:solidFill>
                    <a:srgbClr val="FFFFFF"/>
                  </a:solidFill>
                  <a:latin typeface="Inter Medium"/>
                  <a:ea typeface="Inter Medium"/>
                  <a:cs typeface="Inter Medium"/>
                  <a:sym typeface="Inter Medium"/>
                </a:rPr>
                <a:t>8</a:t>
              </a:r>
              <a:endParaRPr/>
            </a:p>
          </p:txBody>
        </p:sp>
      </p:grpSp>
      <p:sp>
        <p:nvSpPr>
          <p:cNvPr id="164" name="Google Shape;164;p2"/>
          <p:cNvSpPr txBox="1"/>
          <p:nvPr/>
        </p:nvSpPr>
        <p:spPr>
          <a:xfrm>
            <a:off x="11579348" y="5236155"/>
            <a:ext cx="3834600" cy="369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400">
                <a:solidFill>
                  <a:srgbClr val="FFFFFF"/>
                </a:solidFill>
                <a:latin typeface="Inter"/>
                <a:ea typeface="Inter"/>
                <a:cs typeface="Inter"/>
                <a:sym typeface="Inter"/>
              </a:rPr>
              <a:t>Diagrama de Despliegue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172" name="Shape 172"/>
        <p:cNvGrpSpPr/>
        <p:nvPr/>
      </p:nvGrpSpPr>
      <p:grpSpPr>
        <a:xfrm>
          <a:off x="0" y="0"/>
          <a:ext cx="0" cy="0"/>
          <a:chOff x="0" y="0"/>
          <a:chExt cx="0" cy="0"/>
        </a:xfrm>
      </p:grpSpPr>
      <p:grpSp>
        <p:nvGrpSpPr>
          <p:cNvPr id="173" name="Google Shape;173;p3"/>
          <p:cNvGrpSpPr/>
          <p:nvPr/>
        </p:nvGrpSpPr>
        <p:grpSpPr>
          <a:xfrm>
            <a:off x="-2822684" y="6496485"/>
            <a:ext cx="7613660" cy="7613660"/>
            <a:chOff x="0" y="0"/>
            <a:chExt cx="812800" cy="812800"/>
          </a:xfrm>
        </p:grpSpPr>
        <p:sp>
          <p:nvSpPr>
            <p:cNvPr id="174" name="Google Shape;174;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76" name="Google Shape;176;p3"/>
          <p:cNvGrpSpPr/>
          <p:nvPr/>
        </p:nvGrpSpPr>
        <p:grpSpPr>
          <a:xfrm>
            <a:off x="1028700" y="7334067"/>
            <a:ext cx="16230600" cy="2253712"/>
            <a:chOff x="0" y="-38100"/>
            <a:chExt cx="4274726" cy="593570"/>
          </a:xfrm>
        </p:grpSpPr>
        <p:sp>
          <p:nvSpPr>
            <p:cNvPr id="177" name="Google Shape;177;p3"/>
            <p:cNvSpPr/>
            <p:nvPr/>
          </p:nvSpPr>
          <p:spPr>
            <a:xfrm>
              <a:off x="0" y="0"/>
              <a:ext cx="4274726" cy="555470"/>
            </a:xfrm>
            <a:custGeom>
              <a:rect b="b" l="l" r="r" t="t"/>
              <a:pathLst>
                <a:path extrusionOk="0" h="555470" w="4274726">
                  <a:moveTo>
                    <a:pt x="0" y="0"/>
                  </a:moveTo>
                  <a:lnTo>
                    <a:pt x="4274726" y="0"/>
                  </a:lnTo>
                  <a:lnTo>
                    <a:pt x="4274726" y="555470"/>
                  </a:lnTo>
                  <a:lnTo>
                    <a:pt x="0" y="55547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3"/>
            <p:cNvSpPr txBox="1"/>
            <p:nvPr/>
          </p:nvSpPr>
          <p:spPr>
            <a:xfrm>
              <a:off x="0" y="-38100"/>
              <a:ext cx="4274726" cy="59357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79" name="Google Shape;179;p3"/>
          <p:cNvSpPr/>
          <p:nvPr/>
        </p:nvSpPr>
        <p:spPr>
          <a:xfrm rot="-5400000">
            <a:off x="1589307" y="-385887"/>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80" name="Google Shape;180;p3"/>
          <p:cNvGrpSpPr/>
          <p:nvPr/>
        </p:nvGrpSpPr>
        <p:grpSpPr>
          <a:xfrm>
            <a:off x="2060387" y="6514223"/>
            <a:ext cx="4381697" cy="2357268"/>
            <a:chOff x="0" y="-38100"/>
            <a:chExt cx="1154027" cy="620844"/>
          </a:xfrm>
        </p:grpSpPr>
        <p:sp>
          <p:nvSpPr>
            <p:cNvPr id="181" name="Google Shape;181;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3" name="Google Shape;183;p3"/>
          <p:cNvGrpSpPr/>
          <p:nvPr/>
        </p:nvGrpSpPr>
        <p:grpSpPr>
          <a:xfrm>
            <a:off x="6953152" y="6514223"/>
            <a:ext cx="4381697" cy="2357268"/>
            <a:chOff x="0" y="-38100"/>
            <a:chExt cx="1154027" cy="620844"/>
          </a:xfrm>
        </p:grpSpPr>
        <p:sp>
          <p:nvSpPr>
            <p:cNvPr id="184" name="Google Shape;184;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186" name="Google Shape;186;p3"/>
          <p:cNvGrpSpPr/>
          <p:nvPr/>
        </p:nvGrpSpPr>
        <p:grpSpPr>
          <a:xfrm>
            <a:off x="11849198" y="6514223"/>
            <a:ext cx="4381697" cy="2357268"/>
            <a:chOff x="0" y="-38100"/>
            <a:chExt cx="1154027" cy="620844"/>
          </a:xfrm>
        </p:grpSpPr>
        <p:sp>
          <p:nvSpPr>
            <p:cNvPr id="187" name="Google Shape;187;p3"/>
            <p:cNvSpPr/>
            <p:nvPr/>
          </p:nvSpPr>
          <p:spPr>
            <a:xfrm>
              <a:off x="0" y="0"/>
              <a:ext cx="1154027" cy="582744"/>
            </a:xfrm>
            <a:custGeom>
              <a:rect b="b" l="l" r="r" t="t"/>
              <a:pathLst>
                <a:path extrusionOk="0" h="582744" w="1154027">
                  <a:moveTo>
                    <a:pt x="0" y="0"/>
                  </a:moveTo>
                  <a:lnTo>
                    <a:pt x="1154027" y="0"/>
                  </a:lnTo>
                  <a:lnTo>
                    <a:pt x="1154027" y="582744"/>
                  </a:lnTo>
                  <a:lnTo>
                    <a:pt x="0" y="582744"/>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3"/>
            <p:cNvSpPr txBox="1"/>
            <p:nvPr/>
          </p:nvSpPr>
          <p:spPr>
            <a:xfrm>
              <a:off x="0" y="-38100"/>
              <a:ext cx="1154027" cy="62084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9" name="Google Shape;189;p3"/>
          <p:cNvSpPr/>
          <p:nvPr/>
        </p:nvSpPr>
        <p:spPr>
          <a:xfrm rot="5400000">
            <a:off x="4067069"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3"/>
          <p:cNvSpPr/>
          <p:nvPr/>
        </p:nvSpPr>
        <p:spPr>
          <a:xfrm rot="5400000">
            <a:off x="8959833" y="6943027"/>
            <a:ext cx="368333" cy="550670"/>
          </a:xfrm>
          <a:custGeom>
            <a:rect b="b" l="l" r="r" t="t"/>
            <a:pathLst>
              <a:path extrusionOk="0" h="550670" w="368333">
                <a:moveTo>
                  <a:pt x="0" y="0"/>
                </a:moveTo>
                <a:lnTo>
                  <a:pt x="368334" y="0"/>
                </a:lnTo>
                <a:lnTo>
                  <a:pt x="368334"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3"/>
          <p:cNvSpPr/>
          <p:nvPr/>
        </p:nvSpPr>
        <p:spPr>
          <a:xfrm rot="5400000">
            <a:off x="13852598" y="6943027"/>
            <a:ext cx="368333" cy="550670"/>
          </a:xfrm>
          <a:custGeom>
            <a:rect b="b" l="l" r="r" t="t"/>
            <a:pathLst>
              <a:path extrusionOk="0" h="550670" w="368333">
                <a:moveTo>
                  <a:pt x="0" y="0"/>
                </a:moveTo>
                <a:lnTo>
                  <a:pt x="368333" y="0"/>
                </a:lnTo>
                <a:lnTo>
                  <a:pt x="368333" y="550670"/>
                </a:lnTo>
                <a:lnTo>
                  <a:pt x="0" y="55067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92" name="Google Shape;192;p3"/>
          <p:cNvGrpSpPr/>
          <p:nvPr/>
        </p:nvGrpSpPr>
        <p:grpSpPr>
          <a:xfrm>
            <a:off x="15073715" y="-3065569"/>
            <a:ext cx="7613660" cy="7613660"/>
            <a:chOff x="0" y="0"/>
            <a:chExt cx="812800" cy="812800"/>
          </a:xfrm>
        </p:grpSpPr>
        <p:sp>
          <p:nvSpPr>
            <p:cNvPr id="193" name="Google Shape;193;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95" name="Google Shape;195;p3"/>
          <p:cNvSpPr txBox="1"/>
          <p:nvPr/>
        </p:nvSpPr>
        <p:spPr>
          <a:xfrm>
            <a:off x="1028700" y="521169"/>
            <a:ext cx="8269466" cy="1338833"/>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8099">
                <a:solidFill>
                  <a:srgbClr val="000000"/>
                </a:solidFill>
                <a:latin typeface="Impact"/>
                <a:ea typeface="Impact"/>
                <a:cs typeface="Impact"/>
                <a:sym typeface="Impact"/>
              </a:rPr>
              <a:t>INTRODUCCIÓN </a:t>
            </a:r>
            <a:endParaRPr/>
          </a:p>
        </p:txBody>
      </p:sp>
      <p:sp>
        <p:nvSpPr>
          <p:cNvPr id="196" name="Google Shape;196;p3"/>
          <p:cNvSpPr txBox="1"/>
          <p:nvPr/>
        </p:nvSpPr>
        <p:spPr>
          <a:xfrm>
            <a:off x="1028700" y="1802852"/>
            <a:ext cx="8115300" cy="880834"/>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Para este incremento se consideran los siguientes datos.</a:t>
            </a:r>
            <a:endParaRPr/>
          </a:p>
        </p:txBody>
      </p:sp>
      <p:sp>
        <p:nvSpPr>
          <p:cNvPr id="197" name="Google Shape;197;p3"/>
          <p:cNvSpPr txBox="1"/>
          <p:nvPr/>
        </p:nvSpPr>
        <p:spPr>
          <a:xfrm>
            <a:off x="2679449" y="7034228"/>
            <a:ext cx="3143700" cy="1077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CANTIDAD REQUERIMIENTOS</a:t>
            </a:r>
            <a:endParaRPr/>
          </a:p>
        </p:txBody>
      </p:sp>
      <p:sp>
        <p:nvSpPr>
          <p:cNvPr id="198" name="Google Shape;198;p3"/>
          <p:cNvSpPr txBox="1"/>
          <p:nvPr/>
        </p:nvSpPr>
        <p:spPr>
          <a:xfrm>
            <a:off x="2472946" y="8314815"/>
            <a:ext cx="3556200" cy="500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37</a:t>
            </a:r>
            <a:endParaRPr/>
          </a:p>
        </p:txBody>
      </p:sp>
      <p:sp>
        <p:nvSpPr>
          <p:cNvPr id="199" name="Google Shape;199;p3"/>
          <p:cNvSpPr txBox="1"/>
          <p:nvPr/>
        </p:nvSpPr>
        <p:spPr>
          <a:xfrm>
            <a:off x="7778568" y="7034228"/>
            <a:ext cx="2730900" cy="1077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PORCENTAJE DE AVANCE</a:t>
            </a:r>
            <a:endParaRPr/>
          </a:p>
        </p:txBody>
      </p:sp>
      <p:sp>
        <p:nvSpPr>
          <p:cNvPr id="200" name="Google Shape;200;p3"/>
          <p:cNvSpPr txBox="1"/>
          <p:nvPr/>
        </p:nvSpPr>
        <p:spPr>
          <a:xfrm>
            <a:off x="7365860" y="8243902"/>
            <a:ext cx="3556200" cy="500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~70%</a:t>
            </a:r>
            <a:endParaRPr/>
          </a:p>
        </p:txBody>
      </p:sp>
      <p:sp>
        <p:nvSpPr>
          <p:cNvPr id="201" name="Google Shape;201;p3"/>
          <p:cNvSpPr txBox="1"/>
          <p:nvPr/>
        </p:nvSpPr>
        <p:spPr>
          <a:xfrm>
            <a:off x="12674620" y="7034203"/>
            <a:ext cx="2730900" cy="1077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SIGUIENTE ENTREGA</a:t>
            </a:r>
            <a:endParaRPr/>
          </a:p>
        </p:txBody>
      </p:sp>
      <p:sp>
        <p:nvSpPr>
          <p:cNvPr id="202" name="Google Shape;202;p3"/>
          <p:cNvSpPr txBox="1"/>
          <p:nvPr/>
        </p:nvSpPr>
        <p:spPr>
          <a:xfrm>
            <a:off x="12258624" y="8314815"/>
            <a:ext cx="3556200" cy="500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2300">
                <a:solidFill>
                  <a:srgbClr val="D9D9D9"/>
                </a:solidFill>
                <a:latin typeface="Inter Medium"/>
                <a:ea typeface="Inter Medium"/>
                <a:cs typeface="Inter Medium"/>
                <a:sym typeface="Inter Medium"/>
              </a:rPr>
              <a:t>22 requerimientos ~95%</a:t>
            </a:r>
            <a:endParaRPr/>
          </a:p>
        </p:txBody>
      </p:sp>
      <p:graphicFrame>
        <p:nvGraphicFramePr>
          <p:cNvPr id="203" name="Google Shape;203;p3"/>
          <p:cNvGraphicFramePr/>
          <p:nvPr/>
        </p:nvGraphicFramePr>
        <p:xfrm>
          <a:off x="3717186" y="2419199"/>
          <a:ext cx="3000000" cy="3000000"/>
        </p:xfrm>
        <a:graphic>
          <a:graphicData uri="http://schemas.openxmlformats.org/drawingml/2006/table">
            <a:tbl>
              <a:tblPr>
                <a:noFill/>
                <a:tableStyleId>{6B00DF99-A3A3-461B-A070-3797F53F9581}</a:tableStyleId>
              </a:tblPr>
              <a:tblGrid>
                <a:gridCol w="2575275"/>
                <a:gridCol w="2575275"/>
                <a:gridCol w="2575275"/>
                <a:gridCol w="2575275"/>
              </a:tblGrid>
              <a:tr h="687975">
                <a:tc>
                  <a:txBody>
                    <a:bodyPr/>
                    <a:lstStyle/>
                    <a:p>
                      <a:pPr indent="0" lvl="0" marL="0" marR="0" rtl="0" algn="l">
                        <a:lnSpc>
                          <a:spcPct val="120013"/>
                        </a:lnSpc>
                        <a:spcBef>
                          <a:spcPts val="0"/>
                        </a:spcBef>
                        <a:spcAft>
                          <a:spcPts val="0"/>
                        </a:spcAft>
                        <a:buNone/>
                      </a:pPr>
                      <a:r>
                        <a:rPr b="1" lang="en-US" sz="1464" u="none" cap="none" strike="noStrike">
                          <a:solidFill>
                            <a:srgbClr val="FFFFFF"/>
                          </a:solidFill>
                          <a:latin typeface="Open Sans"/>
                          <a:ea typeface="Open Sans"/>
                          <a:cs typeface="Open Sans"/>
                          <a:sym typeface="Open Sans"/>
                        </a:rPr>
                        <a:t>Incremento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FFFFF"/>
                          </a:solidFill>
                          <a:latin typeface="Open Sans"/>
                          <a:ea typeface="Open Sans"/>
                          <a:cs typeface="Open Sans"/>
                          <a:sym typeface="Open Sans"/>
                        </a:rPr>
                        <a:t>Descripción del Hito / Alcance</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EFEFE"/>
                          </a:solidFill>
                          <a:latin typeface="Open Sans"/>
                          <a:ea typeface="Open Sans"/>
                          <a:cs typeface="Open Sans"/>
                          <a:sym typeface="Open Sans"/>
                        </a:rPr>
                        <a:t>Cantidad de RFs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c>
                  <a:txBody>
                    <a:bodyPr/>
                    <a:lstStyle/>
                    <a:p>
                      <a:pPr indent="0" lvl="0" marL="0" marR="0" rtl="0" algn="l">
                        <a:lnSpc>
                          <a:spcPct val="120013"/>
                        </a:lnSpc>
                        <a:spcBef>
                          <a:spcPts val="0"/>
                        </a:spcBef>
                        <a:spcAft>
                          <a:spcPts val="0"/>
                        </a:spcAft>
                        <a:buNone/>
                      </a:pPr>
                      <a:r>
                        <a:rPr b="1" lang="en-US" sz="1464" u="none" cap="none" strike="noStrike">
                          <a:solidFill>
                            <a:srgbClr val="FEFEFE"/>
                          </a:solidFill>
                          <a:latin typeface="Open Sans"/>
                          <a:ea typeface="Open Sans"/>
                          <a:cs typeface="Open Sans"/>
                          <a:sym typeface="Open Sans"/>
                        </a:rPr>
                        <a:t>% de Avance (Acumulado)</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545454"/>
                    </a:solidFill>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1</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Núcleo Comercial (MVP):</a:t>
                      </a:r>
                      <a:r>
                        <a:rPr lang="en-US" sz="1200" u="none" cap="none" strike="noStrike">
                          <a:solidFill>
                            <a:srgbClr val="1F1F1F"/>
                          </a:solidFill>
                          <a:latin typeface="Open Sans"/>
                          <a:ea typeface="Open Sans"/>
                          <a:cs typeface="Open Sans"/>
                          <a:sym typeface="Open Sans"/>
                        </a:rPr>
                        <a:t> Clientes, Cotizaciones y Nota de ventas.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lang="en-US" sz="1464">
                          <a:solidFill>
                            <a:srgbClr val="1F1F1F"/>
                          </a:solidFill>
                          <a:latin typeface="Open Sans"/>
                          <a:ea typeface="Open Sans"/>
                          <a:cs typeface="Open Sans"/>
                          <a:sym typeface="Open Sans"/>
                        </a:rPr>
                        <a:t>27</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b="1" lang="en-US" sz="1464">
                          <a:solidFill>
                            <a:srgbClr val="1F1F1F"/>
                          </a:solidFill>
                          <a:latin typeface="Open Sans"/>
                          <a:ea typeface="Open Sans"/>
                          <a:cs typeface="Open Sans"/>
                          <a:sym typeface="Open Sans"/>
                        </a:rPr>
                        <a:t>3</a:t>
                      </a:r>
                      <a:r>
                        <a:rPr b="1" lang="en-US" sz="1464" u="none" cap="none" strike="noStrike">
                          <a:solidFill>
                            <a:srgbClr val="1F1F1F"/>
                          </a:solidFill>
                          <a:latin typeface="Open Sans"/>
                          <a:ea typeface="Open Sans"/>
                          <a:cs typeface="Open Sans"/>
                          <a:sym typeface="Open Sans"/>
                        </a:rPr>
                        <a:t>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6507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2</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Tesorería y</a:t>
                      </a:r>
                      <a:r>
                        <a:rPr b="1" lang="en-US" sz="1200">
                          <a:solidFill>
                            <a:srgbClr val="1F1F1F"/>
                          </a:solidFill>
                          <a:latin typeface="Open Sans"/>
                          <a:ea typeface="Open Sans"/>
                          <a:cs typeface="Open Sans"/>
                          <a:sym typeface="Open Sans"/>
                        </a:rPr>
                        <a:t> Seguridad</a:t>
                      </a:r>
                      <a:r>
                        <a:rPr b="1" lang="en-US" sz="1200" u="none" cap="none" strike="noStrike">
                          <a:solidFill>
                            <a:srgbClr val="1F1F1F"/>
                          </a:solidFill>
                          <a:latin typeface="Open Sans"/>
                          <a:ea typeface="Open Sans"/>
                          <a:cs typeface="Open Sans"/>
                          <a:sym typeface="Open Sans"/>
                        </a:rPr>
                        <a:t>:</a:t>
                      </a:r>
                      <a:r>
                        <a:rPr lang="en-US" sz="1200">
                          <a:solidFill>
                            <a:srgbClr val="1F1F1F"/>
                          </a:solidFill>
                          <a:latin typeface="Open Sans"/>
                          <a:ea typeface="Open Sans"/>
                          <a:cs typeface="Open Sans"/>
                          <a:sym typeface="Open Sans"/>
                        </a:rPr>
                        <a:t>Roles de usuario, Bloqueos,</a:t>
                      </a:r>
                      <a:r>
                        <a:rPr lang="en-US" sz="1200" u="none" cap="none" strike="noStrike">
                          <a:solidFill>
                            <a:srgbClr val="1F1F1F"/>
                          </a:solidFill>
                          <a:latin typeface="Open Sans"/>
                          <a:ea typeface="Open Sans"/>
                          <a:cs typeface="Open Sans"/>
                          <a:sym typeface="Open Sans"/>
                        </a:rPr>
                        <a:t> Recaudación, Pagos y Conciliación.</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None/>
                      </a:pPr>
                      <a:r>
                        <a:rPr lang="en-US" sz="1464">
                          <a:solidFill>
                            <a:srgbClr val="1F1F1F"/>
                          </a:solidFill>
                          <a:latin typeface="Open Sans"/>
                          <a:ea typeface="Open Sans"/>
                          <a:cs typeface="Open Sans"/>
                          <a:sym typeface="Open Sans"/>
                        </a:rPr>
                        <a:t>37</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70%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873D"/>
                    </a:solidFill>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3</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Operaciones y Rentabilidad:</a:t>
                      </a:r>
                      <a:r>
                        <a:rPr lang="en-US" sz="1200" u="none" cap="none" strike="noStrike">
                          <a:solidFill>
                            <a:srgbClr val="1F1F1F"/>
                          </a:solidFill>
                          <a:latin typeface="Open Sans"/>
                          <a:ea typeface="Open Sans"/>
                          <a:cs typeface="Open Sans"/>
                          <a:sym typeface="Open Sans"/>
                        </a:rPr>
                        <a:t> Sueldos, Proveedores, Bonos por Destajo y Dashboards Analíticos.</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lang="en-US" sz="1464">
                          <a:solidFill>
                            <a:srgbClr val="1F1F1F"/>
                          </a:solidFill>
                          <a:latin typeface="Open Sans"/>
                          <a:ea typeface="Open Sans"/>
                          <a:cs typeface="Open Sans"/>
                          <a:sym typeface="Open Sans"/>
                        </a:rPr>
                        <a:t>22</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95%</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83525">
                <a:tc>
                  <a:txBody>
                    <a:bodyPr/>
                    <a:lstStyle/>
                    <a:p>
                      <a:pPr indent="0" lvl="0" marL="0" marR="0" rtl="0" algn="l">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Incremento 4</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b="1" lang="en-US" sz="1200" u="none" cap="none" strike="noStrike">
                          <a:solidFill>
                            <a:srgbClr val="1F1F1F"/>
                          </a:solidFill>
                          <a:latin typeface="Open Sans"/>
                          <a:ea typeface="Open Sans"/>
                          <a:cs typeface="Open Sans"/>
                          <a:sym typeface="Open Sans"/>
                        </a:rPr>
                        <a:t>Auditoría:</a:t>
                      </a:r>
                      <a:r>
                        <a:rPr lang="en-US" sz="1200" u="none" cap="none" strike="noStrike">
                          <a:solidFill>
                            <a:srgbClr val="1F1F1F"/>
                          </a:solidFill>
                          <a:latin typeface="Open Sans"/>
                          <a:ea typeface="Open Sans"/>
                          <a:cs typeface="Open Sans"/>
                          <a:sym typeface="Open Sans"/>
                        </a:rPr>
                        <a:t> Log de Auditoría.</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lang="en-US" sz="1464">
                          <a:solidFill>
                            <a:srgbClr val="1F1F1F"/>
                          </a:solidFill>
                          <a:latin typeface="Open Sans"/>
                          <a:ea typeface="Open Sans"/>
                          <a:cs typeface="Open Sans"/>
                          <a:sym typeface="Open Sans"/>
                        </a:rPr>
                        <a:t>5</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r">
                        <a:lnSpc>
                          <a:spcPct val="120013"/>
                        </a:lnSpc>
                        <a:spcBef>
                          <a:spcPts val="0"/>
                        </a:spcBef>
                        <a:spcAft>
                          <a:spcPts val="0"/>
                        </a:spcAft>
                        <a:buNone/>
                      </a:pPr>
                      <a:r>
                        <a:rPr b="1" lang="en-US" sz="1464" u="none" cap="none" strike="noStrike">
                          <a:solidFill>
                            <a:srgbClr val="1F1F1F"/>
                          </a:solidFill>
                          <a:latin typeface="Open Sans"/>
                          <a:ea typeface="Open Sans"/>
                          <a:cs typeface="Open Sans"/>
                          <a:sym typeface="Open Sans"/>
                        </a:rPr>
                        <a:t>100,00%</a:t>
                      </a:r>
                      <a:endParaRPr sz="1100" u="none" cap="none" strike="noStrike"/>
                    </a:p>
                  </a:txBody>
                  <a:tcPr marT="76200" marB="76200" marR="76200" marL="762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11" name="Shape 211"/>
        <p:cNvGrpSpPr/>
        <p:nvPr/>
      </p:nvGrpSpPr>
      <p:grpSpPr>
        <a:xfrm>
          <a:off x="0" y="0"/>
          <a:ext cx="0" cy="0"/>
          <a:chOff x="0" y="0"/>
          <a:chExt cx="0" cy="0"/>
        </a:xfrm>
      </p:grpSpPr>
      <p:grpSp>
        <p:nvGrpSpPr>
          <p:cNvPr id="212" name="Google Shape;212;p8"/>
          <p:cNvGrpSpPr/>
          <p:nvPr/>
        </p:nvGrpSpPr>
        <p:grpSpPr>
          <a:xfrm>
            <a:off x="-29169" y="8086615"/>
            <a:ext cx="18317169" cy="2200385"/>
            <a:chOff x="0" y="-38100"/>
            <a:chExt cx="4824275" cy="579525"/>
          </a:xfrm>
        </p:grpSpPr>
        <p:sp>
          <p:nvSpPr>
            <p:cNvPr id="213" name="Google Shape;213;p8"/>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8"/>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5" name="Google Shape;215;p8"/>
          <p:cNvGrpSpPr/>
          <p:nvPr/>
        </p:nvGrpSpPr>
        <p:grpSpPr>
          <a:xfrm>
            <a:off x="426650" y="1586426"/>
            <a:ext cx="5058833" cy="8026562"/>
            <a:chOff x="0" y="-38100"/>
            <a:chExt cx="903815" cy="1164637"/>
          </a:xfrm>
        </p:grpSpPr>
        <p:sp>
          <p:nvSpPr>
            <p:cNvPr id="216" name="Google Shape;216;p8"/>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18" name="Google Shape;218;p8"/>
          <p:cNvGrpSpPr/>
          <p:nvPr/>
        </p:nvGrpSpPr>
        <p:grpSpPr>
          <a:xfrm>
            <a:off x="799197" y="872727"/>
            <a:ext cx="4313734" cy="1615910"/>
            <a:chOff x="0" y="-38100"/>
            <a:chExt cx="770695" cy="241729"/>
          </a:xfrm>
        </p:grpSpPr>
        <p:sp>
          <p:nvSpPr>
            <p:cNvPr id="219" name="Google Shape;219;p8"/>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8"/>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1" name="Google Shape;221;p8"/>
          <p:cNvSpPr txBox="1"/>
          <p:nvPr/>
        </p:nvSpPr>
        <p:spPr>
          <a:xfrm>
            <a:off x="7166552" y="558875"/>
            <a:ext cx="32745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Clr>
                <a:srgbClr val="000000"/>
              </a:buClr>
              <a:buFont typeface="Arial"/>
              <a:buNone/>
            </a:pPr>
            <a:r>
              <a:rPr lang="en-US" sz="9499">
                <a:solidFill>
                  <a:srgbClr val="000000"/>
                </a:solidFill>
                <a:latin typeface="Impact"/>
                <a:ea typeface="Impact"/>
                <a:cs typeface="Impact"/>
                <a:sym typeface="Impact"/>
              </a:rPr>
              <a:t>RF</a:t>
            </a:r>
            <a:r>
              <a:rPr lang="en-US" sz="9499">
                <a:latin typeface="Impact"/>
                <a:ea typeface="Impact"/>
                <a:cs typeface="Impact"/>
                <a:sym typeface="Impact"/>
              </a:rPr>
              <a:t>17</a:t>
            </a:r>
            <a:endParaRPr/>
          </a:p>
        </p:txBody>
      </p:sp>
      <p:sp>
        <p:nvSpPr>
          <p:cNvPr id="222" name="Google Shape;222;p8"/>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223" name="Google Shape;223;p8"/>
          <p:cNvGrpSpPr/>
          <p:nvPr/>
        </p:nvGrpSpPr>
        <p:grpSpPr>
          <a:xfrm>
            <a:off x="12565518" y="-2454676"/>
            <a:ext cx="7186254" cy="7186254"/>
            <a:chOff x="0" y="0"/>
            <a:chExt cx="812800" cy="812800"/>
          </a:xfrm>
        </p:grpSpPr>
        <p:sp>
          <p:nvSpPr>
            <p:cNvPr id="224" name="Google Shape;224;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6" name="Google Shape;226;p8"/>
          <p:cNvSpPr/>
          <p:nvPr/>
        </p:nvSpPr>
        <p:spPr>
          <a:xfrm rot="10800000">
            <a:off x="4699672" y="1129762"/>
            <a:ext cx="5741326" cy="668082"/>
          </a:xfrm>
          <a:custGeom>
            <a:rect b="b" l="l" r="r" t="t"/>
            <a:pathLst>
              <a:path extrusionOk="0" h="668082" w="5741326">
                <a:moveTo>
                  <a:pt x="0" y="0"/>
                </a:moveTo>
                <a:lnTo>
                  <a:pt x="5741326" y="0"/>
                </a:lnTo>
                <a:lnTo>
                  <a:pt x="5741326" y="668081"/>
                </a:lnTo>
                <a:lnTo>
                  <a:pt x="0" y="6680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8"/>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8"/>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29" name="Google Shape;229;p8"/>
          <p:cNvGrpSpPr/>
          <p:nvPr/>
        </p:nvGrpSpPr>
        <p:grpSpPr>
          <a:xfrm>
            <a:off x="11299775" y="2590849"/>
            <a:ext cx="6638028" cy="7022179"/>
            <a:chOff x="0" y="-38100"/>
            <a:chExt cx="1129954" cy="1164637"/>
          </a:xfrm>
        </p:grpSpPr>
        <p:sp>
          <p:nvSpPr>
            <p:cNvPr id="230" name="Google Shape;230;p8"/>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8"/>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2" name="Google Shape;232;p8"/>
          <p:cNvGrpSpPr/>
          <p:nvPr/>
        </p:nvGrpSpPr>
        <p:grpSpPr>
          <a:xfrm>
            <a:off x="11753487" y="2131417"/>
            <a:ext cx="5577296" cy="1353006"/>
            <a:chOff x="0" y="-38100"/>
            <a:chExt cx="996444" cy="241729"/>
          </a:xfrm>
        </p:grpSpPr>
        <p:sp>
          <p:nvSpPr>
            <p:cNvPr id="233" name="Google Shape;233;p8"/>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8"/>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5" name="Google Shape;235;p8"/>
          <p:cNvGrpSpPr/>
          <p:nvPr/>
        </p:nvGrpSpPr>
        <p:grpSpPr>
          <a:xfrm>
            <a:off x="5863211" y="3094308"/>
            <a:ext cx="5058822" cy="6518695"/>
            <a:chOff x="0" y="-38100"/>
            <a:chExt cx="903815" cy="1164637"/>
          </a:xfrm>
        </p:grpSpPr>
        <p:sp>
          <p:nvSpPr>
            <p:cNvPr id="236" name="Google Shape;236;p8"/>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8"/>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238" name="Google Shape;238;p8"/>
          <p:cNvGrpSpPr/>
          <p:nvPr/>
        </p:nvGrpSpPr>
        <p:grpSpPr>
          <a:xfrm>
            <a:off x="6235759" y="2496742"/>
            <a:ext cx="4313727" cy="1353005"/>
            <a:chOff x="0" y="-38100"/>
            <a:chExt cx="770695" cy="241729"/>
          </a:xfrm>
        </p:grpSpPr>
        <p:sp>
          <p:nvSpPr>
            <p:cNvPr id="239" name="Google Shape;239;p8"/>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8"/>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1" name="Google Shape;241;p8"/>
          <p:cNvSpPr txBox="1"/>
          <p:nvPr/>
        </p:nvSpPr>
        <p:spPr>
          <a:xfrm>
            <a:off x="968734" y="1513000"/>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REQUERIMIENTO</a:t>
            </a:r>
            <a:endParaRPr/>
          </a:p>
        </p:txBody>
      </p:sp>
      <p:sp>
        <p:nvSpPr>
          <p:cNvPr id="242" name="Google Shape;242;p8"/>
          <p:cNvSpPr txBox="1"/>
          <p:nvPr/>
        </p:nvSpPr>
        <p:spPr>
          <a:xfrm>
            <a:off x="12858312" y="688819"/>
            <a:ext cx="5212500" cy="1462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Emisión de Cotización</a:t>
            </a:r>
            <a:r>
              <a:rPr b="1" lang="en-US" sz="2500">
                <a:solidFill>
                  <a:srgbClr val="545454"/>
                </a:solidFill>
                <a:latin typeface="Inter Medium"/>
                <a:ea typeface="Inter Medium"/>
                <a:cs typeface="Inter Medium"/>
                <a:sym typeface="Inter Medium"/>
              </a:rPr>
              <a:t>.</a:t>
            </a:r>
            <a:endParaRPr/>
          </a:p>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Corresponde al UR 2.7  </a:t>
            </a:r>
            <a:endParaRPr/>
          </a:p>
          <a:p>
            <a:pPr indent="0" lvl="0" marL="0" marR="0" rtl="0" algn="just">
              <a:lnSpc>
                <a:spcPct val="140000"/>
              </a:lnSpc>
              <a:spcBef>
                <a:spcPts val="0"/>
              </a:spcBef>
              <a:spcAft>
                <a:spcPts val="0"/>
              </a:spcAft>
              <a:buNone/>
            </a:pPr>
            <a:r>
              <a:t/>
            </a:r>
            <a:endParaRPr b="1" sz="2500">
              <a:solidFill>
                <a:srgbClr val="545454"/>
              </a:solidFill>
              <a:latin typeface="Inter Medium"/>
              <a:ea typeface="Inter Medium"/>
              <a:cs typeface="Inter Medium"/>
              <a:sym typeface="Inter Medium"/>
            </a:endParaRPr>
          </a:p>
        </p:txBody>
      </p:sp>
      <p:sp>
        <p:nvSpPr>
          <p:cNvPr id="243" name="Google Shape;243;p8"/>
          <p:cNvSpPr txBox="1"/>
          <p:nvPr/>
        </p:nvSpPr>
        <p:spPr>
          <a:xfrm>
            <a:off x="11773232" y="2590841"/>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CASO DE USO</a:t>
            </a:r>
            <a:endParaRPr/>
          </a:p>
        </p:txBody>
      </p:sp>
      <p:sp>
        <p:nvSpPr>
          <p:cNvPr id="244" name="Google Shape;244;p8"/>
          <p:cNvSpPr txBox="1"/>
          <p:nvPr/>
        </p:nvSpPr>
        <p:spPr>
          <a:xfrm>
            <a:off x="6425040" y="2917116"/>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UR 2.7 </a:t>
            </a:r>
            <a:endParaRPr/>
          </a:p>
        </p:txBody>
      </p:sp>
      <p:sp>
        <p:nvSpPr>
          <p:cNvPr id="245" name="Google Shape;245;p8"/>
          <p:cNvSpPr txBox="1"/>
          <p:nvPr/>
        </p:nvSpPr>
        <p:spPr>
          <a:xfrm>
            <a:off x="545121" y="2590847"/>
            <a:ext cx="4814400" cy="7662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900">
                <a:solidFill>
                  <a:srgbClr val="FFFFFF"/>
                </a:solidFill>
                <a:latin typeface="Inter"/>
                <a:ea typeface="Inter"/>
                <a:cs typeface="Inter"/>
                <a:sym typeface="Inter"/>
              </a:rPr>
              <a:t>El sistema debe permitir que los usuarios autorizados emitan una Cotización una vez que se encuentre completa y cumpla las condiciones obligatorias aplicables a la operación. Antes de la emisión, el sistema debe validar la existencia del cliente asociado y los antecedentes obligatorios de productos, condiciones económicas, tratamiento tributario, vigencia y demás datos requeridos para la operación. Cuando las validaciones sean satisfactorias, el sistema debe cambiar la Cotización al estado Emitida y dejarla disponible para el proceso de aceptación correspondiente al tipo de cliente. La emisión no implica por sí sola la aprobación comercial de la Cotización.</a:t>
            </a:r>
            <a:endParaRPr sz="1900">
              <a:solidFill>
                <a:srgbClr val="FFFFFF"/>
              </a:solidFill>
              <a:latin typeface="Inter"/>
              <a:ea typeface="Inter"/>
              <a:cs typeface="Inter"/>
              <a:sym typeface="Inter"/>
            </a:endParaRPr>
          </a:p>
          <a:p>
            <a:pPr indent="0" lvl="0" marL="0" marR="0" rtl="0" algn="just">
              <a:lnSpc>
                <a:spcPct val="140000"/>
              </a:lnSpc>
              <a:spcBef>
                <a:spcPts val="0"/>
              </a:spcBef>
              <a:spcAft>
                <a:spcPts val="0"/>
              </a:spcAft>
              <a:buClr>
                <a:srgbClr val="000000"/>
              </a:buClr>
              <a:buFont typeface="Arial"/>
              <a:buNone/>
            </a:pPr>
            <a:r>
              <a:t/>
            </a:r>
            <a:endParaRPr sz="1900">
              <a:solidFill>
                <a:srgbClr val="FFFFFF"/>
              </a:solidFill>
              <a:latin typeface="Inter"/>
              <a:ea typeface="Inter"/>
              <a:cs typeface="Inter"/>
              <a:sym typeface="Inter"/>
            </a:endParaRPr>
          </a:p>
          <a:p>
            <a:pPr indent="0" lvl="0" marL="0" marR="0" rtl="0" algn="just">
              <a:lnSpc>
                <a:spcPct val="125263"/>
              </a:lnSpc>
              <a:spcBef>
                <a:spcPts val="0"/>
              </a:spcBef>
              <a:spcAft>
                <a:spcPts val="0"/>
              </a:spcAft>
              <a:buNone/>
            </a:pPr>
            <a:r>
              <a:t/>
            </a:r>
            <a:endParaRPr sz="1900">
              <a:solidFill>
                <a:srgbClr val="FFFFFF"/>
              </a:solidFill>
              <a:latin typeface="Inter"/>
              <a:ea typeface="Inter"/>
              <a:cs typeface="Inter"/>
              <a:sym typeface="Inter"/>
            </a:endParaRPr>
          </a:p>
        </p:txBody>
      </p:sp>
      <p:sp>
        <p:nvSpPr>
          <p:cNvPr id="246" name="Google Shape;246;p8"/>
          <p:cNvSpPr txBox="1"/>
          <p:nvPr/>
        </p:nvSpPr>
        <p:spPr>
          <a:xfrm>
            <a:off x="6235784" y="4069692"/>
            <a:ext cx="4313700" cy="4291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Font typeface="Arial"/>
              <a:buNone/>
            </a:pPr>
            <a:r>
              <a:rPr b="1" lang="en-US" sz="1700">
                <a:solidFill>
                  <a:srgbClr val="FFFFFF"/>
                </a:solidFill>
                <a:latin typeface="Inter Medium"/>
                <a:ea typeface="Inter Medium"/>
                <a:cs typeface="Inter Medium"/>
                <a:sym typeface="Inter Medium"/>
              </a:rPr>
              <a:t>Como usuario autorizado, quiero emitir una Cotización completa y válida para dejar formalizadas sus condiciones comerciales y habilitar su proceso de aceptación.</a:t>
            </a:r>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Necesidad: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Prioridad: 2</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Estabilidad: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Claridad: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Verificalidad: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Fuente: 1</a:t>
            </a:r>
            <a:endParaRPr/>
          </a:p>
        </p:txBody>
      </p:sp>
      <p:pic>
        <p:nvPicPr>
          <p:cNvPr id="247" name="Google Shape;247;p8" title="Captura de pantalla 2026-09-06 212338.png"/>
          <p:cNvPicPr preferRelativeResize="0"/>
          <p:nvPr/>
        </p:nvPicPr>
        <p:blipFill>
          <a:blip r:embed="rId3">
            <a:alphaModFix/>
          </a:blip>
          <a:stretch>
            <a:fillRect/>
          </a:stretch>
        </p:blipFill>
        <p:spPr>
          <a:xfrm>
            <a:off x="11437963" y="3594784"/>
            <a:ext cx="6363450" cy="5879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55" name="Shape 255"/>
        <p:cNvGrpSpPr/>
        <p:nvPr/>
      </p:nvGrpSpPr>
      <p:grpSpPr>
        <a:xfrm>
          <a:off x="0" y="0"/>
          <a:ext cx="0" cy="0"/>
          <a:chOff x="0" y="0"/>
          <a:chExt cx="0" cy="0"/>
        </a:xfrm>
      </p:grpSpPr>
      <p:grpSp>
        <p:nvGrpSpPr>
          <p:cNvPr id="256" name="Google Shape;256;p9"/>
          <p:cNvGrpSpPr/>
          <p:nvPr/>
        </p:nvGrpSpPr>
        <p:grpSpPr>
          <a:xfrm>
            <a:off x="-29169" y="8086615"/>
            <a:ext cx="18317169" cy="2200385"/>
            <a:chOff x="0" y="-38100"/>
            <a:chExt cx="4824275" cy="579525"/>
          </a:xfrm>
        </p:grpSpPr>
        <p:sp>
          <p:nvSpPr>
            <p:cNvPr id="257" name="Google Shape;257;p9"/>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9"/>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9" name="Google Shape;259;p9"/>
          <p:cNvSpPr txBox="1"/>
          <p:nvPr/>
        </p:nvSpPr>
        <p:spPr>
          <a:xfrm>
            <a:off x="991489" y="136275"/>
            <a:ext cx="1533000" cy="9696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6299">
                <a:solidFill>
                  <a:srgbClr val="000000"/>
                </a:solidFill>
                <a:latin typeface="Impact"/>
                <a:ea typeface="Impact"/>
                <a:cs typeface="Impact"/>
                <a:sym typeface="Impact"/>
              </a:rPr>
              <a:t>RF</a:t>
            </a:r>
            <a:r>
              <a:rPr lang="en-US" sz="6299">
                <a:latin typeface="Impact"/>
                <a:ea typeface="Impact"/>
                <a:cs typeface="Impact"/>
                <a:sym typeface="Impact"/>
              </a:rPr>
              <a:t>17</a:t>
            </a:r>
            <a:endParaRPr sz="100"/>
          </a:p>
        </p:txBody>
      </p:sp>
      <p:grpSp>
        <p:nvGrpSpPr>
          <p:cNvPr id="260" name="Google Shape;260;p9"/>
          <p:cNvGrpSpPr/>
          <p:nvPr/>
        </p:nvGrpSpPr>
        <p:grpSpPr>
          <a:xfrm>
            <a:off x="12565518" y="-2454676"/>
            <a:ext cx="7186254" cy="7186254"/>
            <a:chOff x="0" y="0"/>
            <a:chExt cx="812800" cy="812800"/>
          </a:xfrm>
        </p:grpSpPr>
        <p:sp>
          <p:nvSpPr>
            <p:cNvPr id="261" name="Google Shape;261;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3" name="Google Shape;263;p9"/>
          <p:cNvSpPr/>
          <p:nvPr/>
        </p:nvSpPr>
        <p:spPr>
          <a:xfrm rot="10800000">
            <a:off x="15773400" y="1238261"/>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9"/>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9"/>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pic>
        <p:nvPicPr>
          <p:cNvPr id="266" name="Google Shape;266;p9" title="Curioso CU18 Emitiendo Cotización-Usuario Gerencia.drawio.png"/>
          <p:cNvPicPr preferRelativeResize="0"/>
          <p:nvPr/>
        </p:nvPicPr>
        <p:blipFill>
          <a:blip r:embed="rId3">
            <a:alphaModFix/>
          </a:blip>
          <a:stretch>
            <a:fillRect/>
          </a:stretch>
        </p:blipFill>
        <p:spPr>
          <a:xfrm>
            <a:off x="1436952" y="2868577"/>
            <a:ext cx="7100000" cy="5208025"/>
          </a:xfrm>
          <a:prstGeom prst="rect">
            <a:avLst/>
          </a:prstGeom>
          <a:noFill/>
          <a:ln>
            <a:noFill/>
          </a:ln>
        </p:spPr>
      </p:pic>
      <p:pic>
        <p:nvPicPr>
          <p:cNvPr id="267" name="Google Shape;267;p9" title="Curioso CU18 Emitiendo Cotización-Usuario Secretaría.drawio.png"/>
          <p:cNvPicPr preferRelativeResize="0"/>
          <p:nvPr/>
        </p:nvPicPr>
        <p:blipFill>
          <a:blip r:embed="rId4">
            <a:alphaModFix/>
          </a:blip>
          <a:stretch>
            <a:fillRect/>
          </a:stretch>
        </p:blipFill>
        <p:spPr>
          <a:xfrm>
            <a:off x="9517800" y="2890763"/>
            <a:ext cx="7100000" cy="5163636"/>
          </a:xfrm>
          <a:prstGeom prst="rect">
            <a:avLst/>
          </a:prstGeom>
          <a:noFill/>
          <a:ln>
            <a:noFill/>
          </a:ln>
        </p:spPr>
      </p:pic>
      <p:sp>
        <p:nvSpPr>
          <p:cNvPr id="268" name="Google Shape;268;p9"/>
          <p:cNvSpPr txBox="1"/>
          <p:nvPr/>
        </p:nvSpPr>
        <p:spPr>
          <a:xfrm>
            <a:off x="2071654" y="1079801"/>
            <a:ext cx="146727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DIAGRAMA CASO DE USO 18</a:t>
            </a:r>
            <a:endParaRPr/>
          </a:p>
        </p:txBody>
      </p:sp>
      <p:grpSp>
        <p:nvGrpSpPr>
          <p:cNvPr id="269" name="Google Shape;269;p9"/>
          <p:cNvGrpSpPr/>
          <p:nvPr/>
        </p:nvGrpSpPr>
        <p:grpSpPr>
          <a:xfrm>
            <a:off x="-121674" y="-946925"/>
            <a:ext cx="2052808" cy="2052808"/>
            <a:chOff x="0" y="0"/>
            <a:chExt cx="812800" cy="812800"/>
          </a:xfrm>
        </p:grpSpPr>
        <p:sp>
          <p:nvSpPr>
            <p:cNvPr id="270" name="Google Shape;270;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13075" lIns="26100" spcFirstLastPara="1" rIns="26100" wrap="square" tIns="13075">
              <a:noAutofit/>
            </a:bodyPr>
            <a:lstStyle/>
            <a:p>
              <a:pPr indent="0" lvl="0" marL="0" marR="0" rtl="0" algn="l">
                <a:spcBef>
                  <a:spcPts val="0"/>
                </a:spcBef>
                <a:spcAft>
                  <a:spcPts val="0"/>
                </a:spcAft>
                <a:buNone/>
              </a:pPr>
              <a:r>
                <a:t/>
              </a:r>
              <a:endParaRPr sz="514">
                <a:solidFill>
                  <a:schemeClr val="dk1"/>
                </a:solidFill>
                <a:latin typeface="Calibri"/>
                <a:ea typeface="Calibri"/>
                <a:cs typeface="Calibri"/>
                <a:sym typeface="Calibri"/>
              </a:endParaRPr>
            </a:p>
          </p:txBody>
        </p:sp>
        <p:sp>
          <p:nvSpPr>
            <p:cNvPr id="271" name="Google Shape;271;p9"/>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None/>
              </a:pPr>
              <a:r>
                <a:t/>
              </a:r>
              <a:endParaRPr sz="514">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279" name="Shape 279"/>
        <p:cNvGrpSpPr/>
        <p:nvPr/>
      </p:nvGrpSpPr>
      <p:grpSpPr>
        <a:xfrm>
          <a:off x="0" y="0"/>
          <a:ext cx="0" cy="0"/>
          <a:chOff x="0" y="0"/>
          <a:chExt cx="0" cy="0"/>
        </a:xfrm>
      </p:grpSpPr>
      <p:grpSp>
        <p:nvGrpSpPr>
          <p:cNvPr id="280" name="Google Shape;280;p10"/>
          <p:cNvGrpSpPr/>
          <p:nvPr/>
        </p:nvGrpSpPr>
        <p:grpSpPr>
          <a:xfrm>
            <a:off x="-29169" y="8086614"/>
            <a:ext cx="18317290" cy="2200398"/>
            <a:chOff x="0" y="-38100"/>
            <a:chExt cx="4824275" cy="579525"/>
          </a:xfrm>
        </p:grpSpPr>
        <p:sp>
          <p:nvSpPr>
            <p:cNvPr id="281" name="Google Shape;281;p10"/>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0"/>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3" name="Google Shape;283;p10"/>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284" name="Google Shape;284;p10"/>
          <p:cNvGrpSpPr/>
          <p:nvPr/>
        </p:nvGrpSpPr>
        <p:grpSpPr>
          <a:xfrm>
            <a:off x="12565518" y="-2454676"/>
            <a:ext cx="7186290" cy="7186290"/>
            <a:chOff x="0" y="0"/>
            <a:chExt cx="812800" cy="812800"/>
          </a:xfrm>
        </p:grpSpPr>
        <p:sp>
          <p:nvSpPr>
            <p:cNvPr id="285" name="Google Shape;285;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7" name="Google Shape;287;p10"/>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0"/>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10"/>
          <p:cNvSpPr txBox="1"/>
          <p:nvPr/>
        </p:nvSpPr>
        <p:spPr>
          <a:xfrm>
            <a:off x="540933" y="224025"/>
            <a:ext cx="1533000" cy="1096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6299">
                <a:solidFill>
                  <a:srgbClr val="000000"/>
                </a:solidFill>
                <a:latin typeface="Impact"/>
                <a:ea typeface="Impact"/>
                <a:cs typeface="Impact"/>
                <a:sym typeface="Impact"/>
              </a:rPr>
              <a:t>RF</a:t>
            </a:r>
            <a:r>
              <a:rPr lang="en-US" sz="6299">
                <a:latin typeface="Impact"/>
                <a:ea typeface="Impact"/>
                <a:cs typeface="Impact"/>
                <a:sym typeface="Impact"/>
              </a:rPr>
              <a:t>17</a:t>
            </a:r>
            <a:endParaRPr sz="100"/>
          </a:p>
        </p:txBody>
      </p:sp>
      <p:sp>
        <p:nvSpPr>
          <p:cNvPr id="290" name="Google Shape;290;p10"/>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1" name="Google Shape;291;p10"/>
          <p:cNvGrpSpPr/>
          <p:nvPr/>
        </p:nvGrpSpPr>
        <p:grpSpPr>
          <a:xfrm>
            <a:off x="-148686" y="-555477"/>
            <a:ext cx="2052808" cy="2052808"/>
            <a:chOff x="0" y="0"/>
            <a:chExt cx="812800" cy="812800"/>
          </a:xfrm>
        </p:grpSpPr>
        <p:sp>
          <p:nvSpPr>
            <p:cNvPr id="292" name="Google Shape;292;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13075" lIns="26100" spcFirstLastPara="1" rIns="26100" wrap="square" tIns="13075">
              <a:noAutofit/>
            </a:bodyPr>
            <a:lstStyle/>
            <a:p>
              <a:pPr indent="0" lvl="0" marL="0" marR="0" rtl="0" algn="l">
                <a:spcBef>
                  <a:spcPts val="0"/>
                </a:spcBef>
                <a:spcAft>
                  <a:spcPts val="0"/>
                </a:spcAft>
                <a:buNone/>
              </a:pPr>
              <a:r>
                <a:t/>
              </a:r>
              <a:endParaRPr sz="514">
                <a:solidFill>
                  <a:schemeClr val="dk1"/>
                </a:solidFill>
                <a:latin typeface="Calibri"/>
                <a:ea typeface="Calibri"/>
                <a:cs typeface="Calibri"/>
                <a:sym typeface="Calibri"/>
              </a:endParaRPr>
            </a:p>
          </p:txBody>
        </p:sp>
        <p:sp>
          <p:nvSpPr>
            <p:cNvPr id="293" name="Google Shape;293;p10"/>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None/>
              </a:pPr>
              <a:r>
                <a:t/>
              </a:r>
              <a:endParaRPr sz="514">
                <a:solidFill>
                  <a:schemeClr val="dk1"/>
                </a:solidFill>
                <a:latin typeface="Calibri"/>
                <a:ea typeface="Calibri"/>
                <a:cs typeface="Calibri"/>
                <a:sym typeface="Calibri"/>
              </a:endParaRPr>
            </a:p>
          </p:txBody>
        </p:sp>
      </p:grpSp>
      <p:sp>
        <p:nvSpPr>
          <p:cNvPr id="294" name="Google Shape;294;p10"/>
          <p:cNvSpPr txBox="1"/>
          <p:nvPr/>
        </p:nvSpPr>
        <p:spPr>
          <a:xfrm>
            <a:off x="2179500" y="60397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DIAGRAMA </a:t>
            </a:r>
            <a:r>
              <a:rPr lang="en-US" sz="9499">
                <a:latin typeface="Impact"/>
                <a:ea typeface="Impact"/>
                <a:cs typeface="Impact"/>
                <a:sym typeface="Impact"/>
              </a:rPr>
              <a:t>SECUENCIA CU</a:t>
            </a:r>
            <a:r>
              <a:rPr lang="en-US" sz="9499">
                <a:solidFill>
                  <a:srgbClr val="000000"/>
                </a:solidFill>
                <a:latin typeface="Impact"/>
                <a:ea typeface="Impact"/>
                <a:cs typeface="Impact"/>
                <a:sym typeface="Impact"/>
              </a:rPr>
              <a:t>18</a:t>
            </a:r>
            <a:endParaRPr/>
          </a:p>
        </p:txBody>
      </p:sp>
      <p:pic>
        <p:nvPicPr>
          <p:cNvPr id="295" name="Google Shape;295;p10" title="CU18-Emitiendo Cotizacion.png"/>
          <p:cNvPicPr preferRelativeResize="0"/>
          <p:nvPr/>
        </p:nvPicPr>
        <p:blipFill>
          <a:blip r:embed="rId3">
            <a:alphaModFix/>
          </a:blip>
          <a:stretch>
            <a:fillRect/>
          </a:stretch>
        </p:blipFill>
        <p:spPr>
          <a:xfrm>
            <a:off x="2257974" y="1982100"/>
            <a:ext cx="13112873" cy="6322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03" name="Shape 303"/>
        <p:cNvGrpSpPr/>
        <p:nvPr/>
      </p:nvGrpSpPr>
      <p:grpSpPr>
        <a:xfrm>
          <a:off x="0" y="0"/>
          <a:ext cx="0" cy="0"/>
          <a:chOff x="0" y="0"/>
          <a:chExt cx="0" cy="0"/>
        </a:xfrm>
      </p:grpSpPr>
      <p:grpSp>
        <p:nvGrpSpPr>
          <p:cNvPr id="304" name="Google Shape;304;p12"/>
          <p:cNvGrpSpPr/>
          <p:nvPr/>
        </p:nvGrpSpPr>
        <p:grpSpPr>
          <a:xfrm>
            <a:off x="-29169" y="8086615"/>
            <a:ext cx="18317169" cy="2200385"/>
            <a:chOff x="0" y="-38100"/>
            <a:chExt cx="4824275" cy="579525"/>
          </a:xfrm>
        </p:grpSpPr>
        <p:sp>
          <p:nvSpPr>
            <p:cNvPr id="305" name="Google Shape;305;p12"/>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12"/>
            <p:cNvSpPr txBox="1"/>
            <p:nvPr/>
          </p:nvSpPr>
          <p:spPr>
            <a:xfrm>
              <a:off x="0" y="-38100"/>
              <a:ext cx="4824275" cy="57952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7" name="Google Shape;307;p12"/>
          <p:cNvGrpSpPr/>
          <p:nvPr/>
        </p:nvGrpSpPr>
        <p:grpSpPr>
          <a:xfrm>
            <a:off x="323050" y="1953976"/>
            <a:ext cx="5400023" cy="7659002"/>
            <a:chOff x="0" y="-38100"/>
            <a:chExt cx="903815" cy="1164637"/>
          </a:xfrm>
        </p:grpSpPr>
        <p:sp>
          <p:nvSpPr>
            <p:cNvPr id="308" name="Google Shape;308;p12"/>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12"/>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0" name="Google Shape;310;p12"/>
          <p:cNvGrpSpPr/>
          <p:nvPr/>
        </p:nvGrpSpPr>
        <p:grpSpPr>
          <a:xfrm>
            <a:off x="858357" y="1364167"/>
            <a:ext cx="4313734" cy="1353006"/>
            <a:chOff x="0" y="-38100"/>
            <a:chExt cx="770695" cy="241729"/>
          </a:xfrm>
        </p:grpSpPr>
        <p:sp>
          <p:nvSpPr>
            <p:cNvPr id="311" name="Google Shape;311;p12"/>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12"/>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3" name="Google Shape;313;p12"/>
          <p:cNvSpPr txBox="1"/>
          <p:nvPr/>
        </p:nvSpPr>
        <p:spPr>
          <a:xfrm>
            <a:off x="7404840" y="335650"/>
            <a:ext cx="27309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a:t>
            </a:r>
            <a:r>
              <a:rPr lang="en-US" sz="9499">
                <a:latin typeface="Impact"/>
                <a:ea typeface="Impact"/>
                <a:cs typeface="Impact"/>
                <a:sym typeface="Impact"/>
              </a:rPr>
              <a:t>45</a:t>
            </a:r>
            <a:endParaRPr/>
          </a:p>
        </p:txBody>
      </p:sp>
      <p:sp>
        <p:nvSpPr>
          <p:cNvPr id="314" name="Google Shape;314;p12"/>
          <p:cNvSpPr txBox="1"/>
          <p:nvPr/>
        </p:nvSpPr>
        <p:spPr>
          <a:xfrm>
            <a:off x="13588555" y="7742328"/>
            <a:ext cx="2730865" cy="45084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315" name="Google Shape;315;p12"/>
          <p:cNvGrpSpPr/>
          <p:nvPr/>
        </p:nvGrpSpPr>
        <p:grpSpPr>
          <a:xfrm>
            <a:off x="12565518" y="-2454676"/>
            <a:ext cx="7186254" cy="7186254"/>
            <a:chOff x="0" y="0"/>
            <a:chExt cx="812800" cy="812800"/>
          </a:xfrm>
        </p:grpSpPr>
        <p:sp>
          <p:nvSpPr>
            <p:cNvPr id="316" name="Google Shape;316;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8" name="Google Shape;318;p12"/>
          <p:cNvSpPr/>
          <p:nvPr/>
        </p:nvSpPr>
        <p:spPr>
          <a:xfrm rot="10800000">
            <a:off x="5797437" y="1521564"/>
            <a:ext cx="5741326" cy="668082"/>
          </a:xfrm>
          <a:custGeom>
            <a:rect b="b" l="l" r="r" t="t"/>
            <a:pathLst>
              <a:path extrusionOk="0" h="668082" w="5741326">
                <a:moveTo>
                  <a:pt x="0" y="0"/>
                </a:moveTo>
                <a:lnTo>
                  <a:pt x="5741326" y="0"/>
                </a:lnTo>
                <a:lnTo>
                  <a:pt x="5741326" y="668081"/>
                </a:lnTo>
                <a:lnTo>
                  <a:pt x="0" y="668081"/>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12"/>
          <p:cNvSpPr/>
          <p:nvPr/>
        </p:nvSpPr>
        <p:spPr>
          <a:xfrm>
            <a:off x="8996418" y="4548640"/>
            <a:ext cx="1766910" cy="594860"/>
          </a:xfrm>
          <a:custGeom>
            <a:rect b="b" l="l" r="r" t="t"/>
            <a:pathLst>
              <a:path extrusionOk="0" h="594860" w="1766910">
                <a:moveTo>
                  <a:pt x="0" y="0"/>
                </a:moveTo>
                <a:lnTo>
                  <a:pt x="1766910" y="0"/>
                </a:lnTo>
                <a:lnTo>
                  <a:pt x="1766910" y="594860"/>
                </a:lnTo>
                <a:lnTo>
                  <a:pt x="0" y="5948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12"/>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1" name="Google Shape;321;p12"/>
          <p:cNvGrpSpPr/>
          <p:nvPr/>
        </p:nvGrpSpPr>
        <p:grpSpPr>
          <a:xfrm>
            <a:off x="11159725" y="2717175"/>
            <a:ext cx="6732944" cy="6895816"/>
            <a:chOff x="0" y="-38100"/>
            <a:chExt cx="1129954" cy="1164637"/>
          </a:xfrm>
        </p:grpSpPr>
        <p:sp>
          <p:nvSpPr>
            <p:cNvPr id="322" name="Google Shape;322;p12"/>
            <p:cNvSpPr/>
            <p:nvPr/>
          </p:nvSpPr>
          <p:spPr>
            <a:xfrm>
              <a:off x="0" y="0"/>
              <a:ext cx="1129954" cy="1126537"/>
            </a:xfrm>
            <a:custGeom>
              <a:rect b="b" l="l" r="r" t="t"/>
              <a:pathLst>
                <a:path extrusionOk="0" h="1126537" w="1129954">
                  <a:moveTo>
                    <a:pt x="0" y="0"/>
                  </a:moveTo>
                  <a:lnTo>
                    <a:pt x="1129954" y="0"/>
                  </a:lnTo>
                  <a:lnTo>
                    <a:pt x="1129954"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2"/>
            <p:cNvSpPr txBox="1"/>
            <p:nvPr/>
          </p:nvSpPr>
          <p:spPr>
            <a:xfrm>
              <a:off x="0" y="-38100"/>
              <a:ext cx="1129954"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4" name="Google Shape;324;p12"/>
          <p:cNvGrpSpPr/>
          <p:nvPr/>
        </p:nvGrpSpPr>
        <p:grpSpPr>
          <a:xfrm>
            <a:off x="11717813" y="1899292"/>
            <a:ext cx="5577296" cy="1353006"/>
            <a:chOff x="0" y="-38100"/>
            <a:chExt cx="996444" cy="241729"/>
          </a:xfrm>
        </p:grpSpPr>
        <p:sp>
          <p:nvSpPr>
            <p:cNvPr id="325" name="Google Shape;325;p12"/>
            <p:cNvSpPr/>
            <p:nvPr/>
          </p:nvSpPr>
          <p:spPr>
            <a:xfrm>
              <a:off x="0" y="0"/>
              <a:ext cx="996444" cy="203629"/>
            </a:xfrm>
            <a:custGeom>
              <a:rect b="b" l="l" r="r" t="t"/>
              <a:pathLst>
                <a:path extrusionOk="0" h="203629" w="996444">
                  <a:moveTo>
                    <a:pt x="0" y="0"/>
                  </a:moveTo>
                  <a:lnTo>
                    <a:pt x="996444" y="0"/>
                  </a:lnTo>
                  <a:lnTo>
                    <a:pt x="996444"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2"/>
            <p:cNvSpPr txBox="1"/>
            <p:nvPr/>
          </p:nvSpPr>
          <p:spPr>
            <a:xfrm>
              <a:off x="0" y="-38100"/>
              <a:ext cx="996444"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27" name="Google Shape;327;p12"/>
          <p:cNvGrpSpPr/>
          <p:nvPr/>
        </p:nvGrpSpPr>
        <p:grpSpPr>
          <a:xfrm>
            <a:off x="5863211" y="3094308"/>
            <a:ext cx="5058822" cy="6518695"/>
            <a:chOff x="0" y="-38100"/>
            <a:chExt cx="903815" cy="1164637"/>
          </a:xfrm>
        </p:grpSpPr>
        <p:sp>
          <p:nvSpPr>
            <p:cNvPr id="328" name="Google Shape;328;p12"/>
            <p:cNvSpPr/>
            <p:nvPr/>
          </p:nvSpPr>
          <p:spPr>
            <a:xfrm>
              <a:off x="0" y="0"/>
              <a:ext cx="903815" cy="1126537"/>
            </a:xfrm>
            <a:custGeom>
              <a:rect b="b" l="l" r="r" t="t"/>
              <a:pathLst>
                <a:path extrusionOk="0" h="1126537" w="903815">
                  <a:moveTo>
                    <a:pt x="0" y="0"/>
                  </a:moveTo>
                  <a:lnTo>
                    <a:pt x="903815" y="0"/>
                  </a:lnTo>
                  <a:lnTo>
                    <a:pt x="903815" y="1126537"/>
                  </a:lnTo>
                  <a:lnTo>
                    <a:pt x="0" y="112653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2"/>
            <p:cNvSpPr txBox="1"/>
            <p:nvPr/>
          </p:nvSpPr>
          <p:spPr>
            <a:xfrm>
              <a:off x="0" y="-38100"/>
              <a:ext cx="903815" cy="116463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30" name="Google Shape;330;p12"/>
          <p:cNvGrpSpPr/>
          <p:nvPr/>
        </p:nvGrpSpPr>
        <p:grpSpPr>
          <a:xfrm>
            <a:off x="6235759" y="2496742"/>
            <a:ext cx="4313727" cy="1353005"/>
            <a:chOff x="0" y="-38100"/>
            <a:chExt cx="770695" cy="241729"/>
          </a:xfrm>
        </p:grpSpPr>
        <p:sp>
          <p:nvSpPr>
            <p:cNvPr id="331" name="Google Shape;331;p12"/>
            <p:cNvSpPr/>
            <p:nvPr/>
          </p:nvSpPr>
          <p:spPr>
            <a:xfrm>
              <a:off x="0" y="0"/>
              <a:ext cx="770695" cy="203629"/>
            </a:xfrm>
            <a:custGeom>
              <a:rect b="b" l="l" r="r" t="t"/>
              <a:pathLst>
                <a:path extrusionOk="0" h="203629" w="770695">
                  <a:moveTo>
                    <a:pt x="0" y="0"/>
                  </a:moveTo>
                  <a:lnTo>
                    <a:pt x="770695" y="0"/>
                  </a:lnTo>
                  <a:lnTo>
                    <a:pt x="770695" y="203629"/>
                  </a:lnTo>
                  <a:lnTo>
                    <a:pt x="0" y="203629"/>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2"/>
            <p:cNvSpPr txBox="1"/>
            <p:nvPr/>
          </p:nvSpPr>
          <p:spPr>
            <a:xfrm>
              <a:off x="0" y="-38100"/>
              <a:ext cx="770695" cy="241729"/>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3" name="Google Shape;333;p12"/>
          <p:cNvSpPr txBox="1"/>
          <p:nvPr/>
        </p:nvSpPr>
        <p:spPr>
          <a:xfrm>
            <a:off x="1022111" y="1855743"/>
            <a:ext cx="4025700" cy="567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REQUERIMIENTO</a:t>
            </a:r>
            <a:endParaRPr/>
          </a:p>
        </p:txBody>
      </p:sp>
      <p:sp>
        <p:nvSpPr>
          <p:cNvPr id="334" name="Google Shape;334;p12"/>
          <p:cNvSpPr txBox="1"/>
          <p:nvPr/>
        </p:nvSpPr>
        <p:spPr>
          <a:xfrm>
            <a:off x="11400475" y="291150"/>
            <a:ext cx="6377700" cy="20010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Actualización </a:t>
            </a:r>
            <a:r>
              <a:rPr b="1" lang="en-US" sz="2500">
                <a:solidFill>
                  <a:srgbClr val="545454"/>
                </a:solidFill>
                <a:latin typeface="Inter Medium"/>
                <a:ea typeface="Inter Medium"/>
                <a:cs typeface="Inter Medium"/>
                <a:sym typeface="Inter Medium"/>
              </a:rPr>
              <a:t>automática del estado de pago de la Nota de Venta</a:t>
            </a:r>
            <a:r>
              <a:rPr b="1" lang="en-US" sz="2500">
                <a:solidFill>
                  <a:srgbClr val="545454"/>
                </a:solidFill>
                <a:latin typeface="Inter Medium"/>
                <a:ea typeface="Inter Medium"/>
                <a:cs typeface="Inter Medium"/>
                <a:sym typeface="Inter Medium"/>
              </a:rPr>
              <a:t>.</a:t>
            </a:r>
            <a:endParaRPr/>
          </a:p>
          <a:p>
            <a:pPr indent="0" lvl="0" marL="0" marR="0" rtl="0" algn="just">
              <a:lnSpc>
                <a:spcPct val="140000"/>
              </a:lnSpc>
              <a:spcBef>
                <a:spcPts val="0"/>
              </a:spcBef>
              <a:spcAft>
                <a:spcPts val="0"/>
              </a:spcAft>
              <a:buNone/>
            </a:pPr>
            <a:r>
              <a:rPr b="1" lang="en-US" sz="2500">
                <a:solidFill>
                  <a:srgbClr val="545454"/>
                </a:solidFill>
                <a:latin typeface="Inter Medium"/>
                <a:ea typeface="Inter Medium"/>
                <a:cs typeface="Inter Medium"/>
                <a:sym typeface="Inter Medium"/>
              </a:rPr>
              <a:t>Corresponde al UR 3.9 </a:t>
            </a:r>
            <a:endParaRPr/>
          </a:p>
          <a:p>
            <a:pPr indent="0" lvl="0" marL="0" marR="0" rtl="0" algn="just">
              <a:lnSpc>
                <a:spcPct val="140000"/>
              </a:lnSpc>
              <a:spcBef>
                <a:spcPts val="0"/>
              </a:spcBef>
              <a:spcAft>
                <a:spcPts val="0"/>
              </a:spcAft>
              <a:buNone/>
            </a:pPr>
            <a:r>
              <a:t/>
            </a:r>
            <a:endParaRPr b="1" sz="2500">
              <a:solidFill>
                <a:srgbClr val="545454"/>
              </a:solidFill>
              <a:latin typeface="Inter Medium"/>
              <a:ea typeface="Inter Medium"/>
              <a:cs typeface="Inter Medium"/>
              <a:sym typeface="Inter Medium"/>
            </a:endParaRPr>
          </a:p>
        </p:txBody>
      </p:sp>
      <p:sp>
        <p:nvSpPr>
          <p:cNvPr id="335" name="Google Shape;335;p12"/>
          <p:cNvSpPr txBox="1"/>
          <p:nvPr/>
        </p:nvSpPr>
        <p:spPr>
          <a:xfrm>
            <a:off x="11713997" y="2390865"/>
            <a:ext cx="55773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CASO DE USO</a:t>
            </a:r>
            <a:endParaRPr/>
          </a:p>
        </p:txBody>
      </p:sp>
      <p:sp>
        <p:nvSpPr>
          <p:cNvPr id="336" name="Google Shape;336;p12"/>
          <p:cNvSpPr txBox="1"/>
          <p:nvPr/>
        </p:nvSpPr>
        <p:spPr>
          <a:xfrm>
            <a:off x="6523764" y="2917116"/>
            <a:ext cx="4025700" cy="567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n-US" sz="3685">
                <a:solidFill>
                  <a:srgbClr val="FFFFFF"/>
                </a:solidFill>
                <a:latin typeface="Poppins Black"/>
                <a:ea typeface="Poppins Black"/>
                <a:cs typeface="Poppins Black"/>
                <a:sym typeface="Poppins Black"/>
              </a:rPr>
              <a:t>UR 3.9</a:t>
            </a:r>
            <a:endParaRPr/>
          </a:p>
        </p:txBody>
      </p:sp>
      <p:sp>
        <p:nvSpPr>
          <p:cNvPr id="337" name="Google Shape;337;p12"/>
          <p:cNvSpPr txBox="1"/>
          <p:nvPr/>
        </p:nvSpPr>
        <p:spPr>
          <a:xfrm>
            <a:off x="485784" y="2830950"/>
            <a:ext cx="5058900" cy="7874700"/>
          </a:xfrm>
          <a:prstGeom prst="rect">
            <a:avLst/>
          </a:prstGeom>
          <a:noFill/>
          <a:ln>
            <a:noFill/>
          </a:ln>
        </p:spPr>
        <p:txBody>
          <a:bodyPr anchorCtr="0" anchor="t" bIns="0" lIns="0" spcFirstLastPara="1" rIns="0" wrap="square" tIns="0">
            <a:spAutoFit/>
          </a:bodyPr>
          <a:lstStyle/>
          <a:p>
            <a:pPr indent="0" lvl="0" marL="0" rtl="0" algn="just">
              <a:lnSpc>
                <a:spcPct val="150000"/>
              </a:lnSpc>
              <a:spcBef>
                <a:spcPts val="0"/>
              </a:spcBef>
              <a:spcAft>
                <a:spcPts val="0"/>
              </a:spcAft>
              <a:buClr>
                <a:schemeClr val="dk1"/>
              </a:buClr>
              <a:buSzPts val="1100"/>
              <a:buFont typeface="Arial"/>
              <a:buNone/>
            </a:pPr>
            <a:r>
              <a:rPr lang="en-US" sz="1600">
                <a:solidFill>
                  <a:schemeClr val="lt1"/>
                </a:solidFill>
                <a:latin typeface="Inter"/>
                <a:ea typeface="Inter"/>
                <a:cs typeface="Inter"/>
                <a:sym typeface="Inter"/>
              </a:rPr>
              <a:t>El sistema debe actualizar automáticamente el estado de pago de una Nota de Venta cada vez que un pago asociado adquiera o pierda efectos sobre su saldo pendiente, como consecuencia de su registro, anulación, reversión o rechazo, según corresponda.</a:t>
            </a:r>
            <a:endParaRPr sz="1600">
              <a:solidFill>
                <a:schemeClr val="lt1"/>
              </a:solidFill>
              <a:latin typeface="Inter"/>
              <a:ea typeface="Inter"/>
              <a:cs typeface="Inter"/>
              <a:sym typeface="Inter"/>
            </a:endParaRPr>
          </a:p>
          <a:p>
            <a:pPr indent="0" lvl="0" marL="0" rtl="0" algn="just">
              <a:lnSpc>
                <a:spcPct val="150000"/>
              </a:lnSpc>
              <a:spcBef>
                <a:spcPts val="600"/>
              </a:spcBef>
              <a:spcAft>
                <a:spcPts val="0"/>
              </a:spcAft>
              <a:buClr>
                <a:schemeClr val="dk1"/>
              </a:buClr>
              <a:buSzPts val="1100"/>
              <a:buFont typeface="Arial"/>
              <a:buNone/>
            </a:pPr>
            <a:r>
              <a:rPr lang="en-US" sz="1600">
                <a:solidFill>
                  <a:schemeClr val="lt1"/>
                </a:solidFill>
                <a:latin typeface="Inter"/>
                <a:ea typeface="Inter"/>
                <a:cs typeface="Inter"/>
                <a:sym typeface="Inter"/>
              </a:rPr>
              <a:t>El estado debe determinarse a partir del monto comercial vigente y del saldo pendiente vigente. Si el saldo pendiente es igual al monto comercial vigente de la Nota de Venta, el estado debe ser “Pendiente”. Si el saldo es mayor que cero y menor que el monto comercial vigente, el estado debe ser “Pago parcial”. Si el saldo pendiente es igual a cero, el estado debe ser “Pagada”.</a:t>
            </a:r>
            <a:endParaRPr sz="1600">
              <a:solidFill>
                <a:schemeClr val="lt1"/>
              </a:solidFill>
              <a:latin typeface="Inter"/>
              <a:ea typeface="Inter"/>
              <a:cs typeface="Inter"/>
              <a:sym typeface="Inter"/>
            </a:endParaRPr>
          </a:p>
          <a:p>
            <a:pPr indent="0" lvl="0" marL="0" rtl="0" algn="just">
              <a:lnSpc>
                <a:spcPct val="150000"/>
              </a:lnSpc>
              <a:spcBef>
                <a:spcPts val="600"/>
              </a:spcBef>
              <a:spcAft>
                <a:spcPts val="0"/>
              </a:spcAft>
              <a:buClr>
                <a:schemeClr val="dk1"/>
              </a:buClr>
              <a:buSzPts val="1100"/>
              <a:buFont typeface="Arial"/>
              <a:buNone/>
            </a:pPr>
            <a:r>
              <a:rPr lang="en-US" sz="1600">
                <a:solidFill>
                  <a:schemeClr val="lt1"/>
                </a:solidFill>
                <a:latin typeface="Inter"/>
                <a:ea typeface="Inter"/>
                <a:cs typeface="Inter"/>
                <a:sym typeface="Inter"/>
              </a:rPr>
              <a:t>El sistema debe mantener la coherencia entre el saldo y el estado de pago y no debe modificar el estado comercial de la Nota de Venta mediante este proceso.</a:t>
            </a:r>
            <a:endParaRPr sz="1600">
              <a:solidFill>
                <a:schemeClr val="lt1"/>
              </a:solidFill>
              <a:latin typeface="Inter"/>
              <a:ea typeface="Inter"/>
              <a:cs typeface="Inter"/>
              <a:sym typeface="Inter"/>
            </a:endParaRPr>
          </a:p>
          <a:p>
            <a:pPr indent="0" lvl="0" marL="0" marR="0" rtl="0" algn="just">
              <a:lnSpc>
                <a:spcPct val="140000"/>
              </a:lnSpc>
              <a:spcBef>
                <a:spcPts val="60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p:txBody>
      </p:sp>
      <p:sp>
        <p:nvSpPr>
          <p:cNvPr id="338" name="Google Shape;338;p12"/>
          <p:cNvSpPr txBox="1"/>
          <p:nvPr/>
        </p:nvSpPr>
        <p:spPr>
          <a:xfrm>
            <a:off x="6235759" y="3935472"/>
            <a:ext cx="4313700" cy="4657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Como usuario autorizado, quiero que el estado de pago de una Nota de Venta se actualice automáticamente según su saldo pendiente para conocer de forma consistente si está Pendiente, con Pago parcial o Pagada.</a:t>
            </a:r>
            <a:endParaRPr/>
          </a:p>
          <a:p>
            <a:pPr indent="0" lvl="0" marL="0" marR="0" rtl="0" algn="just">
              <a:lnSpc>
                <a:spcPct val="140000"/>
              </a:lnSpc>
              <a:spcBef>
                <a:spcPts val="0"/>
              </a:spcBef>
              <a:spcAft>
                <a:spcPts val="0"/>
              </a:spcAft>
              <a:buNone/>
            </a:pPr>
            <a:r>
              <a:t/>
            </a:r>
            <a:endParaRPr b="1" sz="1700">
              <a:solidFill>
                <a:srgbClr val="FFFFFF"/>
              </a:solidFill>
              <a:latin typeface="Inter Medium"/>
              <a:ea typeface="Inter Medium"/>
              <a:cs typeface="Inter Medium"/>
              <a:sym typeface="Inter Medium"/>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Necesidad: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Prioridad: 2</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Estabilidad: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Claridad: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Verificalidad: 1</a:t>
            </a:r>
            <a:endParaRPr/>
          </a:p>
          <a:p>
            <a:pPr indent="0" lvl="0" marL="0" marR="0" rtl="0" algn="just">
              <a:lnSpc>
                <a:spcPct val="140000"/>
              </a:lnSpc>
              <a:spcBef>
                <a:spcPts val="0"/>
              </a:spcBef>
              <a:spcAft>
                <a:spcPts val="0"/>
              </a:spcAft>
              <a:buNone/>
            </a:pPr>
            <a:r>
              <a:rPr b="1" lang="en-US" sz="1700">
                <a:solidFill>
                  <a:srgbClr val="FFFFFF"/>
                </a:solidFill>
                <a:latin typeface="Inter Medium"/>
                <a:ea typeface="Inter Medium"/>
                <a:cs typeface="Inter Medium"/>
                <a:sym typeface="Inter Medium"/>
              </a:rPr>
              <a:t>Fuente: 1</a:t>
            </a:r>
            <a:endParaRPr/>
          </a:p>
        </p:txBody>
      </p:sp>
      <p:pic>
        <p:nvPicPr>
          <p:cNvPr id="339" name="Google Shape;339;p12" title="Captura de pantalla 2026-09-06 220134.png"/>
          <p:cNvPicPr preferRelativeResize="0"/>
          <p:nvPr/>
        </p:nvPicPr>
        <p:blipFill>
          <a:blip r:embed="rId3">
            <a:alphaModFix/>
          </a:blip>
          <a:stretch>
            <a:fillRect/>
          </a:stretch>
        </p:blipFill>
        <p:spPr>
          <a:xfrm>
            <a:off x="11260295" y="3405952"/>
            <a:ext cx="6537625" cy="60533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47" name="Shape 347"/>
        <p:cNvGrpSpPr/>
        <p:nvPr/>
      </p:nvGrpSpPr>
      <p:grpSpPr>
        <a:xfrm>
          <a:off x="0" y="0"/>
          <a:ext cx="0" cy="0"/>
          <a:chOff x="0" y="0"/>
          <a:chExt cx="0" cy="0"/>
        </a:xfrm>
      </p:grpSpPr>
      <p:grpSp>
        <p:nvGrpSpPr>
          <p:cNvPr id="348" name="Google Shape;348;p13"/>
          <p:cNvGrpSpPr/>
          <p:nvPr/>
        </p:nvGrpSpPr>
        <p:grpSpPr>
          <a:xfrm>
            <a:off x="12565518" y="-2454676"/>
            <a:ext cx="7186254" cy="7186254"/>
            <a:chOff x="0" y="0"/>
            <a:chExt cx="812800" cy="812800"/>
          </a:xfrm>
        </p:grpSpPr>
        <p:sp>
          <p:nvSpPr>
            <p:cNvPr id="349" name="Google Shape;349;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1" name="Google Shape;351;p13"/>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3"/>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3" name="Google Shape;353;p13"/>
          <p:cNvGrpSpPr/>
          <p:nvPr/>
        </p:nvGrpSpPr>
        <p:grpSpPr>
          <a:xfrm>
            <a:off x="15705644" y="1606448"/>
            <a:ext cx="234493" cy="8374261"/>
            <a:chOff x="0" y="-38100"/>
            <a:chExt cx="61760" cy="2205567"/>
          </a:xfrm>
        </p:grpSpPr>
        <p:sp>
          <p:nvSpPr>
            <p:cNvPr id="354" name="Google Shape;354;p13"/>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p13"/>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6" name="Google Shape;356;p13"/>
          <p:cNvGrpSpPr/>
          <p:nvPr/>
        </p:nvGrpSpPr>
        <p:grpSpPr>
          <a:xfrm>
            <a:off x="-231633" y="-1921513"/>
            <a:ext cx="3860075" cy="3860075"/>
            <a:chOff x="0" y="0"/>
            <a:chExt cx="812800" cy="812800"/>
          </a:xfrm>
        </p:grpSpPr>
        <p:sp>
          <p:nvSpPr>
            <p:cNvPr id="357" name="Google Shape;357;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59" name="Google Shape;359;p13"/>
          <p:cNvGrpSpPr/>
          <p:nvPr/>
        </p:nvGrpSpPr>
        <p:grpSpPr>
          <a:xfrm>
            <a:off x="-450373" y="-348365"/>
            <a:ext cx="2148777" cy="10635365"/>
            <a:chOff x="0" y="-38100"/>
            <a:chExt cx="229394" cy="1135384"/>
          </a:xfrm>
        </p:grpSpPr>
        <p:sp>
          <p:nvSpPr>
            <p:cNvPr id="360" name="Google Shape;360;p13"/>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3"/>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62" name="Google Shape;362;p13"/>
          <p:cNvGrpSpPr/>
          <p:nvPr/>
        </p:nvGrpSpPr>
        <p:grpSpPr>
          <a:xfrm>
            <a:off x="9547785" y="7287542"/>
            <a:ext cx="5386334" cy="5386334"/>
            <a:chOff x="0" y="0"/>
            <a:chExt cx="812800" cy="812800"/>
          </a:xfrm>
        </p:grpSpPr>
        <p:sp>
          <p:nvSpPr>
            <p:cNvPr id="363" name="Google Shape;363;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5" name="Google Shape;365;p13"/>
          <p:cNvSpPr txBox="1"/>
          <p:nvPr/>
        </p:nvSpPr>
        <p:spPr>
          <a:xfrm>
            <a:off x="1869033" y="511131"/>
            <a:ext cx="5081100" cy="6418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RF</a:t>
            </a:r>
            <a:r>
              <a:rPr lang="en-US" sz="9499">
                <a:latin typeface="Impact"/>
                <a:ea typeface="Impact"/>
                <a:cs typeface="Impact"/>
                <a:sym typeface="Impact"/>
              </a:rPr>
              <a:t>45</a:t>
            </a:r>
            <a:r>
              <a:rPr lang="en-US" sz="9499">
                <a:solidFill>
                  <a:srgbClr val="000000"/>
                </a:solidFill>
                <a:latin typeface="Impact"/>
                <a:ea typeface="Impact"/>
                <a:cs typeface="Impact"/>
                <a:sym typeface="Impact"/>
              </a:rPr>
              <a:t> - DIAGRAMACASO DE USO</a:t>
            </a:r>
            <a:r>
              <a:rPr lang="en-US" sz="9499">
                <a:latin typeface="Impact"/>
                <a:ea typeface="Impact"/>
                <a:cs typeface="Impact"/>
                <a:sym typeface="Impact"/>
              </a:rPr>
              <a:t> 50</a:t>
            </a:r>
            <a:endParaRPr/>
          </a:p>
        </p:txBody>
      </p:sp>
      <p:pic>
        <p:nvPicPr>
          <p:cNvPr id="366" name="Google Shape;366;p13"/>
          <p:cNvPicPr preferRelativeResize="0"/>
          <p:nvPr/>
        </p:nvPicPr>
        <p:blipFill>
          <a:blip r:embed="rId3">
            <a:alphaModFix/>
          </a:blip>
          <a:stretch>
            <a:fillRect/>
          </a:stretch>
        </p:blipFill>
        <p:spPr>
          <a:xfrm>
            <a:off x="7120750" y="265500"/>
            <a:ext cx="8603126" cy="9756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74" name="Shape 374"/>
        <p:cNvGrpSpPr/>
        <p:nvPr/>
      </p:nvGrpSpPr>
      <p:grpSpPr>
        <a:xfrm>
          <a:off x="0" y="0"/>
          <a:ext cx="0" cy="0"/>
          <a:chOff x="0" y="0"/>
          <a:chExt cx="0" cy="0"/>
        </a:xfrm>
      </p:grpSpPr>
      <p:grpSp>
        <p:nvGrpSpPr>
          <p:cNvPr id="375" name="Google Shape;375;g2f583de033a753c6_0"/>
          <p:cNvGrpSpPr/>
          <p:nvPr/>
        </p:nvGrpSpPr>
        <p:grpSpPr>
          <a:xfrm>
            <a:off x="-29169" y="8086614"/>
            <a:ext cx="18317385" cy="2200683"/>
            <a:chOff x="0" y="-38100"/>
            <a:chExt cx="4824300" cy="579600"/>
          </a:xfrm>
        </p:grpSpPr>
        <p:sp>
          <p:nvSpPr>
            <p:cNvPr id="376" name="Google Shape;376;g2f583de033a753c6_0"/>
            <p:cNvSpPr/>
            <p:nvPr/>
          </p:nvSpPr>
          <p:spPr>
            <a:xfrm>
              <a:off x="0" y="0"/>
              <a:ext cx="4824275" cy="541425"/>
            </a:xfrm>
            <a:custGeom>
              <a:rect b="b" l="l" r="r" t="t"/>
              <a:pathLst>
                <a:path extrusionOk="0" h="541425" w="4824275">
                  <a:moveTo>
                    <a:pt x="0" y="0"/>
                  </a:moveTo>
                  <a:lnTo>
                    <a:pt x="4824275" y="0"/>
                  </a:lnTo>
                  <a:lnTo>
                    <a:pt x="4824275" y="541425"/>
                  </a:lnTo>
                  <a:lnTo>
                    <a:pt x="0" y="54142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7" name="Google Shape;377;g2f583de033a753c6_0"/>
            <p:cNvSpPr txBox="1"/>
            <p:nvPr/>
          </p:nvSpPr>
          <p:spPr>
            <a:xfrm>
              <a:off x="0" y="-38100"/>
              <a:ext cx="4824300" cy="5796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8" name="Google Shape;378;g2f583de033a753c6_0"/>
          <p:cNvSpPr txBox="1"/>
          <p:nvPr/>
        </p:nvSpPr>
        <p:spPr>
          <a:xfrm>
            <a:off x="13588555" y="7742328"/>
            <a:ext cx="2730900" cy="538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500">
                <a:solidFill>
                  <a:srgbClr val="FFFFFF"/>
                </a:solidFill>
                <a:latin typeface="Poppins Black"/>
                <a:ea typeface="Poppins Black"/>
                <a:cs typeface="Poppins Black"/>
                <a:sym typeface="Poppins Black"/>
              </a:rPr>
              <a:t>EFFICIENCY</a:t>
            </a:r>
            <a:endParaRPr/>
          </a:p>
        </p:txBody>
      </p:sp>
      <p:grpSp>
        <p:nvGrpSpPr>
          <p:cNvPr id="379" name="Google Shape;379;g2f583de033a753c6_0"/>
          <p:cNvGrpSpPr/>
          <p:nvPr/>
        </p:nvGrpSpPr>
        <p:grpSpPr>
          <a:xfrm>
            <a:off x="12565518" y="-2454676"/>
            <a:ext cx="7186290" cy="7186290"/>
            <a:chOff x="0" y="0"/>
            <a:chExt cx="812800" cy="812800"/>
          </a:xfrm>
        </p:grpSpPr>
        <p:sp>
          <p:nvSpPr>
            <p:cNvPr id="380" name="Google Shape;380;g2f583de033a753c6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1" name="Google Shape;381;g2f583de033a753c6_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2" name="Google Shape;382;g2f583de033a753c6_0"/>
          <p:cNvSpPr/>
          <p:nvPr/>
        </p:nvSpPr>
        <p:spPr>
          <a:xfrm rot="10800000">
            <a:off x="14953988" y="1193634"/>
            <a:ext cx="5741326" cy="668082"/>
          </a:xfrm>
          <a:custGeom>
            <a:rect b="b" l="l" r="r" t="t"/>
            <a:pathLst>
              <a:path extrusionOk="0" h="668082" w="5741326">
                <a:moveTo>
                  <a:pt x="0" y="0"/>
                </a:moveTo>
                <a:lnTo>
                  <a:pt x="5741325" y="0"/>
                </a:lnTo>
                <a:lnTo>
                  <a:pt x="5741325" y="668082"/>
                </a:lnTo>
                <a:lnTo>
                  <a:pt x="0" y="668082"/>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g2f583de033a753c6_0"/>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g2f583de033a753c6_0"/>
          <p:cNvSpPr txBox="1"/>
          <p:nvPr/>
        </p:nvSpPr>
        <p:spPr>
          <a:xfrm>
            <a:off x="277349" y="224025"/>
            <a:ext cx="1796700" cy="10968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6299">
                <a:solidFill>
                  <a:srgbClr val="000000"/>
                </a:solidFill>
                <a:latin typeface="Impact"/>
                <a:ea typeface="Impact"/>
                <a:cs typeface="Impact"/>
                <a:sym typeface="Impact"/>
              </a:rPr>
              <a:t>RF</a:t>
            </a:r>
            <a:r>
              <a:rPr lang="en-US" sz="6299">
                <a:latin typeface="Impact"/>
                <a:ea typeface="Impact"/>
                <a:cs typeface="Impact"/>
                <a:sym typeface="Impact"/>
              </a:rPr>
              <a:t>45</a:t>
            </a:r>
            <a:endParaRPr sz="100"/>
          </a:p>
        </p:txBody>
      </p:sp>
      <p:sp>
        <p:nvSpPr>
          <p:cNvPr id="385" name="Google Shape;385;g2f583de033a753c6_0"/>
          <p:cNvSpPr/>
          <p:nvPr/>
        </p:nvSpPr>
        <p:spPr>
          <a:xfrm rot="-5400000">
            <a:off x="1648039" y="-94030"/>
            <a:ext cx="219896" cy="1430217"/>
          </a:xfrm>
          <a:custGeom>
            <a:rect b="b" l="l" r="r" t="t"/>
            <a:pathLst>
              <a:path extrusionOk="0" h="1430217" w="219896">
                <a:moveTo>
                  <a:pt x="0" y="0"/>
                </a:moveTo>
                <a:lnTo>
                  <a:pt x="219896" y="0"/>
                </a:lnTo>
                <a:lnTo>
                  <a:pt x="219896"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6" name="Google Shape;386;g2f583de033a753c6_0"/>
          <p:cNvGrpSpPr/>
          <p:nvPr/>
        </p:nvGrpSpPr>
        <p:grpSpPr>
          <a:xfrm>
            <a:off x="-29168" y="-536711"/>
            <a:ext cx="2052808" cy="2052808"/>
            <a:chOff x="0" y="0"/>
            <a:chExt cx="812800" cy="812800"/>
          </a:xfrm>
        </p:grpSpPr>
        <p:sp>
          <p:nvSpPr>
            <p:cNvPr id="387" name="Google Shape;387;g2f583de033a753c6_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13075" lIns="26100" spcFirstLastPara="1" rIns="26100" wrap="square" tIns="13075">
              <a:noAutofit/>
            </a:bodyPr>
            <a:lstStyle/>
            <a:p>
              <a:pPr indent="0" lvl="0" marL="0" marR="0" rtl="0" algn="l">
                <a:spcBef>
                  <a:spcPts val="0"/>
                </a:spcBef>
                <a:spcAft>
                  <a:spcPts val="0"/>
                </a:spcAft>
                <a:buNone/>
              </a:pPr>
              <a:r>
                <a:t/>
              </a:r>
              <a:endParaRPr sz="514">
                <a:solidFill>
                  <a:schemeClr val="dk1"/>
                </a:solidFill>
                <a:latin typeface="Calibri"/>
                <a:ea typeface="Calibri"/>
                <a:cs typeface="Calibri"/>
                <a:sym typeface="Calibri"/>
              </a:endParaRPr>
            </a:p>
          </p:txBody>
        </p:sp>
        <p:sp>
          <p:nvSpPr>
            <p:cNvPr id="388" name="Google Shape;388;g2f583de033a753c6_0"/>
            <p:cNvSpPr txBox="1"/>
            <p:nvPr/>
          </p:nvSpPr>
          <p:spPr>
            <a:xfrm>
              <a:off x="76200" y="38100"/>
              <a:ext cx="660300" cy="698400"/>
            </a:xfrm>
            <a:prstGeom prst="rect">
              <a:avLst/>
            </a:prstGeom>
            <a:noFill/>
            <a:ln>
              <a:noFill/>
            </a:ln>
          </p:spPr>
          <p:txBody>
            <a:bodyPr anchorCtr="0" anchor="ctr" bIns="14500" lIns="14500" spcFirstLastPara="1" rIns="14500" wrap="square" tIns="14500">
              <a:noAutofit/>
            </a:bodyPr>
            <a:lstStyle/>
            <a:p>
              <a:pPr indent="0" lvl="0" marL="0" marR="0" rtl="0" algn="ctr">
                <a:lnSpc>
                  <a:spcPct val="132222"/>
                </a:lnSpc>
                <a:spcBef>
                  <a:spcPts val="0"/>
                </a:spcBef>
                <a:spcAft>
                  <a:spcPts val="0"/>
                </a:spcAft>
                <a:buNone/>
              </a:pPr>
              <a:r>
                <a:t/>
              </a:r>
              <a:endParaRPr sz="514">
                <a:solidFill>
                  <a:schemeClr val="dk1"/>
                </a:solidFill>
                <a:latin typeface="Calibri"/>
                <a:ea typeface="Calibri"/>
                <a:cs typeface="Calibri"/>
                <a:sym typeface="Calibri"/>
              </a:endParaRPr>
            </a:p>
          </p:txBody>
        </p:sp>
      </p:grpSp>
      <p:sp>
        <p:nvSpPr>
          <p:cNvPr id="389" name="Google Shape;389;g2f583de033a753c6_0"/>
          <p:cNvSpPr txBox="1"/>
          <p:nvPr/>
        </p:nvSpPr>
        <p:spPr>
          <a:xfrm>
            <a:off x="2179500" y="679425"/>
            <a:ext cx="13929000" cy="1462200"/>
          </a:xfrm>
          <a:prstGeom prst="rect">
            <a:avLst/>
          </a:prstGeom>
          <a:noFill/>
          <a:ln>
            <a:noFill/>
          </a:ln>
        </p:spPr>
        <p:txBody>
          <a:bodyPr anchorCtr="0" anchor="t" bIns="0" lIns="0" spcFirstLastPara="1" rIns="0" wrap="square" tIns="0">
            <a:spAutoFit/>
          </a:bodyPr>
          <a:lstStyle/>
          <a:p>
            <a:pPr indent="0" lvl="0" marL="0" marR="0" rtl="0" algn="l">
              <a:lnSpc>
                <a:spcPct val="113001"/>
              </a:lnSpc>
              <a:spcBef>
                <a:spcPts val="0"/>
              </a:spcBef>
              <a:spcAft>
                <a:spcPts val="0"/>
              </a:spcAft>
              <a:buNone/>
            </a:pPr>
            <a:r>
              <a:rPr lang="en-US" sz="9499">
                <a:solidFill>
                  <a:srgbClr val="000000"/>
                </a:solidFill>
                <a:latin typeface="Impact"/>
                <a:ea typeface="Impact"/>
                <a:cs typeface="Impact"/>
                <a:sym typeface="Impact"/>
              </a:rPr>
              <a:t>DIAGRAMA </a:t>
            </a:r>
            <a:r>
              <a:rPr lang="en-US" sz="9499">
                <a:latin typeface="Impact"/>
                <a:ea typeface="Impact"/>
                <a:cs typeface="Impact"/>
                <a:sym typeface="Impact"/>
              </a:rPr>
              <a:t>SECUENCIA CU</a:t>
            </a:r>
            <a:r>
              <a:rPr lang="en-US" sz="9499">
                <a:latin typeface="Impact"/>
                <a:ea typeface="Impact"/>
                <a:cs typeface="Impact"/>
                <a:sym typeface="Impact"/>
              </a:rPr>
              <a:t>50</a:t>
            </a:r>
            <a:endParaRPr/>
          </a:p>
        </p:txBody>
      </p:sp>
      <p:pic>
        <p:nvPicPr>
          <p:cNvPr id="390" name="Google Shape;390;g2f583de033a753c6_0" title="CU50-Actualizando estado de pago de nota de venta.png"/>
          <p:cNvPicPr preferRelativeResize="0"/>
          <p:nvPr/>
        </p:nvPicPr>
        <p:blipFill>
          <a:blip r:embed="rId3">
            <a:alphaModFix/>
          </a:blip>
          <a:stretch>
            <a:fillRect/>
          </a:stretch>
        </p:blipFill>
        <p:spPr>
          <a:xfrm>
            <a:off x="1438951" y="2107250"/>
            <a:ext cx="15055725" cy="6072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398" name="Shape 398"/>
        <p:cNvGrpSpPr/>
        <p:nvPr/>
      </p:nvGrpSpPr>
      <p:grpSpPr>
        <a:xfrm>
          <a:off x="0" y="0"/>
          <a:ext cx="0" cy="0"/>
          <a:chOff x="0" y="0"/>
          <a:chExt cx="0" cy="0"/>
        </a:xfrm>
      </p:grpSpPr>
      <p:grpSp>
        <p:nvGrpSpPr>
          <p:cNvPr id="399" name="Google Shape;399;p4"/>
          <p:cNvGrpSpPr/>
          <p:nvPr/>
        </p:nvGrpSpPr>
        <p:grpSpPr>
          <a:xfrm>
            <a:off x="-3059651" y="-173897"/>
            <a:ext cx="7613660" cy="7613660"/>
            <a:chOff x="0" y="0"/>
            <a:chExt cx="812800" cy="812800"/>
          </a:xfrm>
        </p:grpSpPr>
        <p:sp>
          <p:nvSpPr>
            <p:cNvPr id="400" name="Google Shape;400;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2" name="Google Shape;402;p4"/>
          <p:cNvSpPr/>
          <p:nvPr/>
        </p:nvSpPr>
        <p:spPr>
          <a:xfrm>
            <a:off x="874722" y="7796583"/>
            <a:ext cx="6329677" cy="736544"/>
          </a:xfrm>
          <a:custGeom>
            <a:rect b="b" l="l" r="r" t="t"/>
            <a:pathLst>
              <a:path extrusionOk="0" h="736544" w="6329677">
                <a:moveTo>
                  <a:pt x="0" y="0"/>
                </a:moveTo>
                <a:lnTo>
                  <a:pt x="6329676" y="0"/>
                </a:lnTo>
                <a:lnTo>
                  <a:pt x="6329676" y="736544"/>
                </a:lnTo>
                <a:lnTo>
                  <a:pt x="0" y="73654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03" name="Google Shape;403;p4"/>
          <p:cNvGrpSpPr/>
          <p:nvPr/>
        </p:nvGrpSpPr>
        <p:grpSpPr>
          <a:xfrm>
            <a:off x="15811427" y="4570195"/>
            <a:ext cx="3531409" cy="3531409"/>
            <a:chOff x="0" y="0"/>
            <a:chExt cx="812800" cy="812800"/>
          </a:xfrm>
        </p:grpSpPr>
        <p:sp>
          <p:nvSpPr>
            <p:cNvPr id="404" name="Google Shape;40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6" name="Google Shape;406;p4"/>
          <p:cNvSpPr txBox="1"/>
          <p:nvPr/>
        </p:nvSpPr>
        <p:spPr>
          <a:xfrm>
            <a:off x="7935076" y="6567825"/>
            <a:ext cx="9155100" cy="3278400"/>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None/>
            </a:pPr>
            <a:r>
              <a:rPr lang="en-US" sz="9999">
                <a:solidFill>
                  <a:srgbClr val="000000"/>
                </a:solidFill>
                <a:latin typeface="Impact"/>
                <a:ea typeface="Impact"/>
                <a:cs typeface="Impact"/>
                <a:sym typeface="Impact"/>
              </a:rPr>
              <a:t>DIAGRAMA DE COMPONENTES</a:t>
            </a:r>
            <a:endParaRPr/>
          </a:p>
        </p:txBody>
      </p:sp>
      <p:pic>
        <p:nvPicPr>
          <p:cNvPr id="407" name="Google Shape;407;p4"/>
          <p:cNvPicPr preferRelativeResize="0"/>
          <p:nvPr/>
        </p:nvPicPr>
        <p:blipFill>
          <a:blip r:embed="rId3">
            <a:alphaModFix/>
          </a:blip>
          <a:stretch>
            <a:fillRect/>
          </a:stretch>
        </p:blipFill>
        <p:spPr>
          <a:xfrm>
            <a:off x="874721" y="170725"/>
            <a:ext cx="17328952" cy="62952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15" name="Shape 415"/>
        <p:cNvGrpSpPr/>
        <p:nvPr/>
      </p:nvGrpSpPr>
      <p:grpSpPr>
        <a:xfrm>
          <a:off x="0" y="0"/>
          <a:ext cx="0" cy="0"/>
          <a:chOff x="0" y="0"/>
          <a:chExt cx="0" cy="0"/>
        </a:xfrm>
      </p:grpSpPr>
      <p:grpSp>
        <p:nvGrpSpPr>
          <p:cNvPr id="416" name="Google Shape;416;p5"/>
          <p:cNvGrpSpPr/>
          <p:nvPr/>
        </p:nvGrpSpPr>
        <p:grpSpPr>
          <a:xfrm>
            <a:off x="1031797" y="6462465"/>
            <a:ext cx="16230600" cy="3578159"/>
            <a:chOff x="0" y="-38100"/>
            <a:chExt cx="1732706" cy="381988"/>
          </a:xfrm>
        </p:grpSpPr>
        <p:sp>
          <p:nvSpPr>
            <p:cNvPr id="417" name="Google Shape;417;p5"/>
            <p:cNvSpPr/>
            <p:nvPr/>
          </p:nvSpPr>
          <p:spPr>
            <a:xfrm>
              <a:off x="0" y="0"/>
              <a:ext cx="1732705" cy="343888"/>
            </a:xfrm>
            <a:custGeom>
              <a:rect b="b" l="l" r="r" t="t"/>
              <a:pathLst>
                <a:path extrusionOk="0" h="343888" w="1732705">
                  <a:moveTo>
                    <a:pt x="0" y="0"/>
                  </a:moveTo>
                  <a:lnTo>
                    <a:pt x="1732705" y="0"/>
                  </a:lnTo>
                  <a:lnTo>
                    <a:pt x="1732705" y="343888"/>
                  </a:lnTo>
                  <a:lnTo>
                    <a:pt x="0" y="343888"/>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5"/>
            <p:cNvSpPr txBox="1"/>
            <p:nvPr/>
          </p:nvSpPr>
          <p:spPr>
            <a:xfrm>
              <a:off x="0" y="-38100"/>
              <a:ext cx="1732706" cy="381988"/>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9" name="Google Shape;419;p5"/>
          <p:cNvSpPr/>
          <p:nvPr/>
        </p:nvSpPr>
        <p:spPr>
          <a:xfrm>
            <a:off x="102870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5"/>
          <p:cNvSpPr/>
          <p:nvPr/>
        </p:nvSpPr>
        <p:spPr>
          <a:xfrm>
            <a:off x="15665015" y="3106249"/>
            <a:ext cx="1597381" cy="537785"/>
          </a:xfrm>
          <a:custGeom>
            <a:rect b="b" l="l" r="r" t="t"/>
            <a:pathLst>
              <a:path extrusionOk="0" h="537785" w="1597381">
                <a:moveTo>
                  <a:pt x="0" y="0"/>
                </a:moveTo>
                <a:lnTo>
                  <a:pt x="1597382" y="0"/>
                </a:lnTo>
                <a:lnTo>
                  <a:pt x="1597382"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5"/>
          <p:cNvSpPr txBox="1"/>
          <p:nvPr/>
        </p:nvSpPr>
        <p:spPr>
          <a:xfrm>
            <a:off x="805282" y="2268189"/>
            <a:ext cx="5644200" cy="4766700"/>
          </a:xfrm>
          <a:prstGeom prst="rect">
            <a:avLst/>
          </a:prstGeom>
          <a:noFill/>
          <a:ln>
            <a:noFill/>
          </a:ln>
        </p:spPr>
        <p:txBody>
          <a:bodyPr anchorCtr="0" anchor="t" bIns="0" lIns="0" spcFirstLastPara="1" rIns="0" wrap="square" tIns="0">
            <a:spAutoFit/>
          </a:bodyPr>
          <a:lstStyle/>
          <a:p>
            <a:pPr indent="0" lvl="0" marL="0" marR="0" rtl="0" algn="ctr">
              <a:lnSpc>
                <a:spcPct val="113001"/>
              </a:lnSpc>
              <a:spcBef>
                <a:spcPts val="0"/>
              </a:spcBef>
              <a:spcAft>
                <a:spcPts val="0"/>
              </a:spcAft>
              <a:buNone/>
            </a:pPr>
            <a:r>
              <a:rPr lang="en-US" sz="9499">
                <a:solidFill>
                  <a:srgbClr val="000000"/>
                </a:solidFill>
                <a:latin typeface="Impact"/>
                <a:ea typeface="Impact"/>
                <a:cs typeface="Impact"/>
                <a:sym typeface="Impact"/>
              </a:rPr>
              <a:t>DIAGRAMA DE DESPLIEGUE</a:t>
            </a:r>
            <a:endParaRPr/>
          </a:p>
        </p:txBody>
      </p:sp>
      <p:sp>
        <p:nvSpPr>
          <p:cNvPr id="422" name="Google Shape;422;p5"/>
          <p:cNvSpPr/>
          <p:nvPr/>
        </p:nvSpPr>
        <p:spPr>
          <a:xfrm>
            <a:off x="4557040" y="3106249"/>
            <a:ext cx="1597381" cy="537785"/>
          </a:xfrm>
          <a:custGeom>
            <a:rect b="b" l="l" r="r" t="t"/>
            <a:pathLst>
              <a:path extrusionOk="0" h="537785" w="1597381">
                <a:moveTo>
                  <a:pt x="0" y="0"/>
                </a:moveTo>
                <a:lnTo>
                  <a:pt x="1597381" y="0"/>
                </a:lnTo>
                <a:lnTo>
                  <a:pt x="1597381" y="537785"/>
                </a:lnTo>
                <a:lnTo>
                  <a:pt x="0" y="537785"/>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5"/>
          <p:cNvSpPr/>
          <p:nvPr/>
        </p:nvSpPr>
        <p:spPr>
          <a:xfrm>
            <a:off x="7176980" y="256192"/>
            <a:ext cx="9710639" cy="9556011"/>
          </a:xfrm>
          <a:custGeom>
            <a:rect b="b" l="l" r="r" t="t"/>
            <a:pathLst>
              <a:path extrusionOk="0" h="9556011" w="9710639">
                <a:moveTo>
                  <a:pt x="0" y="0"/>
                </a:moveTo>
                <a:lnTo>
                  <a:pt x="9710639" y="0"/>
                </a:lnTo>
                <a:lnTo>
                  <a:pt x="9710639" y="9556011"/>
                </a:lnTo>
                <a:lnTo>
                  <a:pt x="0" y="955601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31" name="Shape 431"/>
        <p:cNvGrpSpPr/>
        <p:nvPr/>
      </p:nvGrpSpPr>
      <p:grpSpPr>
        <a:xfrm>
          <a:off x="0" y="0"/>
          <a:ext cx="0" cy="0"/>
          <a:chOff x="0" y="0"/>
          <a:chExt cx="0" cy="0"/>
        </a:xfrm>
      </p:grpSpPr>
      <p:grpSp>
        <p:nvGrpSpPr>
          <p:cNvPr id="432" name="Google Shape;432;p6"/>
          <p:cNvGrpSpPr/>
          <p:nvPr/>
        </p:nvGrpSpPr>
        <p:grpSpPr>
          <a:xfrm>
            <a:off x="-1180592" y="2898944"/>
            <a:ext cx="8340954" cy="8340954"/>
            <a:chOff x="0" y="0"/>
            <a:chExt cx="812800" cy="812800"/>
          </a:xfrm>
        </p:grpSpPr>
        <p:sp>
          <p:nvSpPr>
            <p:cNvPr id="433" name="Google Shape;433;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35" name="Google Shape;435;p6"/>
          <p:cNvGrpSpPr/>
          <p:nvPr/>
        </p:nvGrpSpPr>
        <p:grpSpPr>
          <a:xfrm>
            <a:off x="-522981" y="8815709"/>
            <a:ext cx="8886237" cy="1471291"/>
            <a:chOff x="0" y="-38100"/>
            <a:chExt cx="2340408" cy="387500"/>
          </a:xfrm>
        </p:grpSpPr>
        <p:sp>
          <p:nvSpPr>
            <p:cNvPr id="436" name="Google Shape;436;p6"/>
            <p:cNvSpPr/>
            <p:nvPr/>
          </p:nvSpPr>
          <p:spPr>
            <a:xfrm>
              <a:off x="0" y="0"/>
              <a:ext cx="2340408" cy="349400"/>
            </a:xfrm>
            <a:custGeom>
              <a:rect b="b" l="l" r="r" t="t"/>
              <a:pathLst>
                <a:path extrusionOk="0" h="349400" w="2340408">
                  <a:moveTo>
                    <a:pt x="0" y="0"/>
                  </a:moveTo>
                  <a:lnTo>
                    <a:pt x="2340408" y="0"/>
                  </a:lnTo>
                  <a:lnTo>
                    <a:pt x="2340408" y="349400"/>
                  </a:lnTo>
                  <a:lnTo>
                    <a:pt x="0" y="349400"/>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6"/>
            <p:cNvSpPr txBox="1"/>
            <p:nvPr/>
          </p:nvSpPr>
          <p:spPr>
            <a:xfrm>
              <a:off x="0" y="-38100"/>
              <a:ext cx="2340408" cy="387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38" name="Google Shape;438;p6"/>
          <p:cNvSpPr/>
          <p:nvPr/>
        </p:nvSpPr>
        <p:spPr>
          <a:xfrm>
            <a:off x="11296203" y="765889"/>
            <a:ext cx="1577524" cy="773644"/>
          </a:xfrm>
          <a:custGeom>
            <a:rect b="b" l="l" r="r" t="t"/>
            <a:pathLst>
              <a:path extrusionOk="0" h="773644" w="1577524">
                <a:moveTo>
                  <a:pt x="0" y="0"/>
                </a:moveTo>
                <a:lnTo>
                  <a:pt x="1577525" y="0"/>
                </a:lnTo>
                <a:lnTo>
                  <a:pt x="1577525" y="773644"/>
                </a:lnTo>
                <a:lnTo>
                  <a:pt x="0" y="773644"/>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39" name="Google Shape;439;p6"/>
          <p:cNvGrpSpPr/>
          <p:nvPr/>
        </p:nvGrpSpPr>
        <p:grpSpPr>
          <a:xfrm>
            <a:off x="15054241" y="3820733"/>
            <a:ext cx="2291432" cy="2291432"/>
            <a:chOff x="0" y="0"/>
            <a:chExt cx="812800" cy="812800"/>
          </a:xfrm>
        </p:grpSpPr>
        <p:sp>
          <p:nvSpPr>
            <p:cNvPr id="440" name="Google Shape;440;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1" name="Google Shape;441;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2" name="Google Shape;442;p6"/>
          <p:cNvSpPr/>
          <p:nvPr/>
        </p:nvSpPr>
        <p:spPr>
          <a:xfrm>
            <a:off x="15599878" y="4365869"/>
            <a:ext cx="1200159" cy="1201160"/>
          </a:xfrm>
          <a:custGeom>
            <a:rect b="b" l="l" r="r" t="t"/>
            <a:pathLst>
              <a:path extrusionOk="0" h="1201160" w="1200159">
                <a:moveTo>
                  <a:pt x="0" y="0"/>
                </a:moveTo>
                <a:lnTo>
                  <a:pt x="1200159" y="0"/>
                </a:lnTo>
                <a:lnTo>
                  <a:pt x="1200159" y="1201160"/>
                </a:lnTo>
                <a:lnTo>
                  <a:pt x="0" y="1201160"/>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6"/>
          <p:cNvSpPr txBox="1"/>
          <p:nvPr/>
        </p:nvSpPr>
        <p:spPr>
          <a:xfrm>
            <a:off x="14371954" y="9569217"/>
            <a:ext cx="2806500" cy="529200"/>
          </a:xfrm>
          <a:prstGeom prst="rect">
            <a:avLst/>
          </a:prstGeom>
          <a:noFill/>
          <a:ln>
            <a:noFill/>
          </a:ln>
        </p:spPr>
        <p:txBody>
          <a:bodyPr anchorCtr="0" anchor="t" bIns="0" lIns="0" spcFirstLastPara="1" rIns="0" wrap="square" tIns="0">
            <a:spAutoFit/>
          </a:bodyPr>
          <a:lstStyle/>
          <a:p>
            <a:pPr indent="0" lvl="0" marL="0" marR="0" rtl="0" algn="ctr">
              <a:lnSpc>
                <a:spcPct val="139986"/>
              </a:lnSpc>
              <a:spcBef>
                <a:spcPts val="0"/>
              </a:spcBef>
              <a:spcAft>
                <a:spcPts val="0"/>
              </a:spcAft>
              <a:buNone/>
            </a:pPr>
            <a:r>
              <a:rPr lang="en-US" sz="1433">
                <a:solidFill>
                  <a:srgbClr val="000000"/>
                </a:solidFill>
                <a:latin typeface="Open Sans"/>
                <a:ea typeface="Open Sans"/>
                <a:cs typeface="Open Sans"/>
                <a:sym typeface="Open Sans"/>
              </a:rPr>
              <a:t>Segmento del modelo de datos utilizado para el incremento </a:t>
            </a:r>
            <a:r>
              <a:rPr lang="en-US" sz="1433">
                <a:latin typeface="Open Sans"/>
                <a:ea typeface="Open Sans"/>
                <a:cs typeface="Open Sans"/>
                <a:sym typeface="Open Sans"/>
              </a:rPr>
              <a:t>2</a:t>
            </a:r>
            <a:r>
              <a:rPr lang="en-US" sz="1433">
                <a:solidFill>
                  <a:srgbClr val="000000"/>
                </a:solidFill>
                <a:latin typeface="Open Sans"/>
                <a:ea typeface="Open Sans"/>
                <a:cs typeface="Open Sans"/>
                <a:sym typeface="Open Sans"/>
              </a:rPr>
              <a:t>.</a:t>
            </a:r>
            <a:endParaRPr/>
          </a:p>
        </p:txBody>
      </p:sp>
      <p:pic>
        <p:nvPicPr>
          <p:cNvPr id="444" name="Google Shape;444;p6"/>
          <p:cNvPicPr preferRelativeResize="0"/>
          <p:nvPr/>
        </p:nvPicPr>
        <p:blipFill>
          <a:blip r:embed="rId3">
            <a:alphaModFix/>
          </a:blip>
          <a:stretch>
            <a:fillRect/>
          </a:stretch>
        </p:blipFill>
        <p:spPr>
          <a:xfrm>
            <a:off x="0" y="0"/>
            <a:ext cx="14371948" cy="9907101"/>
          </a:xfrm>
          <a:prstGeom prst="rect">
            <a:avLst/>
          </a:prstGeom>
          <a:noFill/>
          <a:ln>
            <a:noFill/>
          </a:ln>
        </p:spPr>
      </p:pic>
      <p:sp>
        <p:nvSpPr>
          <p:cNvPr id="445" name="Google Shape;445;p6"/>
          <p:cNvSpPr txBox="1"/>
          <p:nvPr/>
        </p:nvSpPr>
        <p:spPr>
          <a:xfrm>
            <a:off x="11931767" y="367154"/>
            <a:ext cx="5841600" cy="2873100"/>
          </a:xfrm>
          <a:prstGeom prst="rect">
            <a:avLst/>
          </a:prstGeom>
          <a:noFill/>
          <a:ln>
            <a:noFill/>
          </a:ln>
        </p:spPr>
        <p:txBody>
          <a:bodyPr anchorCtr="0" anchor="t" bIns="0" lIns="0" spcFirstLastPara="1" rIns="0" wrap="square" tIns="0">
            <a:spAutoFit/>
          </a:bodyPr>
          <a:lstStyle/>
          <a:p>
            <a:pPr indent="0" lvl="0" marL="0" marR="0" rtl="0" algn="r">
              <a:lnSpc>
                <a:spcPct val="112997"/>
              </a:lnSpc>
              <a:spcBef>
                <a:spcPts val="0"/>
              </a:spcBef>
              <a:spcAft>
                <a:spcPts val="0"/>
              </a:spcAft>
              <a:buNone/>
            </a:pPr>
            <a:r>
              <a:rPr lang="en-US" sz="8763">
                <a:solidFill>
                  <a:srgbClr val="000000"/>
                </a:solidFill>
                <a:latin typeface="Impact"/>
                <a:ea typeface="Impact"/>
                <a:cs typeface="Impact"/>
                <a:sym typeface="Impact"/>
              </a:rPr>
              <a:t>MODELO DE DATOS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53" name="Shape 453"/>
        <p:cNvGrpSpPr/>
        <p:nvPr/>
      </p:nvGrpSpPr>
      <p:grpSpPr>
        <a:xfrm>
          <a:off x="0" y="0"/>
          <a:ext cx="0" cy="0"/>
          <a:chOff x="0" y="0"/>
          <a:chExt cx="0" cy="0"/>
        </a:xfrm>
      </p:grpSpPr>
      <p:grpSp>
        <p:nvGrpSpPr>
          <p:cNvPr id="454" name="Google Shape;454;p7"/>
          <p:cNvGrpSpPr/>
          <p:nvPr/>
        </p:nvGrpSpPr>
        <p:grpSpPr>
          <a:xfrm>
            <a:off x="2941084" y="1606448"/>
            <a:ext cx="234493" cy="8374261"/>
            <a:chOff x="0" y="-38100"/>
            <a:chExt cx="61760" cy="2205567"/>
          </a:xfrm>
        </p:grpSpPr>
        <p:sp>
          <p:nvSpPr>
            <p:cNvPr id="455" name="Google Shape;455;p7"/>
            <p:cNvSpPr/>
            <p:nvPr/>
          </p:nvSpPr>
          <p:spPr>
            <a:xfrm>
              <a:off x="0" y="0"/>
              <a:ext cx="61760" cy="2167467"/>
            </a:xfrm>
            <a:custGeom>
              <a:rect b="b" l="l" r="r" t="t"/>
              <a:pathLst>
                <a:path extrusionOk="0" h="2167467" w="61760">
                  <a:moveTo>
                    <a:pt x="0" y="0"/>
                  </a:moveTo>
                  <a:lnTo>
                    <a:pt x="61760" y="0"/>
                  </a:lnTo>
                  <a:lnTo>
                    <a:pt x="61760" y="2167467"/>
                  </a:lnTo>
                  <a:lnTo>
                    <a:pt x="0" y="2167467"/>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7"/>
            <p:cNvSpPr txBox="1"/>
            <p:nvPr/>
          </p:nvSpPr>
          <p:spPr>
            <a:xfrm>
              <a:off x="0" y="-38100"/>
              <a:ext cx="61760" cy="2205567"/>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57" name="Google Shape;457;p7"/>
          <p:cNvGrpSpPr/>
          <p:nvPr/>
        </p:nvGrpSpPr>
        <p:grpSpPr>
          <a:xfrm>
            <a:off x="-231633" y="-1921513"/>
            <a:ext cx="3860075" cy="3860075"/>
            <a:chOff x="0" y="0"/>
            <a:chExt cx="812800" cy="812800"/>
          </a:xfrm>
        </p:grpSpPr>
        <p:sp>
          <p:nvSpPr>
            <p:cNvPr id="458" name="Google Shape;458;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0" name="Google Shape;460;p7"/>
          <p:cNvGrpSpPr/>
          <p:nvPr/>
        </p:nvGrpSpPr>
        <p:grpSpPr>
          <a:xfrm>
            <a:off x="-450373" y="-348365"/>
            <a:ext cx="2148777" cy="10635365"/>
            <a:chOff x="0" y="-38100"/>
            <a:chExt cx="229394" cy="1135384"/>
          </a:xfrm>
        </p:grpSpPr>
        <p:sp>
          <p:nvSpPr>
            <p:cNvPr id="461" name="Google Shape;461;p7"/>
            <p:cNvSpPr/>
            <p:nvPr/>
          </p:nvSpPr>
          <p:spPr>
            <a:xfrm>
              <a:off x="0" y="0"/>
              <a:ext cx="229394" cy="1097284"/>
            </a:xfrm>
            <a:custGeom>
              <a:rect b="b" l="l" r="r" t="t"/>
              <a:pathLst>
                <a:path extrusionOk="0" h="1097284" w="229394">
                  <a:moveTo>
                    <a:pt x="0" y="0"/>
                  </a:moveTo>
                  <a:lnTo>
                    <a:pt x="229394" y="0"/>
                  </a:lnTo>
                  <a:lnTo>
                    <a:pt x="229394" y="1097284"/>
                  </a:lnTo>
                  <a:lnTo>
                    <a:pt x="0" y="1097284"/>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7"/>
            <p:cNvSpPr txBox="1"/>
            <p:nvPr/>
          </p:nvSpPr>
          <p:spPr>
            <a:xfrm>
              <a:off x="0" y="-38100"/>
              <a:ext cx="229394" cy="1135384"/>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63" name="Google Shape;463;p7"/>
          <p:cNvGrpSpPr/>
          <p:nvPr/>
        </p:nvGrpSpPr>
        <p:grpSpPr>
          <a:xfrm>
            <a:off x="9547785" y="7287542"/>
            <a:ext cx="5386334" cy="5386334"/>
            <a:chOff x="0" y="0"/>
            <a:chExt cx="812800" cy="812800"/>
          </a:xfrm>
        </p:grpSpPr>
        <p:sp>
          <p:nvSpPr>
            <p:cNvPr id="464" name="Google Shape;464;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66" name="Google Shape;466;p7"/>
          <p:cNvSpPr txBox="1"/>
          <p:nvPr/>
        </p:nvSpPr>
        <p:spPr>
          <a:xfrm>
            <a:off x="4418258" y="313578"/>
            <a:ext cx="12841042" cy="1896313"/>
          </a:xfrm>
          <a:prstGeom prst="rect">
            <a:avLst/>
          </a:prstGeom>
          <a:noFill/>
          <a:ln>
            <a:noFill/>
          </a:ln>
        </p:spPr>
        <p:txBody>
          <a:bodyPr anchorCtr="0" anchor="t" bIns="0" lIns="0" spcFirstLastPara="1" rIns="0" wrap="square" tIns="0">
            <a:spAutoFit/>
          </a:bodyPr>
          <a:lstStyle/>
          <a:p>
            <a:pPr indent="0" lvl="0" marL="0" marR="0" rtl="0" algn="r">
              <a:lnSpc>
                <a:spcPct val="112996"/>
              </a:lnSpc>
              <a:spcBef>
                <a:spcPts val="0"/>
              </a:spcBef>
              <a:spcAft>
                <a:spcPts val="0"/>
              </a:spcAft>
              <a:buNone/>
            </a:pPr>
            <a:r>
              <a:rPr lang="en-US" sz="11457">
                <a:solidFill>
                  <a:srgbClr val="000000"/>
                </a:solidFill>
                <a:latin typeface="Impact"/>
                <a:ea typeface="Impact"/>
                <a:cs typeface="Impact"/>
                <a:sym typeface="Impact"/>
              </a:rPr>
              <a:t>ÁRBOL DE NAVEGACIÓN </a:t>
            </a:r>
            <a:endParaRPr/>
          </a:p>
        </p:txBody>
      </p:sp>
      <p:pic>
        <p:nvPicPr>
          <p:cNvPr id="467" name="Google Shape;467;p7"/>
          <p:cNvPicPr preferRelativeResize="0"/>
          <p:nvPr/>
        </p:nvPicPr>
        <p:blipFill>
          <a:blip r:embed="rId3">
            <a:alphaModFix/>
          </a:blip>
          <a:stretch>
            <a:fillRect/>
          </a:stretch>
        </p:blipFill>
        <p:spPr>
          <a:xfrm>
            <a:off x="-231625" y="3429012"/>
            <a:ext cx="18288000" cy="4977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75" name="Shape 475"/>
        <p:cNvGrpSpPr/>
        <p:nvPr/>
      </p:nvGrpSpPr>
      <p:grpSpPr>
        <a:xfrm>
          <a:off x="0" y="0"/>
          <a:ext cx="0" cy="0"/>
          <a:chOff x="0" y="0"/>
          <a:chExt cx="0" cy="0"/>
        </a:xfrm>
      </p:grpSpPr>
      <p:grpSp>
        <p:nvGrpSpPr>
          <p:cNvPr id="476" name="Google Shape;476;p17"/>
          <p:cNvGrpSpPr/>
          <p:nvPr/>
        </p:nvGrpSpPr>
        <p:grpSpPr>
          <a:xfrm>
            <a:off x="3244373" y="841107"/>
            <a:ext cx="3706184" cy="9445893"/>
            <a:chOff x="0" y="-38100"/>
            <a:chExt cx="752722" cy="1918450"/>
          </a:xfrm>
        </p:grpSpPr>
        <p:sp>
          <p:nvSpPr>
            <p:cNvPr id="477" name="Google Shape;477;p17"/>
            <p:cNvSpPr/>
            <p:nvPr/>
          </p:nvSpPr>
          <p:spPr>
            <a:xfrm>
              <a:off x="0" y="0"/>
              <a:ext cx="752722" cy="1880350"/>
            </a:xfrm>
            <a:custGeom>
              <a:rect b="b" l="l" r="r" t="t"/>
              <a:pathLst>
                <a:path extrusionOk="0" h="1880350" w="752722">
                  <a:moveTo>
                    <a:pt x="0" y="0"/>
                  </a:moveTo>
                  <a:lnTo>
                    <a:pt x="752722" y="0"/>
                  </a:lnTo>
                  <a:lnTo>
                    <a:pt x="752722" y="1880350"/>
                  </a:lnTo>
                  <a:lnTo>
                    <a:pt x="0" y="1880350"/>
                  </a:ln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7"/>
            <p:cNvSpPr txBox="1"/>
            <p:nvPr/>
          </p:nvSpPr>
          <p:spPr>
            <a:xfrm>
              <a:off x="0" y="-38100"/>
              <a:ext cx="752722" cy="191845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9" name="Google Shape;479;p17"/>
          <p:cNvGrpSpPr/>
          <p:nvPr/>
        </p:nvGrpSpPr>
        <p:grpSpPr>
          <a:xfrm>
            <a:off x="2257425" y="1685925"/>
            <a:ext cx="13232549" cy="7633610"/>
            <a:chOff x="0" y="-38100"/>
            <a:chExt cx="3368518" cy="2010485"/>
          </a:xfrm>
        </p:grpSpPr>
        <p:sp>
          <p:nvSpPr>
            <p:cNvPr id="480" name="Google Shape;480;p17"/>
            <p:cNvSpPr/>
            <p:nvPr/>
          </p:nvSpPr>
          <p:spPr>
            <a:xfrm>
              <a:off x="0" y="0"/>
              <a:ext cx="3368518" cy="1972385"/>
            </a:xfrm>
            <a:custGeom>
              <a:rect b="b" l="l" r="r" t="t"/>
              <a:pathLst>
                <a:path extrusionOk="0" h="1972385" w="3368518">
                  <a:moveTo>
                    <a:pt x="0" y="0"/>
                  </a:moveTo>
                  <a:lnTo>
                    <a:pt x="3368518" y="0"/>
                  </a:lnTo>
                  <a:lnTo>
                    <a:pt x="3368518" y="1972385"/>
                  </a:lnTo>
                  <a:lnTo>
                    <a:pt x="0" y="1972385"/>
                  </a:ln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7"/>
            <p:cNvSpPr txBox="1"/>
            <p:nvPr/>
          </p:nvSpPr>
          <p:spPr>
            <a:xfrm>
              <a:off x="0" y="-38100"/>
              <a:ext cx="3368518" cy="2010485"/>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2" name="Google Shape;482;p17"/>
          <p:cNvGrpSpPr/>
          <p:nvPr/>
        </p:nvGrpSpPr>
        <p:grpSpPr>
          <a:xfrm>
            <a:off x="16021065" y="8467047"/>
            <a:ext cx="4001993" cy="4001993"/>
            <a:chOff x="0" y="0"/>
            <a:chExt cx="812800" cy="812800"/>
          </a:xfrm>
        </p:grpSpPr>
        <p:sp>
          <p:nvSpPr>
            <p:cNvPr id="483" name="Google Shape;483;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4"/>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5" name="Google Shape;485;p17"/>
          <p:cNvSpPr/>
          <p:nvPr/>
        </p:nvSpPr>
        <p:spPr>
          <a:xfrm rot="-5400000">
            <a:off x="16434244" y="8604381"/>
            <a:ext cx="219896" cy="1430217"/>
          </a:xfrm>
          <a:custGeom>
            <a:rect b="b" l="l" r="r" t="t"/>
            <a:pathLst>
              <a:path extrusionOk="0" h="1430217" w="219896">
                <a:moveTo>
                  <a:pt x="0" y="0"/>
                </a:moveTo>
                <a:lnTo>
                  <a:pt x="219895" y="0"/>
                </a:lnTo>
                <a:lnTo>
                  <a:pt x="219895" y="1430217"/>
                </a:lnTo>
                <a:lnTo>
                  <a:pt x="0" y="1430217"/>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7"/>
          <p:cNvSpPr/>
          <p:nvPr/>
        </p:nvSpPr>
        <p:spPr>
          <a:xfrm>
            <a:off x="1028700" y="1028700"/>
            <a:ext cx="1088196" cy="1088196"/>
          </a:xfrm>
          <a:custGeom>
            <a:rect b="b" l="l" r="r" t="t"/>
            <a:pathLst>
              <a:path extrusionOk="0" h="1088196" w="1088196">
                <a:moveTo>
                  <a:pt x="0" y="0"/>
                </a:moveTo>
                <a:lnTo>
                  <a:pt x="1088196" y="0"/>
                </a:lnTo>
                <a:lnTo>
                  <a:pt x="1088196" y="1088196"/>
                </a:lnTo>
                <a:lnTo>
                  <a:pt x="0" y="1088196"/>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7"/>
          <p:cNvSpPr txBox="1"/>
          <p:nvPr/>
        </p:nvSpPr>
        <p:spPr>
          <a:xfrm>
            <a:off x="9601201" y="260240"/>
            <a:ext cx="7930406" cy="1372171"/>
          </a:xfrm>
          <a:prstGeom prst="rect">
            <a:avLst/>
          </a:prstGeom>
          <a:noFill/>
          <a:ln>
            <a:noFill/>
          </a:ln>
        </p:spPr>
        <p:txBody>
          <a:bodyPr anchorCtr="0" anchor="t" bIns="0" lIns="0" spcFirstLastPara="1" rIns="0" wrap="square" tIns="0">
            <a:spAutoFit/>
          </a:bodyPr>
          <a:lstStyle/>
          <a:p>
            <a:pPr indent="0" lvl="0" marL="0" marR="0" rtl="0" algn="r">
              <a:lnSpc>
                <a:spcPct val="113001"/>
              </a:lnSpc>
              <a:spcBef>
                <a:spcPts val="0"/>
              </a:spcBef>
              <a:spcAft>
                <a:spcPts val="0"/>
              </a:spcAft>
              <a:buNone/>
            </a:pPr>
            <a:r>
              <a:rPr lang="en-US" sz="9499">
                <a:solidFill>
                  <a:srgbClr val="000000"/>
                </a:solidFill>
                <a:latin typeface="Impact"/>
                <a:ea typeface="Impact"/>
                <a:cs typeface="Impact"/>
                <a:sym typeface="Impact"/>
              </a:rPr>
              <a:t>DEMOSTRACIÓN </a:t>
            </a:r>
            <a:endParaRPr/>
          </a:p>
        </p:txBody>
      </p:sp>
      <p:pic>
        <p:nvPicPr>
          <p:cNvPr id="488" name="Google Shape;488;p17" title="Demo Incremento 2.mp4">
            <a:hlinkClick r:id="rId3"/>
          </p:cNvPr>
          <p:cNvPicPr preferRelativeResize="0"/>
          <p:nvPr/>
        </p:nvPicPr>
        <p:blipFill>
          <a:blip r:embed="rId4">
            <a:alphaModFix/>
          </a:blip>
          <a:stretch>
            <a:fillRect/>
          </a:stretch>
        </p:blipFill>
        <p:spPr>
          <a:xfrm>
            <a:off x="2478787" y="2155513"/>
            <a:ext cx="12789826" cy="68170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96" name="Shape 496"/>
        <p:cNvGrpSpPr/>
        <p:nvPr/>
      </p:nvGrpSpPr>
      <p:grpSpPr>
        <a:xfrm>
          <a:off x="0" y="0"/>
          <a:ext cx="0" cy="0"/>
          <a:chOff x="0" y="0"/>
          <a:chExt cx="0" cy="0"/>
        </a:xfrm>
      </p:grpSpPr>
      <p:grpSp>
        <p:nvGrpSpPr>
          <p:cNvPr id="497" name="Google Shape;497;g2f583de033a753c6_89"/>
          <p:cNvGrpSpPr/>
          <p:nvPr/>
        </p:nvGrpSpPr>
        <p:grpSpPr>
          <a:xfrm>
            <a:off x="-4432416" y="4521897"/>
            <a:ext cx="7613660" cy="7613660"/>
            <a:chOff x="0" y="0"/>
            <a:chExt cx="812800" cy="812800"/>
          </a:xfrm>
        </p:grpSpPr>
        <p:sp>
          <p:nvSpPr>
            <p:cNvPr id="498" name="Google Shape;498;g2f583de033a753c6_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g2f583de033a753c6_8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0" name="Google Shape;500;g2f583de033a753c6_89"/>
          <p:cNvGrpSpPr/>
          <p:nvPr/>
        </p:nvGrpSpPr>
        <p:grpSpPr>
          <a:xfrm>
            <a:off x="-106638" y="8075353"/>
            <a:ext cx="18501914" cy="2443903"/>
            <a:chOff x="0" y="-38100"/>
            <a:chExt cx="4872900" cy="709200"/>
          </a:xfrm>
        </p:grpSpPr>
        <p:sp>
          <p:nvSpPr>
            <p:cNvPr id="501" name="Google Shape;501;g2f583de033a753c6_89"/>
            <p:cNvSpPr/>
            <p:nvPr/>
          </p:nvSpPr>
          <p:spPr>
            <a:xfrm>
              <a:off x="0" y="0"/>
              <a:ext cx="4872764" cy="671065"/>
            </a:xfrm>
            <a:custGeom>
              <a:rect b="b" l="l" r="r" t="t"/>
              <a:pathLst>
                <a:path extrusionOk="0" h="671065" w="4872764">
                  <a:moveTo>
                    <a:pt x="0" y="0"/>
                  </a:moveTo>
                  <a:lnTo>
                    <a:pt x="4872764" y="0"/>
                  </a:lnTo>
                  <a:lnTo>
                    <a:pt x="4872764" y="671065"/>
                  </a:lnTo>
                  <a:lnTo>
                    <a:pt x="0" y="671065"/>
                  </a:lnTo>
                  <a:close/>
                </a:path>
              </a:pathLst>
            </a:custGeom>
            <a:solidFill>
              <a:srgbClr val="5454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2" name="Google Shape;502;g2f583de033a753c6_89"/>
            <p:cNvSpPr txBox="1"/>
            <p:nvPr/>
          </p:nvSpPr>
          <p:spPr>
            <a:xfrm>
              <a:off x="0" y="-38100"/>
              <a:ext cx="4872900" cy="7092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03" name="Google Shape;503;g2f583de033a753c6_89"/>
          <p:cNvGrpSpPr/>
          <p:nvPr/>
        </p:nvGrpSpPr>
        <p:grpSpPr>
          <a:xfrm>
            <a:off x="13172228" y="5377078"/>
            <a:ext cx="2291446" cy="2291446"/>
            <a:chOff x="0" y="0"/>
            <a:chExt cx="812800" cy="812800"/>
          </a:xfrm>
        </p:grpSpPr>
        <p:sp>
          <p:nvSpPr>
            <p:cNvPr id="504" name="Google Shape;504;g2f583de033a753c6_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g2f583de033a753c6_8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6" name="Google Shape;506;g2f583de033a753c6_89"/>
          <p:cNvSpPr/>
          <p:nvPr/>
        </p:nvSpPr>
        <p:spPr>
          <a:xfrm flipH="1">
            <a:off x="10749198" y="6312597"/>
            <a:ext cx="4714462" cy="420373"/>
          </a:xfrm>
          <a:custGeom>
            <a:rect b="b" l="l" r="r" t="t"/>
            <a:pathLst>
              <a:path extrusionOk="0" h="420373" w="4714462">
                <a:moveTo>
                  <a:pt x="4714463" y="0"/>
                </a:moveTo>
                <a:lnTo>
                  <a:pt x="0" y="0"/>
                </a:lnTo>
                <a:lnTo>
                  <a:pt x="0" y="420373"/>
                </a:lnTo>
                <a:lnTo>
                  <a:pt x="4714463" y="420373"/>
                </a:lnTo>
                <a:lnTo>
                  <a:pt x="4714463"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7" name="Google Shape;507;g2f583de033a753c6_89"/>
          <p:cNvGrpSpPr/>
          <p:nvPr/>
        </p:nvGrpSpPr>
        <p:grpSpPr>
          <a:xfrm>
            <a:off x="-2609694" y="5597423"/>
            <a:ext cx="4689612" cy="4689612"/>
            <a:chOff x="0" y="0"/>
            <a:chExt cx="812800" cy="812800"/>
          </a:xfrm>
        </p:grpSpPr>
        <p:sp>
          <p:nvSpPr>
            <p:cNvPr id="508" name="Google Shape;508;g2f583de033a753c6_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g2f583de033a753c6_8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510" name="Google Shape;510;g2f583de033a753c6_89"/>
          <p:cNvGrpSpPr/>
          <p:nvPr/>
        </p:nvGrpSpPr>
        <p:grpSpPr>
          <a:xfrm>
            <a:off x="14740038" y="-3443680"/>
            <a:ext cx="6669756" cy="6669756"/>
            <a:chOff x="0" y="0"/>
            <a:chExt cx="812800" cy="812800"/>
          </a:xfrm>
        </p:grpSpPr>
        <p:sp>
          <p:nvSpPr>
            <p:cNvPr id="511" name="Google Shape;511;g2f583de033a753c6_8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873D">
                <a:alpha val="1882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g2f583de033a753c6_8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32222"/>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13" name="Google Shape;513;g2f583de033a753c6_89"/>
          <p:cNvSpPr/>
          <p:nvPr/>
        </p:nvSpPr>
        <p:spPr>
          <a:xfrm>
            <a:off x="14317944" y="8835817"/>
            <a:ext cx="1145716" cy="422483"/>
          </a:xfrm>
          <a:custGeom>
            <a:rect b="b" l="l" r="r" t="t"/>
            <a:pathLst>
              <a:path extrusionOk="0" h="422483" w="1145716">
                <a:moveTo>
                  <a:pt x="0" y="0"/>
                </a:moveTo>
                <a:lnTo>
                  <a:pt x="1145717" y="0"/>
                </a:lnTo>
                <a:lnTo>
                  <a:pt x="1145717" y="422483"/>
                </a:lnTo>
                <a:lnTo>
                  <a:pt x="0" y="422483"/>
                </a:lnTo>
                <a:lnTo>
                  <a:pt x="0" y="0"/>
                </a:lnTo>
                <a:close/>
              </a:path>
            </a:pathLst>
          </a:cu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g2f583de033a753c6_89"/>
          <p:cNvSpPr txBox="1"/>
          <p:nvPr/>
        </p:nvSpPr>
        <p:spPr>
          <a:xfrm>
            <a:off x="1261789" y="2528950"/>
            <a:ext cx="15764400" cy="3174600"/>
          </a:xfrm>
          <a:prstGeom prst="rect">
            <a:avLst/>
          </a:prstGeom>
          <a:noFill/>
          <a:ln>
            <a:noFill/>
          </a:ln>
        </p:spPr>
        <p:txBody>
          <a:bodyPr anchorCtr="0" anchor="t" bIns="0" lIns="0" spcFirstLastPara="1" rIns="0" wrap="square" tIns="0">
            <a:spAutoFit/>
          </a:bodyPr>
          <a:lstStyle/>
          <a:p>
            <a:pPr indent="0" lvl="0" marL="0" marR="0" rtl="0" algn="ctr">
              <a:lnSpc>
                <a:spcPct val="103000"/>
              </a:lnSpc>
              <a:spcBef>
                <a:spcPts val="0"/>
              </a:spcBef>
              <a:spcAft>
                <a:spcPts val="0"/>
              </a:spcAft>
              <a:buNone/>
            </a:pPr>
            <a:r>
              <a:rPr lang="en-US" sz="9999">
                <a:solidFill>
                  <a:srgbClr val="000000"/>
                </a:solidFill>
                <a:latin typeface="Impact"/>
                <a:ea typeface="Impact"/>
                <a:cs typeface="Impact"/>
                <a:sym typeface="Impact"/>
              </a:rPr>
              <a:t>GRUPO 18:PUERTAS BLINDADAS - MODULO FINANCIERO</a:t>
            </a:r>
            <a:endParaRPr/>
          </a:p>
        </p:txBody>
      </p:sp>
      <p:sp>
        <p:nvSpPr>
          <p:cNvPr id="515" name="Google Shape;515;g2f583de033a753c6_89"/>
          <p:cNvSpPr txBox="1"/>
          <p:nvPr/>
        </p:nvSpPr>
        <p:spPr>
          <a:xfrm>
            <a:off x="3330300" y="5597424"/>
            <a:ext cx="5851800" cy="30303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Angella Sanchez</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Daniella Lecanda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Gianella Catalán</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Sebastian Bravo</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Valentin Garcia</a:t>
            </a:r>
            <a:endParaRPr/>
          </a:p>
          <a:p>
            <a:pPr indent="0" lvl="0" marL="0" marR="0" rtl="0" algn="just">
              <a:lnSpc>
                <a:spcPct val="140000"/>
              </a:lnSpc>
              <a:spcBef>
                <a:spcPts val="0"/>
              </a:spcBef>
              <a:spcAft>
                <a:spcPts val="0"/>
              </a:spcAft>
              <a:buNone/>
            </a:pPr>
            <a:r>
              <a:rPr b="1" lang="en-US" sz="2000">
                <a:solidFill>
                  <a:srgbClr val="7D7C7C"/>
                </a:solidFill>
                <a:latin typeface="Inter Medium"/>
                <a:ea typeface="Inter Medium"/>
                <a:cs typeface="Inter Medium"/>
                <a:sym typeface="Inter Medium"/>
              </a:rPr>
              <a:t>Vicente Hernandez</a:t>
            </a:r>
            <a:endParaRPr/>
          </a:p>
          <a:p>
            <a:pPr indent="0" lvl="0" marL="0" marR="0" rtl="0" algn="just">
              <a:lnSpc>
                <a:spcPct val="140000"/>
              </a:lnSpc>
              <a:spcBef>
                <a:spcPts val="0"/>
              </a:spcBef>
              <a:spcAft>
                <a:spcPts val="0"/>
              </a:spcAft>
              <a:buNone/>
            </a:pPr>
            <a:r>
              <a:t/>
            </a:r>
            <a:endParaRPr b="1" sz="2000">
              <a:solidFill>
                <a:srgbClr val="7D7C7C"/>
              </a:solidFill>
              <a:latin typeface="Inter Medium"/>
              <a:ea typeface="Inter Medium"/>
              <a:cs typeface="Inter Medium"/>
              <a:sym typeface="Inter Medium"/>
            </a:endParaRPr>
          </a:p>
        </p:txBody>
      </p:sp>
      <p:sp>
        <p:nvSpPr>
          <p:cNvPr id="516" name="Google Shape;516;g2f583de033a753c6_89"/>
          <p:cNvSpPr/>
          <p:nvPr/>
        </p:nvSpPr>
        <p:spPr>
          <a:xfrm>
            <a:off x="285085" y="176461"/>
            <a:ext cx="5519290" cy="2028339"/>
          </a:xfrm>
          <a:custGeom>
            <a:rect b="b" l="l" r="r" t="t"/>
            <a:pathLst>
              <a:path extrusionOk="0" h="2028339" w="5519290">
                <a:moveTo>
                  <a:pt x="0" y="0"/>
                </a:moveTo>
                <a:lnTo>
                  <a:pt x="5519289" y="0"/>
                </a:lnTo>
                <a:lnTo>
                  <a:pt x="5519289" y="2028339"/>
                </a:lnTo>
                <a:lnTo>
                  <a:pt x="0" y="202833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Biblioteca</dc:creator>
</cp:coreProperties>
</file>