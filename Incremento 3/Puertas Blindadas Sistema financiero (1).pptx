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Inter"/>
      <p:regular r:id="rId23"/>
      <p:bold r:id="rId24"/>
      <p:italic r:id="rId25"/>
      <p:boldItalic r:id="rId26"/>
    </p:embeddedFont>
    <p:embeddedFont>
      <p:font typeface="Poppins Black"/>
      <p:bold r:id="rId27"/>
      <p:boldItalic r:id="rId28"/>
    </p:embeddedFont>
    <p:embeddedFont>
      <p:font typeface="Inter Medium"/>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i2ac211eMgdUy5UdT3/gHYTg8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F6472E-C95C-40BB-AAE2-34386126C6D8}">
  <a:tblStyle styleId="{E5F6472E-C95C-40BB-AAE2-34386126C6D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bold.fntdata"/><Relationship Id="rId23" Type="http://schemas.openxmlformats.org/officeDocument/2006/relationships/font" Target="fonts/Int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Italic.fntdata"/><Relationship Id="rId25" Type="http://schemas.openxmlformats.org/officeDocument/2006/relationships/font" Target="fonts/Inter-italic.fntdata"/><Relationship Id="rId28" Type="http://schemas.openxmlformats.org/officeDocument/2006/relationships/font" Target="fonts/PoppinsBlack-boldItalic.fntdata"/><Relationship Id="rId27" Type="http://schemas.openxmlformats.org/officeDocument/2006/relationships/font" Target="fonts/Poppins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italic.fntdata"/><Relationship Id="rId30" Type="http://schemas.openxmlformats.org/officeDocument/2006/relationships/font" Target="fonts/InterMedium-bold.fntdata"/><Relationship Id="rId11" Type="http://schemas.openxmlformats.org/officeDocument/2006/relationships/slide" Target="slides/slide5.xml"/><Relationship Id="rId33" Type="http://schemas.openxmlformats.org/officeDocument/2006/relationships/font" Target="fonts/OpenSans-regular.fntdata"/><Relationship Id="rId10" Type="http://schemas.openxmlformats.org/officeDocument/2006/relationships/slide" Target="slides/slide4.xml"/><Relationship Id="rId32" Type="http://schemas.openxmlformats.org/officeDocument/2006/relationships/font" Target="fonts/InterMedium-boldItalic.fntdata"/><Relationship Id="rId13" Type="http://schemas.openxmlformats.org/officeDocument/2006/relationships/slide" Target="slides/slide7.xml"/><Relationship Id="rId35" Type="http://schemas.openxmlformats.org/officeDocument/2006/relationships/font" Target="fonts/OpenSans-italic.fntdata"/><Relationship Id="rId12" Type="http://schemas.openxmlformats.org/officeDocument/2006/relationships/slide" Target="slides/slide6.xml"/><Relationship Id="rId34" Type="http://schemas.openxmlformats.org/officeDocument/2006/relationships/font" Target="fonts/OpenSans-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Somos el equipo del Modulo Financiero para Puertas Blindadas. En esta presentación mostraremos el Incremento 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4" name="Google Shape;11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15" name="Google Shape;115;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presentación se organiza en una visión general del incremento, luego una revisión de la modologia utilizada y finalmente dos requerimientos representativos del negocio.</a:t>
            </a:r>
            <a:endParaRPr/>
          </a:p>
        </p:txBody>
      </p:sp>
      <p:sp>
        <p:nvSpPr>
          <p:cNvPr id="117" name="Google Shape;11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8" name="Google Shape;11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67" name="Google Shape;16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68" name="Google Shape;168;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71" name="Google Shape;17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6" name="Google Shape;20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07" name="Google Shape;207;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10" name="Google Shape;21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41dc49bcd25866c6_0_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47" name="Google Shape;247;h41dc49bcd25866c6_0_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48" name="Google Shape;248;h41dc49bcd25866c6_0_11: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h41dc49bcd25866c6_0_1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h41dc49bcd25866c6_0_11: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51" name="Google Shape;251;h41dc49bcd25866c6_0_11: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74" name="Google Shape;27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75" name="Google Shape;275;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78" name="Google Shape;27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5" name="Google Shape;29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96" name="Google Shape;296;p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98" name="Google Shape;29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9" name="Google Shape;29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8" name="Google Shape;33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39" name="Google Shape;339;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42" name="Google Shape;34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5" name="Google Shape;36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66" name="Google Shape;366;p9: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9: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9" name="Google Shape;369;p9: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87" name="Google Shape;387;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88" name="Google Shape;388;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91" name="Google Shape;391;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4" name="Google Shape;404;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05" name="Google Shape;405;p1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8" name="Google Shape;408;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20" name="Google Shape;42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21" name="Google Shape;421;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Como podemos observar, este es el segmento del modelo fisico utilizado para este incremento 2, se muestran las entidades, la informacion que guarda cada tabla junto a su tipo de dato y relaciones necesarias para soportar la información financiera y compartida. Este modelo contiene 38 entidades fisicas y 61 relaciones de claves foraneas concentradas en los esquemas de finanzas y común. Lo central de este incremento es clientes, cotizaciones, notas de venta, pagos y la informacion de seguridad quedan vinculados mediante una estructura persistente coherente. Finalmente esta estructura funcional debe traducirse en una navegacion comprensible para el usuario.</a:t>
            </a:r>
            <a:endParaRPr/>
          </a:p>
        </p:txBody>
      </p:sp>
      <p:sp>
        <p:nvSpPr>
          <p:cNvPr id="423" name="Google Shape;42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24" name="Google Shape;42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43" name="Google Shape;443;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44" name="Google Shape;444;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Aca podemos ver el arbol de navegación el cual organiza las vistas implementadas en este segundo incremento junto a sus funcionalidades que se ejecutan dentro de cada una. En gris se representan las vistas y en naranja sus funcionalidades. Para este incremento se consideran especialmente los contextos asociados a pagos y a seguridad, como por ejemplo la vista llamada “Registro de pago” en la cual se encuentran las funcionalidades como buscar y seleccionar cliente, asociar pago a la nota de venta, clasificar pagos, entre otros. </a:t>
            </a:r>
            <a:endParaRPr/>
          </a:p>
        </p:txBody>
      </p:sp>
      <p:sp>
        <p:nvSpPr>
          <p:cNvPr id="446" name="Google Shape;446;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47" name="Google Shape;447;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72088bf70636b300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5" name="Google Shape;465;h72088bf70636b300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66" name="Google Shape;466;h72088bf70636b300_0_0: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h72088bf70636b300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Aca podemos ver el arbol de navegación el cual organiza las vistas implementadas en este segundo incremento junto a sus funcionalidades que se ejecutan dentro de cada una. En gris se representan las vistas y en naranja sus funcionalidades. Para este incremento se consideran especialmente los contextos asociados a pagos y a seguridad, como por ejemplo la vista llamada “Registro de pago” en la cual se encuentran las funcionalidades como buscar y seleccionar cliente, asociar pago a la nota de venta, clasificar pagos, entre otros. </a:t>
            </a:r>
            <a:endParaRPr/>
          </a:p>
        </p:txBody>
      </p:sp>
      <p:sp>
        <p:nvSpPr>
          <p:cNvPr id="468" name="Google Shape;468;h72088bf70636b300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9" name="Google Shape;469;h72088bf70636b300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88" name="Google Shape;48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89" name="Google Shape;489;p1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92" name="Google Shape;49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09" name="Google Shape;509;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510" name="Google Shape;510;p15: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Somos el equipo del Modulo Financiero para Puertas Blindadas. En esta presentación mostraremos el Incremento 1.</a:t>
            </a:r>
            <a:endParaRPr/>
          </a:p>
        </p:txBody>
      </p:sp>
      <p:sp>
        <p:nvSpPr>
          <p:cNvPr id="512" name="Google Shape;512;p15: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13" name="Google Shape;513;p15: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drive.google.com/file/d/1UABTEyvR-UMUmItYbACNxN6TJApU1aMW/view" TargetMode="Externa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91" name="Shape 91"/>
        <p:cNvGrpSpPr/>
        <p:nvPr/>
      </p:nvGrpSpPr>
      <p:grpSpPr>
        <a:xfrm>
          <a:off x="0" y="0"/>
          <a:ext cx="0" cy="0"/>
          <a:chOff x="0" y="0"/>
          <a:chExt cx="0" cy="0"/>
        </a:xfrm>
      </p:grpSpPr>
      <p:grpSp>
        <p:nvGrpSpPr>
          <p:cNvPr id="92" name="Google Shape;92;p1"/>
          <p:cNvGrpSpPr/>
          <p:nvPr/>
        </p:nvGrpSpPr>
        <p:grpSpPr>
          <a:xfrm>
            <a:off x="-4432416" y="4521897"/>
            <a:ext cx="7613660" cy="7613660"/>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06638" y="8075352"/>
            <a:ext cx="18501275" cy="2443817"/>
            <a:chOff x="0" y="-38100"/>
            <a:chExt cx="4872764" cy="709165"/>
          </a:xfrm>
        </p:grpSpPr>
        <p:sp>
          <p:nvSpPr>
            <p:cNvPr id="96" name="Google Shape;96;p1"/>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0" y="-38100"/>
              <a:ext cx="4872764" cy="70916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8" name="Google Shape;98;p1"/>
          <p:cNvGrpSpPr/>
          <p:nvPr/>
        </p:nvGrpSpPr>
        <p:grpSpPr>
          <a:xfrm>
            <a:off x="13172228" y="5377078"/>
            <a:ext cx="2291446" cy="2291446"/>
            <a:chOff x="0" y="0"/>
            <a:chExt cx="812800" cy="812800"/>
          </a:xfrm>
        </p:grpSpPr>
        <p:sp>
          <p:nvSpPr>
            <p:cNvPr id="99" name="Google Shape;9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02" name="Google Shape;102;p1"/>
          <p:cNvGrpSpPr/>
          <p:nvPr/>
        </p:nvGrpSpPr>
        <p:grpSpPr>
          <a:xfrm>
            <a:off x="-2609694" y="5597423"/>
            <a:ext cx="4689577" cy="4689577"/>
            <a:chOff x="0" y="0"/>
            <a:chExt cx="812800" cy="812800"/>
          </a:xfrm>
        </p:grpSpPr>
        <p:sp>
          <p:nvSpPr>
            <p:cNvPr id="103" name="Google Shape;10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1"/>
          <p:cNvGrpSpPr/>
          <p:nvPr/>
        </p:nvGrpSpPr>
        <p:grpSpPr>
          <a:xfrm>
            <a:off x="14740038" y="-3443680"/>
            <a:ext cx="6669748" cy="6669748"/>
            <a:chOff x="0" y="0"/>
            <a:chExt cx="812800" cy="812800"/>
          </a:xfrm>
        </p:grpSpPr>
        <p:sp>
          <p:nvSpPr>
            <p:cNvPr id="106" name="Google Shape;10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8" name="Google Shape;108;p1"/>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1"/>
          <p:cNvSpPr txBox="1"/>
          <p:nvPr/>
        </p:nvSpPr>
        <p:spPr>
          <a:xfrm>
            <a:off x="1261789" y="2528950"/>
            <a:ext cx="15764400" cy="31242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GRUPO 18: PUERTAS BLINDADAS - MODULO FINANCIERO</a:t>
            </a:r>
            <a:endParaRPr b="0" i="0" sz="1400" u="none" cap="none" strike="noStrike">
              <a:solidFill>
                <a:srgbClr val="000000"/>
              </a:solidFill>
              <a:latin typeface="Arial"/>
              <a:ea typeface="Arial"/>
              <a:cs typeface="Arial"/>
              <a:sym typeface="Arial"/>
            </a:endParaRPr>
          </a:p>
        </p:txBody>
      </p:sp>
      <p:sp>
        <p:nvSpPr>
          <p:cNvPr id="110" name="Google Shape;110;p1"/>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Angella Sanchez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Daniella Lecanda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Gianella Catalán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Sebastian Bravo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Valentin Garcia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Vicente Hernandez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1" i="0" sz="2000" u="none" cap="none" strike="noStrike">
              <a:solidFill>
                <a:srgbClr val="7D7C7C"/>
              </a:solidFill>
              <a:latin typeface="Inter Medium"/>
              <a:ea typeface="Inter Medium"/>
              <a:cs typeface="Inter Medium"/>
              <a:sym typeface="Inter Medium"/>
            </a:endParaRPr>
          </a:p>
        </p:txBody>
      </p:sp>
      <p:sp>
        <p:nvSpPr>
          <p:cNvPr id="111" name="Google Shape;111;p1"/>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19" name="Shape 119"/>
        <p:cNvGrpSpPr/>
        <p:nvPr/>
      </p:nvGrpSpPr>
      <p:grpSpPr>
        <a:xfrm>
          <a:off x="0" y="0"/>
          <a:ext cx="0" cy="0"/>
          <a:chOff x="0" y="0"/>
          <a:chExt cx="0" cy="0"/>
        </a:xfrm>
      </p:grpSpPr>
      <p:grpSp>
        <p:nvGrpSpPr>
          <p:cNvPr id="120" name="Google Shape;120;p2"/>
          <p:cNvGrpSpPr/>
          <p:nvPr/>
        </p:nvGrpSpPr>
        <p:grpSpPr>
          <a:xfrm>
            <a:off x="13964328" y="289313"/>
            <a:ext cx="3480018" cy="6840051"/>
            <a:chOff x="0" y="-38100"/>
            <a:chExt cx="916542" cy="1801483"/>
          </a:xfrm>
        </p:grpSpPr>
        <p:sp>
          <p:nvSpPr>
            <p:cNvPr id="121" name="Google Shape;121;p2"/>
            <p:cNvSpPr/>
            <p:nvPr/>
          </p:nvSpPr>
          <p:spPr>
            <a:xfrm>
              <a:off x="0" y="0"/>
              <a:ext cx="916542" cy="1763382"/>
            </a:xfrm>
            <a:custGeom>
              <a:rect b="b" l="l" r="r" t="t"/>
              <a:pathLst>
                <a:path extrusionOk="0" h="1763382" w="916542">
                  <a:moveTo>
                    <a:pt x="0" y="0"/>
                  </a:moveTo>
                  <a:lnTo>
                    <a:pt x="916542" y="0"/>
                  </a:lnTo>
                  <a:lnTo>
                    <a:pt x="916542" y="1763382"/>
                  </a:lnTo>
                  <a:lnTo>
                    <a:pt x="0" y="1763382"/>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0" y="-38100"/>
              <a:ext cx="916542" cy="1801483"/>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2"/>
          <p:cNvGrpSpPr/>
          <p:nvPr/>
        </p:nvGrpSpPr>
        <p:grpSpPr>
          <a:xfrm>
            <a:off x="5957953" y="3791041"/>
            <a:ext cx="7613660" cy="7613660"/>
            <a:chOff x="0" y="0"/>
            <a:chExt cx="812800" cy="812800"/>
          </a:xfrm>
        </p:grpSpPr>
        <p:sp>
          <p:nvSpPr>
            <p:cNvPr id="124" name="Google Shape;12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2"/>
          <p:cNvGrpSpPr/>
          <p:nvPr/>
        </p:nvGrpSpPr>
        <p:grpSpPr>
          <a:xfrm>
            <a:off x="9490227" y="490073"/>
            <a:ext cx="6409551" cy="9129897"/>
            <a:chOff x="0" y="-38100"/>
            <a:chExt cx="1688101" cy="2404566"/>
          </a:xfrm>
        </p:grpSpPr>
        <p:sp>
          <p:nvSpPr>
            <p:cNvPr id="127" name="Google Shape;127;p2"/>
            <p:cNvSpPr/>
            <p:nvPr/>
          </p:nvSpPr>
          <p:spPr>
            <a:xfrm>
              <a:off x="0" y="0"/>
              <a:ext cx="1688101" cy="2366466"/>
            </a:xfrm>
            <a:custGeom>
              <a:rect b="b" l="l" r="r" t="t"/>
              <a:pathLst>
                <a:path extrusionOk="0" h="2366466" w="1688101">
                  <a:moveTo>
                    <a:pt x="0" y="0"/>
                  </a:moveTo>
                  <a:lnTo>
                    <a:pt x="1688101" y="0"/>
                  </a:lnTo>
                  <a:lnTo>
                    <a:pt x="1688101" y="2366466"/>
                  </a:lnTo>
                  <a:lnTo>
                    <a:pt x="0" y="2366466"/>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txBox="1"/>
            <p:nvPr/>
          </p:nvSpPr>
          <p:spPr>
            <a:xfrm>
              <a:off x="0" y="-38100"/>
              <a:ext cx="1688101" cy="2404566"/>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9" name="Google Shape;129;p2"/>
          <p:cNvGrpSpPr/>
          <p:nvPr/>
        </p:nvGrpSpPr>
        <p:grpSpPr>
          <a:xfrm>
            <a:off x="10567253" y="1240279"/>
            <a:ext cx="709005" cy="709005"/>
            <a:chOff x="0" y="0"/>
            <a:chExt cx="812800" cy="812800"/>
          </a:xfrm>
        </p:grpSpPr>
        <p:sp>
          <p:nvSpPr>
            <p:cNvPr id="130" name="Google Shape;13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1</a:t>
              </a:r>
              <a:endParaRPr b="0" i="0" sz="1400" u="none" cap="none" strike="noStrike">
                <a:solidFill>
                  <a:srgbClr val="000000"/>
                </a:solidFill>
                <a:latin typeface="Arial"/>
                <a:ea typeface="Arial"/>
                <a:cs typeface="Arial"/>
                <a:sym typeface="Arial"/>
              </a:endParaRPr>
            </a:p>
          </p:txBody>
        </p:sp>
      </p:grpSp>
      <p:grpSp>
        <p:nvGrpSpPr>
          <p:cNvPr id="132" name="Google Shape;132;p2"/>
          <p:cNvGrpSpPr/>
          <p:nvPr/>
        </p:nvGrpSpPr>
        <p:grpSpPr>
          <a:xfrm>
            <a:off x="10567253" y="2196258"/>
            <a:ext cx="709005" cy="709005"/>
            <a:chOff x="0" y="0"/>
            <a:chExt cx="812800" cy="812800"/>
          </a:xfrm>
        </p:grpSpPr>
        <p:sp>
          <p:nvSpPr>
            <p:cNvPr id="133" name="Google Shape;13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2</a:t>
              </a:r>
              <a:endParaRPr b="0" i="0" sz="1400" u="none" cap="none" strike="noStrike">
                <a:solidFill>
                  <a:srgbClr val="000000"/>
                </a:solidFill>
                <a:latin typeface="Arial"/>
                <a:ea typeface="Arial"/>
                <a:cs typeface="Arial"/>
                <a:sym typeface="Arial"/>
              </a:endParaRPr>
            </a:p>
          </p:txBody>
        </p:sp>
      </p:grpSp>
      <p:grpSp>
        <p:nvGrpSpPr>
          <p:cNvPr id="135" name="Google Shape;135;p2"/>
          <p:cNvGrpSpPr/>
          <p:nvPr/>
        </p:nvGrpSpPr>
        <p:grpSpPr>
          <a:xfrm>
            <a:off x="10567253" y="3152939"/>
            <a:ext cx="709005" cy="709005"/>
            <a:chOff x="0" y="0"/>
            <a:chExt cx="812800" cy="812800"/>
          </a:xfrm>
        </p:grpSpPr>
        <p:sp>
          <p:nvSpPr>
            <p:cNvPr id="136" name="Google Shape;13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p:txBody>
        </p:sp>
      </p:grpSp>
      <p:grpSp>
        <p:nvGrpSpPr>
          <p:cNvPr id="138" name="Google Shape;138;p2"/>
          <p:cNvGrpSpPr/>
          <p:nvPr/>
        </p:nvGrpSpPr>
        <p:grpSpPr>
          <a:xfrm>
            <a:off x="10567253" y="4109619"/>
            <a:ext cx="709005" cy="709005"/>
            <a:chOff x="0" y="0"/>
            <a:chExt cx="812800" cy="812800"/>
          </a:xfrm>
        </p:grpSpPr>
        <p:sp>
          <p:nvSpPr>
            <p:cNvPr id="139" name="Google Shape;13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4</a:t>
              </a:r>
              <a:endParaRPr b="0" i="0" sz="1400" u="none" cap="none" strike="noStrike">
                <a:solidFill>
                  <a:srgbClr val="000000"/>
                </a:solidFill>
                <a:latin typeface="Arial"/>
                <a:ea typeface="Arial"/>
                <a:cs typeface="Arial"/>
                <a:sym typeface="Arial"/>
              </a:endParaRPr>
            </a:p>
          </p:txBody>
        </p:sp>
      </p:grpSp>
      <p:grpSp>
        <p:nvGrpSpPr>
          <p:cNvPr id="141" name="Google Shape;141;p2"/>
          <p:cNvGrpSpPr/>
          <p:nvPr/>
        </p:nvGrpSpPr>
        <p:grpSpPr>
          <a:xfrm>
            <a:off x="10567253" y="5066299"/>
            <a:ext cx="709005" cy="709005"/>
            <a:chOff x="0" y="0"/>
            <a:chExt cx="812800" cy="812800"/>
          </a:xfrm>
        </p:grpSpPr>
        <p:sp>
          <p:nvSpPr>
            <p:cNvPr id="142" name="Google Shape;14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5</a:t>
              </a:r>
              <a:endParaRPr b="0" i="0" sz="1400" u="none" cap="none" strike="noStrike">
                <a:solidFill>
                  <a:srgbClr val="000000"/>
                </a:solidFill>
                <a:latin typeface="Arial"/>
                <a:ea typeface="Arial"/>
                <a:cs typeface="Arial"/>
                <a:sym typeface="Arial"/>
              </a:endParaRPr>
            </a:p>
          </p:txBody>
        </p:sp>
      </p:grpSp>
      <p:grpSp>
        <p:nvGrpSpPr>
          <p:cNvPr id="144" name="Google Shape;144;p2"/>
          <p:cNvGrpSpPr/>
          <p:nvPr/>
        </p:nvGrpSpPr>
        <p:grpSpPr>
          <a:xfrm>
            <a:off x="10567253" y="6022979"/>
            <a:ext cx="709005" cy="709005"/>
            <a:chOff x="0" y="0"/>
            <a:chExt cx="812800" cy="812800"/>
          </a:xfrm>
        </p:grpSpPr>
        <p:sp>
          <p:nvSpPr>
            <p:cNvPr id="145" name="Google Shape;14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6</a:t>
              </a:r>
              <a:endParaRPr b="0" i="0" sz="1400" u="none" cap="none" strike="noStrike">
                <a:solidFill>
                  <a:srgbClr val="000000"/>
                </a:solidFill>
                <a:latin typeface="Arial"/>
                <a:ea typeface="Arial"/>
                <a:cs typeface="Arial"/>
                <a:sym typeface="Arial"/>
              </a:endParaRPr>
            </a:p>
          </p:txBody>
        </p:sp>
      </p:grpSp>
      <p:sp>
        <p:nvSpPr>
          <p:cNvPr id="147" name="Google Shape;147;p2"/>
          <p:cNvSpPr/>
          <p:nvPr/>
        </p:nvSpPr>
        <p:spPr>
          <a:xfrm>
            <a:off x="1028700" y="7053599"/>
            <a:ext cx="7159730" cy="833132"/>
          </a:xfrm>
          <a:custGeom>
            <a:rect b="b" l="l" r="r" t="t"/>
            <a:pathLst>
              <a:path extrusionOk="0" h="833132" w="7159730">
                <a:moveTo>
                  <a:pt x="0" y="0"/>
                </a:moveTo>
                <a:lnTo>
                  <a:pt x="7159730" y="0"/>
                </a:lnTo>
                <a:lnTo>
                  <a:pt x="7159730" y="833132"/>
                </a:lnTo>
                <a:lnTo>
                  <a:pt x="0" y="83313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2"/>
          <p:cNvSpPr/>
          <p:nvPr/>
        </p:nvSpPr>
        <p:spPr>
          <a:xfrm rot="-5400000">
            <a:off x="1687106" y="5007850"/>
            <a:ext cx="239244" cy="1556056"/>
          </a:xfrm>
          <a:custGeom>
            <a:rect b="b" l="l" r="r" t="t"/>
            <a:pathLst>
              <a:path extrusionOk="0" h="1556056" w="239244">
                <a:moveTo>
                  <a:pt x="0" y="0"/>
                </a:moveTo>
                <a:lnTo>
                  <a:pt x="239244" y="0"/>
                </a:lnTo>
                <a:lnTo>
                  <a:pt x="239244" y="1556056"/>
                </a:lnTo>
                <a:lnTo>
                  <a:pt x="0" y="1556056"/>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2"/>
          <p:cNvSpPr txBox="1"/>
          <p:nvPr/>
        </p:nvSpPr>
        <p:spPr>
          <a:xfrm>
            <a:off x="311939" y="925385"/>
            <a:ext cx="9484500" cy="28476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Clr>
                <a:srgbClr val="000000"/>
              </a:buClr>
              <a:buSzPts val="8999"/>
              <a:buFont typeface="Arial"/>
              <a:buNone/>
            </a:pPr>
            <a:r>
              <a:rPr b="0" i="0" lang="en-US" sz="8999" u="none" cap="none" strike="noStrike">
                <a:solidFill>
                  <a:srgbClr val="000000"/>
                </a:solidFill>
                <a:latin typeface="Impact"/>
                <a:ea typeface="Impact"/>
                <a:cs typeface="Impact"/>
                <a:sym typeface="Impact"/>
              </a:rPr>
              <a:t>TABLA DE CONTENIDOS</a:t>
            </a:r>
            <a:endParaRPr b="0" i="0" sz="1400" u="none" cap="none" strike="noStrike">
              <a:solidFill>
                <a:srgbClr val="000000"/>
              </a:solidFill>
              <a:latin typeface="Arial"/>
              <a:ea typeface="Arial"/>
              <a:cs typeface="Arial"/>
              <a:sym typeface="Arial"/>
            </a:endParaRPr>
          </a:p>
        </p:txBody>
      </p:sp>
      <p:sp>
        <p:nvSpPr>
          <p:cNvPr id="150" name="Google Shape;150;p2"/>
          <p:cNvSpPr txBox="1"/>
          <p:nvPr/>
        </p:nvSpPr>
        <p:spPr>
          <a:xfrm>
            <a:off x="1028700" y="4305300"/>
            <a:ext cx="4929247" cy="130809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0" i="0" lang="en-US" sz="2500" u="none" cap="none" strike="noStrike">
                <a:solidFill>
                  <a:srgbClr val="000000"/>
                </a:solidFill>
                <a:latin typeface="Inter"/>
                <a:ea typeface="Inter"/>
                <a:cs typeface="Inter"/>
                <a:sym typeface="Inter"/>
              </a:rPr>
              <a:t>Para la siguiente presentación se consideran los siguientes contenidos.</a:t>
            </a:r>
            <a:endParaRPr b="0" i="0" sz="1400" u="none" cap="none" strike="noStrike">
              <a:solidFill>
                <a:srgbClr val="000000"/>
              </a:solidFill>
              <a:latin typeface="Arial"/>
              <a:ea typeface="Arial"/>
              <a:cs typeface="Arial"/>
              <a:sym typeface="Arial"/>
            </a:endParaRPr>
          </a:p>
        </p:txBody>
      </p:sp>
      <p:sp>
        <p:nvSpPr>
          <p:cNvPr id="151" name="Google Shape;151;p2"/>
          <p:cNvSpPr txBox="1"/>
          <p:nvPr/>
        </p:nvSpPr>
        <p:spPr>
          <a:xfrm>
            <a:off x="11608223" y="1368100"/>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Introducción</a:t>
            </a:r>
            <a:endParaRPr b="0" i="0" sz="1400" u="none" cap="none" strike="noStrike">
              <a:solidFill>
                <a:srgbClr val="000000"/>
              </a:solidFill>
              <a:latin typeface="Arial"/>
              <a:ea typeface="Arial"/>
              <a:cs typeface="Arial"/>
              <a:sym typeface="Arial"/>
            </a:endParaRPr>
          </a:p>
        </p:txBody>
      </p:sp>
      <p:sp>
        <p:nvSpPr>
          <p:cNvPr id="152" name="Google Shape;152;p2"/>
          <p:cNvSpPr txBox="1"/>
          <p:nvPr/>
        </p:nvSpPr>
        <p:spPr>
          <a:xfrm>
            <a:off x="11608223" y="6179290"/>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Modelo de Datos</a:t>
            </a:r>
            <a:endParaRPr b="0" i="0" sz="1400" u="none" cap="none" strike="noStrike">
              <a:solidFill>
                <a:srgbClr val="000000"/>
              </a:solidFill>
              <a:latin typeface="Arial"/>
              <a:ea typeface="Arial"/>
              <a:cs typeface="Arial"/>
              <a:sym typeface="Arial"/>
            </a:endParaRPr>
          </a:p>
        </p:txBody>
      </p:sp>
      <p:sp>
        <p:nvSpPr>
          <p:cNvPr id="153" name="Google Shape;153;p2"/>
          <p:cNvSpPr txBox="1"/>
          <p:nvPr/>
        </p:nvSpPr>
        <p:spPr>
          <a:xfrm>
            <a:off x="11608223" y="7122446"/>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Árbol de Navegación </a:t>
            </a:r>
            <a:endParaRPr b="0" i="0" sz="1400" u="none" cap="none" strike="noStrike">
              <a:solidFill>
                <a:srgbClr val="000000"/>
              </a:solidFill>
              <a:latin typeface="Arial"/>
              <a:ea typeface="Arial"/>
              <a:cs typeface="Arial"/>
              <a:sym typeface="Arial"/>
            </a:endParaRPr>
          </a:p>
        </p:txBody>
      </p:sp>
      <p:sp>
        <p:nvSpPr>
          <p:cNvPr id="154" name="Google Shape;154;p2"/>
          <p:cNvSpPr txBox="1"/>
          <p:nvPr/>
        </p:nvSpPr>
        <p:spPr>
          <a:xfrm>
            <a:off x="11598024" y="4264032"/>
            <a:ext cx="4175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Diagrama de Componentes</a:t>
            </a:r>
            <a:endParaRPr b="0" i="0" sz="1400" u="none" cap="none" strike="noStrike">
              <a:solidFill>
                <a:srgbClr val="000000"/>
              </a:solidFill>
              <a:latin typeface="Arial"/>
              <a:ea typeface="Arial"/>
              <a:cs typeface="Arial"/>
              <a:sym typeface="Arial"/>
            </a:endParaRPr>
          </a:p>
        </p:txBody>
      </p:sp>
      <p:sp>
        <p:nvSpPr>
          <p:cNvPr id="155" name="Google Shape;155;p2"/>
          <p:cNvSpPr txBox="1"/>
          <p:nvPr/>
        </p:nvSpPr>
        <p:spPr>
          <a:xfrm>
            <a:off x="11608223" y="2196252"/>
            <a:ext cx="3538200" cy="886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Requerimiento 8</a:t>
            </a:r>
            <a:r>
              <a:rPr b="1" lang="en-US" sz="2400">
                <a:solidFill>
                  <a:srgbClr val="FFFFFF"/>
                </a:solidFill>
                <a:latin typeface="Inter"/>
                <a:ea typeface="Inter"/>
                <a:cs typeface="Inter"/>
                <a:sym typeface="Inter"/>
              </a:rPr>
              <a:t>7</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400"/>
              <a:buFont typeface="Arial"/>
              <a:buNone/>
            </a:pPr>
            <a:r>
              <a:t/>
            </a:r>
            <a:endParaRPr b="1" i="0" sz="2400" u="none" cap="none" strike="noStrike">
              <a:solidFill>
                <a:srgbClr val="FFFFFF"/>
              </a:solidFill>
              <a:latin typeface="Inter"/>
              <a:ea typeface="Inter"/>
              <a:cs typeface="Inter"/>
              <a:sym typeface="Inter"/>
            </a:endParaRPr>
          </a:p>
        </p:txBody>
      </p:sp>
      <p:sp>
        <p:nvSpPr>
          <p:cNvPr id="156" name="Google Shape;156;p2"/>
          <p:cNvSpPr txBox="1"/>
          <p:nvPr/>
        </p:nvSpPr>
        <p:spPr>
          <a:xfrm>
            <a:off x="11608223" y="3222477"/>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Requerimiento </a:t>
            </a:r>
            <a:r>
              <a:rPr b="1" lang="en-US" sz="2400">
                <a:solidFill>
                  <a:srgbClr val="FFFFFF"/>
                </a:solidFill>
                <a:latin typeface="Inter"/>
                <a:ea typeface="Inter"/>
                <a:cs typeface="Inter"/>
                <a:sym typeface="Inter"/>
              </a:rPr>
              <a:t>89</a:t>
            </a:r>
            <a:endParaRPr b="0" i="0" sz="1400" u="none" cap="none" strike="noStrike">
              <a:solidFill>
                <a:srgbClr val="000000"/>
              </a:solidFill>
              <a:latin typeface="Arial"/>
              <a:ea typeface="Arial"/>
              <a:cs typeface="Arial"/>
              <a:sym typeface="Arial"/>
            </a:endParaRPr>
          </a:p>
        </p:txBody>
      </p:sp>
      <p:grpSp>
        <p:nvGrpSpPr>
          <p:cNvPr id="157" name="Google Shape;157;p2"/>
          <p:cNvGrpSpPr/>
          <p:nvPr/>
        </p:nvGrpSpPr>
        <p:grpSpPr>
          <a:xfrm>
            <a:off x="10567253" y="6979659"/>
            <a:ext cx="709005" cy="709005"/>
            <a:chOff x="0" y="0"/>
            <a:chExt cx="812800" cy="812800"/>
          </a:xfrm>
        </p:grpSpPr>
        <p:sp>
          <p:nvSpPr>
            <p:cNvPr id="158" name="Google Shape;15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7</a:t>
              </a:r>
              <a:endParaRPr b="0" i="0" sz="1400" u="none" cap="none" strike="noStrike">
                <a:solidFill>
                  <a:srgbClr val="000000"/>
                </a:solidFill>
                <a:latin typeface="Arial"/>
                <a:ea typeface="Arial"/>
                <a:cs typeface="Arial"/>
                <a:sym typeface="Arial"/>
              </a:endParaRPr>
            </a:p>
          </p:txBody>
        </p:sp>
      </p:grpSp>
      <p:sp>
        <p:nvSpPr>
          <p:cNvPr id="160" name="Google Shape;160;p2"/>
          <p:cNvSpPr txBox="1"/>
          <p:nvPr/>
        </p:nvSpPr>
        <p:spPr>
          <a:xfrm>
            <a:off x="11608223" y="8061513"/>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Demostración </a:t>
            </a:r>
            <a:endParaRPr b="0" i="0" sz="1400" u="none" cap="none" strike="noStrike">
              <a:solidFill>
                <a:srgbClr val="000000"/>
              </a:solidFill>
              <a:latin typeface="Arial"/>
              <a:ea typeface="Arial"/>
              <a:cs typeface="Arial"/>
              <a:sym typeface="Arial"/>
            </a:endParaRPr>
          </a:p>
        </p:txBody>
      </p:sp>
      <p:grpSp>
        <p:nvGrpSpPr>
          <p:cNvPr id="161" name="Google Shape;161;p2"/>
          <p:cNvGrpSpPr/>
          <p:nvPr/>
        </p:nvGrpSpPr>
        <p:grpSpPr>
          <a:xfrm>
            <a:off x="10567253" y="7936339"/>
            <a:ext cx="709005" cy="709005"/>
            <a:chOff x="0" y="0"/>
            <a:chExt cx="812800" cy="812800"/>
          </a:xfrm>
        </p:grpSpPr>
        <p:sp>
          <p:nvSpPr>
            <p:cNvPr id="162" name="Google Shape;16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8</a:t>
              </a:r>
              <a:endParaRPr b="0" i="0" sz="1400" u="none" cap="none" strike="noStrike">
                <a:solidFill>
                  <a:srgbClr val="000000"/>
                </a:solidFill>
                <a:latin typeface="Arial"/>
                <a:ea typeface="Arial"/>
                <a:cs typeface="Arial"/>
                <a:sym typeface="Arial"/>
              </a:endParaRPr>
            </a:p>
          </p:txBody>
        </p:sp>
      </p:grpSp>
      <p:sp>
        <p:nvSpPr>
          <p:cNvPr id="164" name="Google Shape;164;p2"/>
          <p:cNvSpPr txBox="1"/>
          <p:nvPr/>
        </p:nvSpPr>
        <p:spPr>
          <a:xfrm>
            <a:off x="11579348" y="5236155"/>
            <a:ext cx="38346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Diagrama de Despliegue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72" name="Shape 172"/>
        <p:cNvGrpSpPr/>
        <p:nvPr/>
      </p:nvGrpSpPr>
      <p:grpSpPr>
        <a:xfrm>
          <a:off x="0" y="0"/>
          <a:ext cx="0" cy="0"/>
          <a:chOff x="0" y="0"/>
          <a:chExt cx="0" cy="0"/>
        </a:xfrm>
      </p:grpSpPr>
      <p:grpSp>
        <p:nvGrpSpPr>
          <p:cNvPr id="173" name="Google Shape;173;p3"/>
          <p:cNvGrpSpPr/>
          <p:nvPr/>
        </p:nvGrpSpPr>
        <p:grpSpPr>
          <a:xfrm>
            <a:off x="-2822684" y="6496485"/>
            <a:ext cx="7613660" cy="7613660"/>
            <a:chOff x="0" y="0"/>
            <a:chExt cx="812800" cy="812800"/>
          </a:xfrm>
        </p:grpSpPr>
        <p:sp>
          <p:nvSpPr>
            <p:cNvPr id="174" name="Google Shape;17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3"/>
          <p:cNvGrpSpPr/>
          <p:nvPr/>
        </p:nvGrpSpPr>
        <p:grpSpPr>
          <a:xfrm>
            <a:off x="1028700" y="7334067"/>
            <a:ext cx="16230600" cy="2253712"/>
            <a:chOff x="0" y="-38100"/>
            <a:chExt cx="4274726" cy="593570"/>
          </a:xfrm>
        </p:grpSpPr>
        <p:sp>
          <p:nvSpPr>
            <p:cNvPr id="177" name="Google Shape;177;p3"/>
            <p:cNvSpPr/>
            <p:nvPr/>
          </p:nvSpPr>
          <p:spPr>
            <a:xfrm>
              <a:off x="0" y="0"/>
              <a:ext cx="4274726" cy="555470"/>
            </a:xfrm>
            <a:custGeom>
              <a:rect b="b" l="l" r="r" t="t"/>
              <a:pathLst>
                <a:path extrusionOk="0" h="555470" w="4274726">
                  <a:moveTo>
                    <a:pt x="0" y="0"/>
                  </a:moveTo>
                  <a:lnTo>
                    <a:pt x="4274726" y="0"/>
                  </a:lnTo>
                  <a:lnTo>
                    <a:pt x="4274726" y="555470"/>
                  </a:lnTo>
                  <a:lnTo>
                    <a:pt x="0" y="55547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3"/>
            <p:cNvSpPr txBox="1"/>
            <p:nvPr/>
          </p:nvSpPr>
          <p:spPr>
            <a:xfrm>
              <a:off x="0" y="-38100"/>
              <a:ext cx="4274726" cy="59357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9" name="Google Shape;179;p3"/>
          <p:cNvSpPr/>
          <p:nvPr/>
        </p:nvSpPr>
        <p:spPr>
          <a:xfrm rot="-5400000">
            <a:off x="1589307" y="-385887"/>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80" name="Google Shape;180;p3"/>
          <p:cNvGrpSpPr/>
          <p:nvPr/>
        </p:nvGrpSpPr>
        <p:grpSpPr>
          <a:xfrm>
            <a:off x="2057112" y="6895172"/>
            <a:ext cx="4381725" cy="2357283"/>
            <a:chOff x="0" y="-38100"/>
            <a:chExt cx="1154027" cy="620844"/>
          </a:xfrm>
        </p:grpSpPr>
        <p:sp>
          <p:nvSpPr>
            <p:cNvPr id="181" name="Google Shape;181;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3" name="Google Shape;183;p3"/>
          <p:cNvGrpSpPr/>
          <p:nvPr/>
        </p:nvGrpSpPr>
        <p:grpSpPr>
          <a:xfrm>
            <a:off x="6953152" y="6895172"/>
            <a:ext cx="4381725" cy="2357283"/>
            <a:chOff x="0" y="-38100"/>
            <a:chExt cx="1154027" cy="620844"/>
          </a:xfrm>
        </p:grpSpPr>
        <p:sp>
          <p:nvSpPr>
            <p:cNvPr id="184" name="Google Shape;184;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6" name="Google Shape;186;p3"/>
          <p:cNvGrpSpPr/>
          <p:nvPr/>
        </p:nvGrpSpPr>
        <p:grpSpPr>
          <a:xfrm>
            <a:off x="11751998" y="6895172"/>
            <a:ext cx="4381725" cy="2357283"/>
            <a:chOff x="0" y="-38100"/>
            <a:chExt cx="1154027" cy="620844"/>
          </a:xfrm>
        </p:grpSpPr>
        <p:sp>
          <p:nvSpPr>
            <p:cNvPr id="187" name="Google Shape;187;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3"/>
          <p:cNvSpPr/>
          <p:nvPr/>
        </p:nvSpPr>
        <p:spPr>
          <a:xfrm rot="5400000">
            <a:off x="4067069"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3"/>
          <p:cNvSpPr/>
          <p:nvPr/>
        </p:nvSpPr>
        <p:spPr>
          <a:xfrm rot="5400000">
            <a:off x="8959833" y="6943027"/>
            <a:ext cx="368333" cy="550670"/>
          </a:xfrm>
          <a:custGeom>
            <a:rect b="b" l="l" r="r" t="t"/>
            <a:pathLst>
              <a:path extrusionOk="0" h="550670" w="368333">
                <a:moveTo>
                  <a:pt x="0" y="0"/>
                </a:moveTo>
                <a:lnTo>
                  <a:pt x="368334" y="0"/>
                </a:lnTo>
                <a:lnTo>
                  <a:pt x="368334"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3"/>
          <p:cNvSpPr/>
          <p:nvPr/>
        </p:nvSpPr>
        <p:spPr>
          <a:xfrm rot="5400000">
            <a:off x="13852598"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92" name="Google Shape;192;p3"/>
          <p:cNvGrpSpPr/>
          <p:nvPr/>
        </p:nvGrpSpPr>
        <p:grpSpPr>
          <a:xfrm>
            <a:off x="15073715" y="-3065569"/>
            <a:ext cx="7613660" cy="7613660"/>
            <a:chOff x="0" y="0"/>
            <a:chExt cx="812800" cy="812800"/>
          </a:xfrm>
        </p:grpSpPr>
        <p:sp>
          <p:nvSpPr>
            <p:cNvPr id="193" name="Google Shape;19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3"/>
          <p:cNvSpPr txBox="1"/>
          <p:nvPr/>
        </p:nvSpPr>
        <p:spPr>
          <a:xfrm>
            <a:off x="951613" y="347219"/>
            <a:ext cx="8269500" cy="12465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8099"/>
              <a:buFont typeface="Arial"/>
              <a:buNone/>
            </a:pPr>
            <a:r>
              <a:rPr b="0" i="0" lang="en-US" sz="8099" u="none" cap="none" strike="noStrike">
                <a:solidFill>
                  <a:srgbClr val="000000"/>
                </a:solidFill>
                <a:latin typeface="Impact"/>
                <a:ea typeface="Impact"/>
                <a:cs typeface="Impact"/>
                <a:sym typeface="Impact"/>
              </a:rPr>
              <a:t>INTRODUCCIÓN </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1028725" y="1593727"/>
            <a:ext cx="8115300" cy="92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Para este incremento se consideran los siguientes datos.</a:t>
            </a:r>
            <a:endParaRPr b="0" i="0" sz="1400" u="none" cap="none" strike="noStrike">
              <a:solidFill>
                <a:srgbClr val="000000"/>
              </a:solidFill>
              <a:latin typeface="Arial"/>
              <a:ea typeface="Arial"/>
              <a:cs typeface="Arial"/>
              <a:sym typeface="Arial"/>
            </a:endParaRPr>
          </a:p>
        </p:txBody>
      </p:sp>
      <p:sp>
        <p:nvSpPr>
          <p:cNvPr id="197" name="Google Shape;197;p3"/>
          <p:cNvSpPr txBox="1"/>
          <p:nvPr/>
        </p:nvSpPr>
        <p:spPr>
          <a:xfrm>
            <a:off x="2679424" y="7402528"/>
            <a:ext cx="31437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CANTIDAD REQUERIMIENTOS</a:t>
            </a:r>
            <a:endParaRPr b="0" i="0" sz="1400" u="none" cap="none" strike="noStrike">
              <a:solidFill>
                <a:srgbClr val="000000"/>
              </a:solidFill>
              <a:latin typeface="Arial"/>
              <a:ea typeface="Arial"/>
              <a:cs typeface="Arial"/>
              <a:sym typeface="Arial"/>
            </a:endParaRPr>
          </a:p>
        </p:txBody>
      </p:sp>
      <p:sp>
        <p:nvSpPr>
          <p:cNvPr id="198" name="Google Shape;198;p3"/>
          <p:cNvSpPr txBox="1"/>
          <p:nvPr/>
        </p:nvSpPr>
        <p:spPr>
          <a:xfrm>
            <a:off x="7778556" y="7325428"/>
            <a:ext cx="27309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PORCENTAJE DE AVANCE</a:t>
            </a:r>
            <a:endParaRPr b="0" i="0" sz="1400" u="none" cap="none" strike="noStrike">
              <a:solidFill>
                <a:srgbClr val="000000"/>
              </a:solidFill>
              <a:latin typeface="Arial"/>
              <a:ea typeface="Arial"/>
              <a:cs typeface="Arial"/>
              <a:sym typeface="Arial"/>
            </a:endParaRPr>
          </a:p>
        </p:txBody>
      </p:sp>
      <p:sp>
        <p:nvSpPr>
          <p:cNvPr id="199" name="Google Shape;199;p3"/>
          <p:cNvSpPr txBox="1"/>
          <p:nvPr/>
        </p:nvSpPr>
        <p:spPr>
          <a:xfrm>
            <a:off x="7365923" y="8314827"/>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D9D9D9"/>
                </a:solidFill>
                <a:latin typeface="Inter Medium"/>
                <a:ea typeface="Inter Medium"/>
                <a:cs typeface="Inter Medium"/>
                <a:sym typeface="Inter Medium"/>
              </a:rPr>
              <a:t>~70%</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12671308" y="7325428"/>
            <a:ext cx="27309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SIGUIENTE ENTREGA</a:t>
            </a:r>
            <a:endParaRPr b="0" i="0" sz="1400" u="none" cap="none" strike="noStrike">
              <a:solidFill>
                <a:srgbClr val="000000"/>
              </a:solidFill>
              <a:latin typeface="Arial"/>
              <a:ea typeface="Arial"/>
              <a:cs typeface="Arial"/>
              <a:sym typeface="Arial"/>
            </a:endParaRPr>
          </a:p>
        </p:txBody>
      </p:sp>
      <p:sp>
        <p:nvSpPr>
          <p:cNvPr id="201" name="Google Shape;201;p3"/>
          <p:cNvSpPr txBox="1"/>
          <p:nvPr/>
        </p:nvSpPr>
        <p:spPr>
          <a:xfrm>
            <a:off x="12258649" y="8388015"/>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lang="en-US" sz="2300">
                <a:solidFill>
                  <a:srgbClr val="D9D9D9"/>
                </a:solidFill>
                <a:latin typeface="Inter Medium"/>
                <a:ea typeface="Inter Medium"/>
                <a:cs typeface="Inter Medium"/>
                <a:sym typeface="Inter Medium"/>
              </a:rPr>
              <a:t>Consolidación</a:t>
            </a:r>
            <a:r>
              <a:rPr b="1" lang="en-US" sz="2300">
                <a:solidFill>
                  <a:srgbClr val="D9D9D9"/>
                </a:solidFill>
                <a:latin typeface="Inter Medium"/>
                <a:ea typeface="Inter Medium"/>
                <a:cs typeface="Inter Medium"/>
                <a:sym typeface="Inter Medium"/>
              </a:rPr>
              <a:t> Proyecto</a:t>
            </a:r>
            <a:endParaRPr b="0" i="0" sz="1400" u="none" cap="none" strike="noStrike">
              <a:solidFill>
                <a:srgbClr val="000000"/>
              </a:solidFill>
              <a:latin typeface="Arial"/>
              <a:ea typeface="Arial"/>
              <a:cs typeface="Arial"/>
              <a:sym typeface="Arial"/>
            </a:endParaRPr>
          </a:p>
        </p:txBody>
      </p:sp>
      <p:graphicFrame>
        <p:nvGraphicFramePr>
          <p:cNvPr id="202" name="Google Shape;202;p3"/>
          <p:cNvGraphicFramePr/>
          <p:nvPr/>
        </p:nvGraphicFramePr>
        <p:xfrm>
          <a:off x="3756086" y="2242524"/>
          <a:ext cx="3000000" cy="3000000"/>
        </p:xfrm>
        <a:graphic>
          <a:graphicData uri="http://schemas.openxmlformats.org/drawingml/2006/table">
            <a:tbl>
              <a:tblPr>
                <a:noFill/>
                <a:tableStyleId>{E5F6472E-C95C-40BB-AAE2-34386126C6D8}</a:tableStyleId>
              </a:tblPr>
              <a:tblGrid>
                <a:gridCol w="2575275"/>
                <a:gridCol w="2575275"/>
                <a:gridCol w="2575275"/>
                <a:gridCol w="2575275"/>
              </a:tblGrid>
              <a:tr h="68797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FFFFF"/>
                          </a:solidFill>
                          <a:latin typeface="Open Sans"/>
                          <a:ea typeface="Open Sans"/>
                          <a:cs typeface="Open Sans"/>
                          <a:sym typeface="Open Sans"/>
                        </a:rPr>
                        <a:t>Incremento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FFFFF"/>
                          </a:solidFill>
                          <a:latin typeface="Open Sans"/>
                          <a:ea typeface="Open Sans"/>
                          <a:cs typeface="Open Sans"/>
                          <a:sym typeface="Open Sans"/>
                        </a:rPr>
                        <a:t>Descripción del Hito / Alcance</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EFEFE"/>
                          </a:solidFill>
                          <a:latin typeface="Open Sans"/>
                          <a:ea typeface="Open Sans"/>
                          <a:cs typeface="Open Sans"/>
                          <a:sym typeface="Open Sans"/>
                        </a:rPr>
                        <a:t>Cantidad de RFs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EFEFE"/>
                          </a:solidFill>
                          <a:latin typeface="Open Sans"/>
                          <a:ea typeface="Open Sans"/>
                          <a:cs typeface="Open Sans"/>
                          <a:sym typeface="Open Sans"/>
                        </a:rPr>
                        <a:t>% de Avance (Acumulado)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1</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Núcleo Comercial (MVP):</a:t>
                      </a:r>
                      <a:r>
                        <a:rPr lang="en-US" sz="1200" u="none" cap="none" strike="noStrike">
                          <a:solidFill>
                            <a:srgbClr val="1F1F1F"/>
                          </a:solidFill>
                          <a:latin typeface="Open Sans"/>
                          <a:ea typeface="Open Sans"/>
                          <a:cs typeface="Open Sans"/>
                          <a:sym typeface="Open Sans"/>
                        </a:rPr>
                        <a:t> Clientes, Cotizaciones y Nota de ventas.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36</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3</a:t>
                      </a:r>
                      <a:r>
                        <a:rPr b="1" lang="en-US" sz="1464">
                          <a:solidFill>
                            <a:srgbClr val="1F1F1F"/>
                          </a:solidFill>
                          <a:latin typeface="Open Sans"/>
                          <a:ea typeface="Open Sans"/>
                          <a:cs typeface="Open Sans"/>
                          <a:sym typeface="Open Sans"/>
                        </a:rPr>
                        <a:t>5,64</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6507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2</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Tesorería y Seguridad:</a:t>
                      </a:r>
                      <a:r>
                        <a:rPr lang="en-US" sz="1200" u="none" cap="none" strike="noStrike">
                          <a:solidFill>
                            <a:srgbClr val="1F1F1F"/>
                          </a:solidFill>
                          <a:latin typeface="Open Sans"/>
                          <a:ea typeface="Open Sans"/>
                          <a:cs typeface="Open Sans"/>
                          <a:sym typeface="Open Sans"/>
                        </a:rPr>
                        <a:t>Roles de usuario, Bloqueos, Recaudación, Pagos y Conciliación.</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39</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7</a:t>
                      </a:r>
                      <a:r>
                        <a:rPr b="1" lang="en-US" sz="1464">
                          <a:solidFill>
                            <a:srgbClr val="1F1F1F"/>
                          </a:solidFill>
                          <a:latin typeface="Open Sans"/>
                          <a:ea typeface="Open Sans"/>
                          <a:cs typeface="Open Sans"/>
                          <a:sym typeface="Open Sans"/>
                        </a:rPr>
                        <a:t>4,26</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Operaciones y Rentabilidad:</a:t>
                      </a:r>
                      <a:r>
                        <a:rPr lang="en-US" sz="1200" u="none" cap="none" strike="noStrike">
                          <a:solidFill>
                            <a:srgbClr val="1F1F1F"/>
                          </a:solidFill>
                          <a:latin typeface="Open Sans"/>
                          <a:ea typeface="Open Sans"/>
                          <a:cs typeface="Open Sans"/>
                          <a:sym typeface="Open Sans"/>
                        </a:rPr>
                        <a:t> Sueldos, Proveedores, Bonos por Destajo y Dashboards Analíticos.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26</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a:solidFill>
                            <a:srgbClr val="1F1F1F"/>
                          </a:solidFill>
                          <a:latin typeface="Open Sans"/>
                          <a:ea typeface="Open Sans"/>
                          <a:cs typeface="Open Sans"/>
                          <a:sym typeface="Open Sans"/>
                        </a:rPr>
                        <a:t>100,00</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4</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a:solidFill>
                            <a:srgbClr val="1F1F1F"/>
                          </a:solidFill>
                          <a:latin typeface="Open Sans"/>
                          <a:ea typeface="Open Sans"/>
                          <a:cs typeface="Open Sans"/>
                          <a:sym typeface="Open Sans"/>
                        </a:rPr>
                        <a:t>Cierre y consolidación del proyecto: documentación final, validación y aprobación del cliente, requerimientos no funcionales aprobados, videos y entregables finales.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100,00%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03" name="Google Shape;203;p3"/>
          <p:cNvSpPr txBox="1"/>
          <p:nvPr/>
        </p:nvSpPr>
        <p:spPr>
          <a:xfrm>
            <a:off x="2473185" y="8388027"/>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lang="en-US" sz="2300">
                <a:solidFill>
                  <a:srgbClr val="D9D9D9"/>
                </a:solidFill>
                <a:latin typeface="Inter Medium"/>
                <a:ea typeface="Inter Medium"/>
                <a:cs typeface="Inter Medium"/>
                <a:sym typeface="Inter Medium"/>
              </a:rPr>
              <a:t>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11" name="Shape 211"/>
        <p:cNvGrpSpPr/>
        <p:nvPr/>
      </p:nvGrpSpPr>
      <p:grpSpPr>
        <a:xfrm>
          <a:off x="0" y="0"/>
          <a:ext cx="0" cy="0"/>
          <a:chOff x="0" y="0"/>
          <a:chExt cx="0" cy="0"/>
        </a:xfrm>
      </p:grpSpPr>
      <p:grpSp>
        <p:nvGrpSpPr>
          <p:cNvPr id="212" name="Google Shape;212;p4"/>
          <p:cNvGrpSpPr/>
          <p:nvPr/>
        </p:nvGrpSpPr>
        <p:grpSpPr>
          <a:xfrm>
            <a:off x="-29169" y="8086614"/>
            <a:ext cx="18317290" cy="2200398"/>
            <a:chOff x="0" y="-38100"/>
            <a:chExt cx="4824275" cy="579525"/>
          </a:xfrm>
        </p:grpSpPr>
        <p:sp>
          <p:nvSpPr>
            <p:cNvPr id="213" name="Google Shape;213;p4"/>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4"/>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4"/>
          <p:cNvGrpSpPr/>
          <p:nvPr/>
        </p:nvGrpSpPr>
        <p:grpSpPr>
          <a:xfrm>
            <a:off x="201400" y="3094325"/>
            <a:ext cx="5437713" cy="6505196"/>
            <a:chOff x="0" y="-38100"/>
            <a:chExt cx="903815" cy="1164637"/>
          </a:xfrm>
        </p:grpSpPr>
        <p:sp>
          <p:nvSpPr>
            <p:cNvPr id="216" name="Google Shape;216;p4"/>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4"/>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4"/>
          <p:cNvGrpSpPr/>
          <p:nvPr/>
        </p:nvGrpSpPr>
        <p:grpSpPr>
          <a:xfrm>
            <a:off x="679672" y="2365289"/>
            <a:ext cx="4313734" cy="1615910"/>
            <a:chOff x="0" y="-38100"/>
            <a:chExt cx="770695" cy="241729"/>
          </a:xfrm>
        </p:grpSpPr>
        <p:sp>
          <p:nvSpPr>
            <p:cNvPr id="219" name="Google Shape;219;p4"/>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4"/>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4"/>
          <p:cNvSpPr txBox="1"/>
          <p:nvPr/>
        </p:nvSpPr>
        <p:spPr>
          <a:xfrm>
            <a:off x="1434451" y="361150"/>
            <a:ext cx="3683400" cy="1554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10099" u="none" cap="none" strike="noStrike">
                <a:solidFill>
                  <a:srgbClr val="000000"/>
                </a:solidFill>
                <a:latin typeface="Impact"/>
                <a:ea typeface="Impact"/>
                <a:cs typeface="Impact"/>
                <a:sym typeface="Impact"/>
              </a:rPr>
              <a:t>RF</a:t>
            </a:r>
            <a:r>
              <a:rPr lang="en-US" sz="10099">
                <a:latin typeface="Impact"/>
                <a:ea typeface="Impact"/>
                <a:cs typeface="Impact"/>
                <a:sym typeface="Impact"/>
              </a:rPr>
              <a:t>87</a:t>
            </a:r>
            <a:endParaRPr b="0" i="0" sz="2000" u="none" cap="none" strike="noStrike">
              <a:solidFill>
                <a:srgbClr val="000000"/>
              </a:solidFill>
              <a:latin typeface="Arial"/>
              <a:ea typeface="Arial"/>
              <a:cs typeface="Arial"/>
              <a:sym typeface="Arial"/>
            </a:endParaRPr>
          </a:p>
        </p:txBody>
      </p:sp>
      <p:sp>
        <p:nvSpPr>
          <p:cNvPr id="222" name="Google Shape;222;p4"/>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EFFICIENCY</a:t>
            </a:r>
            <a:endParaRPr b="0" i="0" sz="1400" u="none" cap="none" strike="noStrike">
              <a:solidFill>
                <a:srgbClr val="000000"/>
              </a:solidFill>
              <a:latin typeface="Arial"/>
              <a:ea typeface="Arial"/>
              <a:cs typeface="Arial"/>
              <a:sym typeface="Arial"/>
            </a:endParaRPr>
          </a:p>
        </p:txBody>
      </p:sp>
      <p:grpSp>
        <p:nvGrpSpPr>
          <p:cNvPr id="223" name="Google Shape;223;p4"/>
          <p:cNvGrpSpPr/>
          <p:nvPr/>
        </p:nvGrpSpPr>
        <p:grpSpPr>
          <a:xfrm>
            <a:off x="12565518" y="-2454676"/>
            <a:ext cx="7186254" cy="7186254"/>
            <a:chOff x="0" y="0"/>
            <a:chExt cx="812800" cy="812800"/>
          </a:xfrm>
        </p:grpSpPr>
        <p:sp>
          <p:nvSpPr>
            <p:cNvPr id="224" name="Google Shape;22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4"/>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4"/>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4"/>
          <p:cNvSpPr/>
          <p:nvPr/>
        </p:nvSpPr>
        <p:spPr>
          <a:xfrm>
            <a:off x="11146100" y="3094375"/>
            <a:ext cx="6898369" cy="6505751"/>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29" name="Google Shape;229;p4"/>
          <p:cNvGrpSpPr/>
          <p:nvPr/>
        </p:nvGrpSpPr>
        <p:grpSpPr>
          <a:xfrm>
            <a:off x="11806650" y="2215492"/>
            <a:ext cx="5577296" cy="1353006"/>
            <a:chOff x="0" y="-38100"/>
            <a:chExt cx="996444" cy="241729"/>
          </a:xfrm>
        </p:grpSpPr>
        <p:sp>
          <p:nvSpPr>
            <p:cNvPr id="230" name="Google Shape;230;p4"/>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4"/>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2" name="Google Shape;232;p4"/>
          <p:cNvGrpSpPr/>
          <p:nvPr/>
        </p:nvGrpSpPr>
        <p:grpSpPr>
          <a:xfrm>
            <a:off x="5863200" y="3094300"/>
            <a:ext cx="5058833" cy="6505196"/>
            <a:chOff x="0" y="-38100"/>
            <a:chExt cx="903815" cy="1164637"/>
          </a:xfrm>
        </p:grpSpPr>
        <p:sp>
          <p:nvSpPr>
            <p:cNvPr id="233" name="Google Shape;233;p4"/>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4"/>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4"/>
          <p:cNvGrpSpPr/>
          <p:nvPr/>
        </p:nvGrpSpPr>
        <p:grpSpPr>
          <a:xfrm>
            <a:off x="6235759" y="2496742"/>
            <a:ext cx="4313727" cy="1353005"/>
            <a:chOff x="0" y="-38100"/>
            <a:chExt cx="770695" cy="241729"/>
          </a:xfrm>
        </p:grpSpPr>
        <p:sp>
          <p:nvSpPr>
            <p:cNvPr id="236" name="Google Shape;236;p4"/>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4"/>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4"/>
          <p:cNvSpPr txBox="1"/>
          <p:nvPr/>
        </p:nvSpPr>
        <p:spPr>
          <a:xfrm>
            <a:off x="823698" y="3001212"/>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REQUERIMIENTO</a:t>
            </a:r>
            <a:endParaRPr b="0" i="0" sz="1400" u="none" cap="none" strike="noStrike">
              <a:solidFill>
                <a:srgbClr val="000000"/>
              </a:solidFill>
              <a:latin typeface="Arial"/>
              <a:ea typeface="Arial"/>
              <a:cs typeface="Arial"/>
              <a:sym typeface="Arial"/>
            </a:endParaRPr>
          </a:p>
        </p:txBody>
      </p:sp>
      <p:sp>
        <p:nvSpPr>
          <p:cNvPr id="239" name="Google Shape;239;p4"/>
          <p:cNvSpPr txBox="1"/>
          <p:nvPr/>
        </p:nvSpPr>
        <p:spPr>
          <a:xfrm>
            <a:off x="12831987" y="425294"/>
            <a:ext cx="5212500" cy="1718700"/>
          </a:xfrm>
          <a:prstGeom prst="rect">
            <a:avLst/>
          </a:prstGeom>
          <a:noFill/>
          <a:ln>
            <a:noFill/>
          </a:ln>
        </p:spPr>
        <p:txBody>
          <a:bodyPr anchorCtr="0" anchor="t" bIns="0" lIns="0" spcFirstLastPara="1" rIns="0" wrap="square" tIns="0">
            <a:spAutoFit/>
          </a:bodyPr>
          <a:lstStyle/>
          <a:p>
            <a:pPr indent="0" lvl="0" marL="0" rtl="0" algn="l">
              <a:spcBef>
                <a:spcPts val="400"/>
              </a:spcBef>
              <a:spcAft>
                <a:spcPts val="0"/>
              </a:spcAft>
              <a:buClr>
                <a:schemeClr val="dk1"/>
              </a:buClr>
              <a:buSzPts val="1100"/>
              <a:buFont typeface="Arial"/>
              <a:buNone/>
            </a:pPr>
            <a:r>
              <a:rPr b="1" lang="en-US" sz="2500">
                <a:solidFill>
                  <a:srgbClr val="545454"/>
                </a:solidFill>
                <a:latin typeface="Inter"/>
                <a:ea typeface="Inter"/>
                <a:cs typeface="Inter"/>
                <a:sym typeface="Inter"/>
              </a:rPr>
              <a:t>C</a:t>
            </a:r>
            <a:r>
              <a:rPr b="1" lang="en-US" sz="2500">
                <a:solidFill>
                  <a:srgbClr val="545454"/>
                </a:solidFill>
                <a:latin typeface="Inter"/>
                <a:ea typeface="Inter"/>
                <a:cs typeface="Inter"/>
                <a:sym typeface="Inter"/>
              </a:rPr>
              <a:t>iclo documental de la liquidación de remuneración.</a:t>
            </a:r>
            <a:endParaRPr b="1" sz="2500">
              <a:solidFill>
                <a:srgbClr val="545454"/>
              </a:solidFill>
              <a:latin typeface="Inter"/>
              <a:ea typeface="Inter"/>
              <a:cs typeface="Inter"/>
              <a:sym typeface="Inter"/>
            </a:endParaRPr>
          </a:p>
          <a:p>
            <a:pPr indent="0" lvl="0" marL="0" marR="0" rtl="0" algn="just">
              <a:lnSpc>
                <a:spcPct val="140000"/>
              </a:lnSpc>
              <a:spcBef>
                <a:spcPts val="20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Corresponde al UR  6.11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t/>
            </a:r>
            <a:endParaRPr b="1" i="0" sz="2500" u="none" cap="none" strike="noStrike">
              <a:solidFill>
                <a:srgbClr val="545454"/>
              </a:solidFill>
              <a:latin typeface="Inter Medium"/>
              <a:ea typeface="Inter Medium"/>
              <a:cs typeface="Inter Medium"/>
              <a:sym typeface="Inter Medium"/>
            </a:endParaRPr>
          </a:p>
        </p:txBody>
      </p:sp>
      <p:sp>
        <p:nvSpPr>
          <p:cNvPr id="240" name="Google Shape;240;p4"/>
          <p:cNvSpPr txBox="1"/>
          <p:nvPr/>
        </p:nvSpPr>
        <p:spPr>
          <a:xfrm>
            <a:off x="11791815" y="2663293"/>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CASO DE USO</a:t>
            </a:r>
            <a:endParaRPr b="0" i="0" sz="1400" u="none" cap="none" strike="noStrike">
              <a:solidFill>
                <a:srgbClr val="000000"/>
              </a:solidFill>
              <a:latin typeface="Arial"/>
              <a:ea typeface="Arial"/>
              <a:cs typeface="Arial"/>
              <a:sym typeface="Arial"/>
            </a:endParaRPr>
          </a:p>
        </p:txBody>
      </p:sp>
      <p:sp>
        <p:nvSpPr>
          <p:cNvPr id="241" name="Google Shape;241;p4"/>
          <p:cNvSpPr txBox="1"/>
          <p:nvPr/>
        </p:nvSpPr>
        <p:spPr>
          <a:xfrm>
            <a:off x="6409377" y="3001204"/>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UR </a:t>
            </a:r>
            <a:r>
              <a:rPr b="1" lang="en-US" sz="3685">
                <a:solidFill>
                  <a:srgbClr val="FFFFFF"/>
                </a:solidFill>
                <a:latin typeface="Poppins Black"/>
                <a:ea typeface="Poppins Black"/>
                <a:cs typeface="Poppins Black"/>
                <a:sym typeface="Poppins Black"/>
              </a:rPr>
              <a:t>6.12</a:t>
            </a:r>
            <a:endParaRPr b="0" i="0" sz="1400" u="none" cap="none" strike="noStrike">
              <a:solidFill>
                <a:srgbClr val="000000"/>
              </a:solidFill>
              <a:latin typeface="Arial"/>
              <a:ea typeface="Arial"/>
              <a:cs typeface="Arial"/>
              <a:sym typeface="Arial"/>
            </a:endParaRPr>
          </a:p>
        </p:txBody>
      </p:sp>
      <p:sp>
        <p:nvSpPr>
          <p:cNvPr id="242" name="Google Shape;242;p4"/>
          <p:cNvSpPr txBox="1"/>
          <p:nvPr/>
        </p:nvSpPr>
        <p:spPr>
          <a:xfrm>
            <a:off x="316721" y="4259479"/>
            <a:ext cx="5212500" cy="50964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b="1" lang="en-US" sz="1700">
                <a:solidFill>
                  <a:srgbClr val="FEFEFE"/>
                </a:solidFill>
                <a:latin typeface="Inter"/>
                <a:ea typeface="Inter"/>
                <a:cs typeface="Inter"/>
                <a:sym typeface="Inter"/>
              </a:rPr>
              <a:t>El sistema debe permitir que los usuarios autorizados consulten el historial de liquidaciones oficiales mediante criterios de trabajador y período, mostrando cronológicamente las versiones vigentes y las versiones reemplazadas que correspondan. Gerencia, Contador y Secretaría deben acceder conforme a sus permisos a la documentación oficial histórica. Las restricciones de descarga y reenvío deben respetar la vigencia de la versión y el perfil del actor.</a:t>
            </a:r>
            <a:endParaRPr b="1" i="0" sz="2400" u="none" cap="none" strike="noStrike">
              <a:solidFill>
                <a:srgbClr val="FEFEFE"/>
              </a:solidFill>
              <a:latin typeface="Inter"/>
              <a:ea typeface="Inter"/>
              <a:cs typeface="Inter"/>
              <a:sym typeface="Inter"/>
            </a:endParaRPr>
          </a:p>
          <a:p>
            <a:pPr indent="0" lvl="0" marL="0" marR="0" rtl="0" algn="just">
              <a:lnSpc>
                <a:spcPct val="140000"/>
              </a:lnSpc>
              <a:spcBef>
                <a:spcPts val="600"/>
              </a:spcBef>
              <a:spcAft>
                <a:spcPts val="0"/>
              </a:spcAft>
              <a:buClr>
                <a:srgbClr val="000000"/>
              </a:buClr>
              <a:buSzPts val="1900"/>
              <a:buFont typeface="Arial"/>
              <a:buNone/>
            </a:pPr>
            <a:r>
              <a:t/>
            </a:r>
            <a:endParaRPr b="0" i="0" sz="1900" u="none" cap="none" strike="noStrike">
              <a:solidFill>
                <a:srgbClr val="FFFFFF"/>
              </a:solidFill>
              <a:latin typeface="Inter"/>
              <a:ea typeface="Inter"/>
              <a:cs typeface="Inter"/>
              <a:sym typeface="Inter"/>
            </a:endParaRPr>
          </a:p>
          <a:p>
            <a:pPr indent="0" lvl="0" marL="0" marR="0" rtl="0" algn="just">
              <a:lnSpc>
                <a:spcPct val="125263"/>
              </a:lnSpc>
              <a:spcBef>
                <a:spcPts val="0"/>
              </a:spcBef>
              <a:spcAft>
                <a:spcPts val="0"/>
              </a:spcAft>
              <a:buClr>
                <a:srgbClr val="000000"/>
              </a:buClr>
              <a:buSzPts val="1900"/>
              <a:buFont typeface="Arial"/>
              <a:buNone/>
            </a:pPr>
            <a:r>
              <a:t/>
            </a:r>
            <a:endParaRPr b="0" i="0" sz="1900" u="none" cap="none" strike="noStrike">
              <a:solidFill>
                <a:srgbClr val="FFFFFF"/>
              </a:solidFill>
              <a:latin typeface="Inter"/>
              <a:ea typeface="Inter"/>
              <a:cs typeface="Inter"/>
              <a:sym typeface="Inter"/>
            </a:endParaRPr>
          </a:p>
        </p:txBody>
      </p:sp>
      <p:sp>
        <p:nvSpPr>
          <p:cNvPr id="243" name="Google Shape;243;p4"/>
          <p:cNvSpPr txBox="1"/>
          <p:nvPr/>
        </p:nvSpPr>
        <p:spPr>
          <a:xfrm>
            <a:off x="6235784" y="4069692"/>
            <a:ext cx="4313700" cy="4657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lang="en-US" sz="1700">
                <a:solidFill>
                  <a:srgbClr val="FFFFFF"/>
                </a:solidFill>
                <a:latin typeface="Inter Medium"/>
                <a:ea typeface="Inter Medium"/>
                <a:cs typeface="Inter Medium"/>
                <a:sym typeface="Inter Medium"/>
              </a:rPr>
              <a:t>Como usuario autorizado, quiero consultar el historial de liquidaciones oficiales por trabajador y período para revisar cronológicamente las versiones vigentes y reemplazadas conforme a mis permisos.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Necesidad: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Prioridad: </a:t>
            </a:r>
            <a:r>
              <a:rPr b="1" lang="en-US" sz="1700">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Estabilidad: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Claridad: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Verificalidad: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Fuente: 1</a:t>
            </a:r>
            <a:endParaRPr b="0" i="0" sz="1400" u="none" cap="none" strike="noStrike">
              <a:solidFill>
                <a:srgbClr val="000000"/>
              </a:solidFill>
              <a:latin typeface="Arial"/>
              <a:ea typeface="Arial"/>
              <a:cs typeface="Arial"/>
              <a:sym typeface="Arial"/>
            </a:endParaRPr>
          </a:p>
        </p:txBody>
      </p:sp>
      <p:pic>
        <p:nvPicPr>
          <p:cNvPr id="244" name="Google Shape;244;p4" title="Captura de pantalla 2026-10-04 180852.png"/>
          <p:cNvPicPr preferRelativeResize="0"/>
          <p:nvPr/>
        </p:nvPicPr>
        <p:blipFill rotWithShape="1">
          <a:blip r:embed="rId3">
            <a:alphaModFix/>
          </a:blip>
          <a:srcRect b="0" l="744" r="0" t="695"/>
          <a:stretch/>
        </p:blipFill>
        <p:spPr>
          <a:xfrm>
            <a:off x="11271363" y="3640004"/>
            <a:ext cx="6650108" cy="5869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52" name="Shape 252"/>
        <p:cNvGrpSpPr/>
        <p:nvPr/>
      </p:nvGrpSpPr>
      <p:grpSpPr>
        <a:xfrm>
          <a:off x="0" y="0"/>
          <a:ext cx="0" cy="0"/>
          <a:chOff x="0" y="0"/>
          <a:chExt cx="0" cy="0"/>
        </a:xfrm>
      </p:grpSpPr>
      <p:grpSp>
        <p:nvGrpSpPr>
          <p:cNvPr id="253" name="Google Shape;253;h41dc49bcd25866c6_0_11"/>
          <p:cNvGrpSpPr/>
          <p:nvPr/>
        </p:nvGrpSpPr>
        <p:grpSpPr>
          <a:xfrm>
            <a:off x="12565518" y="-2454676"/>
            <a:ext cx="7186290" cy="7186290"/>
            <a:chOff x="0" y="0"/>
            <a:chExt cx="812800" cy="812800"/>
          </a:xfrm>
        </p:grpSpPr>
        <p:sp>
          <p:nvSpPr>
            <p:cNvPr id="254" name="Google Shape;254;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h41dc49bcd25866c6_0_11"/>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h41dc49bcd25866c6_0_11"/>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58" name="Google Shape;258;h41dc49bcd25866c6_0_11"/>
          <p:cNvGrpSpPr/>
          <p:nvPr/>
        </p:nvGrpSpPr>
        <p:grpSpPr>
          <a:xfrm>
            <a:off x="15705644" y="1606447"/>
            <a:ext cx="234642" cy="8374443"/>
            <a:chOff x="0" y="-38100"/>
            <a:chExt cx="61800" cy="2205600"/>
          </a:xfrm>
        </p:grpSpPr>
        <p:sp>
          <p:nvSpPr>
            <p:cNvPr id="259" name="Google Shape;259;h41dc49bcd25866c6_0_11"/>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h41dc49bcd25866c6_0_11"/>
            <p:cNvSpPr txBox="1"/>
            <p:nvPr/>
          </p:nvSpPr>
          <p:spPr>
            <a:xfrm>
              <a:off x="0" y="-38100"/>
              <a:ext cx="618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h41dc49bcd25866c6_0_11"/>
          <p:cNvGrpSpPr/>
          <p:nvPr/>
        </p:nvGrpSpPr>
        <p:grpSpPr>
          <a:xfrm>
            <a:off x="-231633" y="-1921513"/>
            <a:ext cx="3860068" cy="3860068"/>
            <a:chOff x="0" y="0"/>
            <a:chExt cx="812800" cy="812800"/>
          </a:xfrm>
        </p:grpSpPr>
        <p:sp>
          <p:nvSpPr>
            <p:cNvPr id="262" name="Google Shape;262;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h41dc49bcd25866c6_0_11"/>
          <p:cNvGrpSpPr/>
          <p:nvPr/>
        </p:nvGrpSpPr>
        <p:grpSpPr>
          <a:xfrm>
            <a:off x="-450373" y="-348365"/>
            <a:ext cx="2149772" cy="10636456"/>
            <a:chOff x="0" y="-38100"/>
            <a:chExt cx="229500" cy="1135500"/>
          </a:xfrm>
        </p:grpSpPr>
        <p:sp>
          <p:nvSpPr>
            <p:cNvPr id="265" name="Google Shape;265;h41dc49bcd25866c6_0_11"/>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h41dc49bcd25866c6_0_11"/>
            <p:cNvSpPr txBox="1"/>
            <p:nvPr/>
          </p:nvSpPr>
          <p:spPr>
            <a:xfrm>
              <a:off x="0" y="-38100"/>
              <a:ext cx="229500" cy="1135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h41dc49bcd25866c6_0_11"/>
          <p:cNvGrpSpPr/>
          <p:nvPr/>
        </p:nvGrpSpPr>
        <p:grpSpPr>
          <a:xfrm>
            <a:off x="9547785" y="7287542"/>
            <a:ext cx="5386344" cy="5386344"/>
            <a:chOff x="0" y="0"/>
            <a:chExt cx="812800" cy="812800"/>
          </a:xfrm>
        </p:grpSpPr>
        <p:sp>
          <p:nvSpPr>
            <p:cNvPr id="268" name="Google Shape;268;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0" name="Google Shape;270;h41dc49bcd25866c6_0_11"/>
          <p:cNvSpPr txBox="1"/>
          <p:nvPr/>
        </p:nvSpPr>
        <p:spPr>
          <a:xfrm>
            <a:off x="1997254" y="511131"/>
            <a:ext cx="5081100" cy="6418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87</a:t>
            </a:r>
            <a:r>
              <a:rPr b="0" i="0" lang="en-US" sz="9499" u="none" cap="none" strike="noStrike">
                <a:solidFill>
                  <a:srgbClr val="000000"/>
                </a:solidFill>
                <a:latin typeface="Impact"/>
                <a:ea typeface="Impact"/>
                <a:cs typeface="Impact"/>
                <a:sym typeface="Impact"/>
              </a:rPr>
              <a:t> - DIAGRAMACASO DE USO </a:t>
            </a:r>
            <a:r>
              <a:rPr lang="en-US" sz="9499">
                <a:latin typeface="Impact"/>
                <a:ea typeface="Impact"/>
                <a:cs typeface="Impact"/>
                <a:sym typeface="Impact"/>
              </a:rPr>
              <a:t>104</a:t>
            </a:r>
            <a:endParaRPr b="0" i="0" sz="1400" u="none" cap="none" strike="noStrike">
              <a:solidFill>
                <a:srgbClr val="000000"/>
              </a:solidFill>
              <a:latin typeface="Arial"/>
              <a:ea typeface="Arial"/>
              <a:cs typeface="Arial"/>
              <a:sym typeface="Arial"/>
            </a:endParaRPr>
          </a:p>
        </p:txBody>
      </p:sp>
      <p:pic>
        <p:nvPicPr>
          <p:cNvPr id="271" name="Google Shape;271;h41dc49bcd25866c6_0_11" title="CU104 - Consultando historial de liquidaciones (1).png"/>
          <p:cNvPicPr preferRelativeResize="0"/>
          <p:nvPr/>
        </p:nvPicPr>
        <p:blipFill>
          <a:blip r:embed="rId3">
            <a:alphaModFix/>
          </a:blip>
          <a:stretch>
            <a:fillRect/>
          </a:stretch>
        </p:blipFill>
        <p:spPr>
          <a:xfrm>
            <a:off x="8980250" y="390701"/>
            <a:ext cx="5262975" cy="9197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79" name="Shape 279"/>
        <p:cNvGrpSpPr/>
        <p:nvPr/>
      </p:nvGrpSpPr>
      <p:grpSpPr>
        <a:xfrm>
          <a:off x="0" y="0"/>
          <a:ext cx="0" cy="0"/>
          <a:chOff x="0" y="0"/>
          <a:chExt cx="0" cy="0"/>
        </a:xfrm>
      </p:grpSpPr>
      <p:grpSp>
        <p:nvGrpSpPr>
          <p:cNvPr id="280" name="Google Shape;280;p6"/>
          <p:cNvGrpSpPr/>
          <p:nvPr/>
        </p:nvGrpSpPr>
        <p:grpSpPr>
          <a:xfrm>
            <a:off x="-29169" y="8086614"/>
            <a:ext cx="18317290" cy="2200398"/>
            <a:chOff x="0" y="-38100"/>
            <a:chExt cx="4824275" cy="579525"/>
          </a:xfrm>
        </p:grpSpPr>
        <p:sp>
          <p:nvSpPr>
            <p:cNvPr id="281" name="Google Shape;281;p6"/>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6"/>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6"/>
          <p:cNvGrpSpPr/>
          <p:nvPr/>
        </p:nvGrpSpPr>
        <p:grpSpPr>
          <a:xfrm>
            <a:off x="12565518" y="-2454676"/>
            <a:ext cx="7186290" cy="7186290"/>
            <a:chOff x="0" y="0"/>
            <a:chExt cx="812800" cy="812800"/>
          </a:xfrm>
        </p:grpSpPr>
        <p:sp>
          <p:nvSpPr>
            <p:cNvPr id="284" name="Google Shape;284;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6"/>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6"/>
          <p:cNvSpPr txBox="1"/>
          <p:nvPr/>
        </p:nvSpPr>
        <p:spPr>
          <a:xfrm>
            <a:off x="522598" y="136275"/>
            <a:ext cx="2052900" cy="969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6299"/>
              <a:buFont typeface="Arial"/>
              <a:buNone/>
            </a:pPr>
            <a:r>
              <a:rPr b="0" i="0" lang="en-US" sz="6299" u="none" cap="none" strike="noStrike">
                <a:solidFill>
                  <a:srgbClr val="000000"/>
                </a:solidFill>
                <a:latin typeface="Impact"/>
                <a:ea typeface="Impact"/>
                <a:cs typeface="Impact"/>
                <a:sym typeface="Impact"/>
              </a:rPr>
              <a:t>RF</a:t>
            </a:r>
            <a:r>
              <a:rPr lang="en-US" sz="6299">
                <a:latin typeface="Impact"/>
                <a:ea typeface="Impact"/>
                <a:cs typeface="Impact"/>
                <a:sym typeface="Impact"/>
              </a:rPr>
              <a:t>87</a:t>
            </a:r>
            <a:endParaRPr b="0" i="0" sz="100" u="none" cap="none" strike="noStrike">
              <a:solidFill>
                <a:srgbClr val="000000"/>
              </a:solidFill>
              <a:latin typeface="Arial"/>
              <a:ea typeface="Arial"/>
              <a:cs typeface="Arial"/>
              <a:sym typeface="Arial"/>
            </a:endParaRPr>
          </a:p>
        </p:txBody>
      </p:sp>
      <p:grpSp>
        <p:nvGrpSpPr>
          <p:cNvPr id="288" name="Google Shape;288;p6"/>
          <p:cNvGrpSpPr/>
          <p:nvPr/>
        </p:nvGrpSpPr>
        <p:grpSpPr>
          <a:xfrm>
            <a:off x="-148686" y="-555477"/>
            <a:ext cx="2052808" cy="2052808"/>
            <a:chOff x="0" y="0"/>
            <a:chExt cx="812800" cy="812800"/>
          </a:xfrm>
        </p:grpSpPr>
        <p:sp>
          <p:nvSpPr>
            <p:cNvPr id="289" name="Google Shape;28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13075" lIns="26100" spcFirstLastPara="1" rIns="26100" wrap="square" tIns="13075">
              <a:noAutofit/>
            </a:bodyPr>
            <a:lstStyle/>
            <a:p>
              <a:pPr indent="0" lvl="0" marL="0" marR="0" rtl="0" algn="l">
                <a:lnSpc>
                  <a:spcPct val="100000"/>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sp>
          <p:nvSpPr>
            <p:cNvPr id="290" name="Google Shape;290;p6"/>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grpSp>
      <p:sp>
        <p:nvSpPr>
          <p:cNvPr id="291" name="Google Shape;291;p6"/>
          <p:cNvSpPr txBox="1"/>
          <p:nvPr/>
        </p:nvSpPr>
        <p:spPr>
          <a:xfrm>
            <a:off x="2179500" y="60397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SECUENCIA CU</a:t>
            </a:r>
            <a:r>
              <a:rPr lang="en-US" sz="9499">
                <a:latin typeface="Impact"/>
                <a:ea typeface="Impact"/>
                <a:cs typeface="Impact"/>
                <a:sym typeface="Impact"/>
              </a:rPr>
              <a:t>104</a:t>
            </a:r>
            <a:endParaRPr b="0" i="0" sz="1400" u="none" cap="none" strike="noStrike">
              <a:solidFill>
                <a:srgbClr val="000000"/>
              </a:solidFill>
              <a:latin typeface="Arial"/>
              <a:ea typeface="Arial"/>
              <a:cs typeface="Arial"/>
              <a:sym typeface="Arial"/>
            </a:endParaRPr>
          </a:p>
        </p:txBody>
      </p:sp>
      <p:pic>
        <p:nvPicPr>
          <p:cNvPr id="292" name="Google Shape;292;p6" title="CU104-Consultando historial de liquidaciones.png"/>
          <p:cNvPicPr preferRelativeResize="0"/>
          <p:nvPr/>
        </p:nvPicPr>
        <p:blipFill>
          <a:blip r:embed="rId3">
            <a:alphaModFix/>
          </a:blip>
          <a:stretch>
            <a:fillRect/>
          </a:stretch>
        </p:blipFill>
        <p:spPr>
          <a:xfrm>
            <a:off x="1729175" y="1970725"/>
            <a:ext cx="13929001" cy="63455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00" name="Shape 300"/>
        <p:cNvGrpSpPr/>
        <p:nvPr/>
      </p:nvGrpSpPr>
      <p:grpSpPr>
        <a:xfrm>
          <a:off x="0" y="0"/>
          <a:ext cx="0" cy="0"/>
          <a:chOff x="0" y="0"/>
          <a:chExt cx="0" cy="0"/>
        </a:xfrm>
      </p:grpSpPr>
      <p:grpSp>
        <p:nvGrpSpPr>
          <p:cNvPr id="301" name="Google Shape;301;p7"/>
          <p:cNvGrpSpPr/>
          <p:nvPr/>
        </p:nvGrpSpPr>
        <p:grpSpPr>
          <a:xfrm>
            <a:off x="-29169" y="8086615"/>
            <a:ext cx="18317169" cy="2200385"/>
            <a:chOff x="0" y="-38100"/>
            <a:chExt cx="4824275" cy="579525"/>
          </a:xfrm>
        </p:grpSpPr>
        <p:sp>
          <p:nvSpPr>
            <p:cNvPr id="302" name="Google Shape;302;p7"/>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7"/>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7"/>
          <p:cNvGrpSpPr/>
          <p:nvPr/>
        </p:nvGrpSpPr>
        <p:grpSpPr>
          <a:xfrm>
            <a:off x="323050" y="1521574"/>
            <a:ext cx="5400023" cy="8091432"/>
            <a:chOff x="0" y="-38100"/>
            <a:chExt cx="903815" cy="1164637"/>
          </a:xfrm>
        </p:grpSpPr>
        <p:sp>
          <p:nvSpPr>
            <p:cNvPr id="305" name="Google Shape;305;p7"/>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7"/>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7"/>
          <p:cNvGrpSpPr/>
          <p:nvPr/>
        </p:nvGrpSpPr>
        <p:grpSpPr>
          <a:xfrm>
            <a:off x="878082" y="1104480"/>
            <a:ext cx="4313734" cy="1353006"/>
            <a:chOff x="0" y="-38100"/>
            <a:chExt cx="770695" cy="241729"/>
          </a:xfrm>
        </p:grpSpPr>
        <p:sp>
          <p:nvSpPr>
            <p:cNvPr id="308" name="Google Shape;308;p7"/>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7"/>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7"/>
          <p:cNvSpPr txBox="1"/>
          <p:nvPr/>
        </p:nvSpPr>
        <p:spPr>
          <a:xfrm>
            <a:off x="5863190" y="109750"/>
            <a:ext cx="27309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89</a:t>
            </a:r>
            <a:endParaRPr b="0" i="0" sz="1400" u="none" cap="none" strike="noStrike">
              <a:solidFill>
                <a:srgbClr val="000000"/>
              </a:solidFill>
              <a:latin typeface="Arial"/>
              <a:ea typeface="Arial"/>
              <a:cs typeface="Arial"/>
              <a:sym typeface="Arial"/>
            </a:endParaRPr>
          </a:p>
        </p:txBody>
      </p:sp>
      <p:sp>
        <p:nvSpPr>
          <p:cNvPr id="311" name="Google Shape;311;p7"/>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EFFICIENCY</a:t>
            </a:r>
            <a:endParaRPr b="0" i="0" sz="1400" u="none" cap="none" strike="noStrike">
              <a:solidFill>
                <a:srgbClr val="000000"/>
              </a:solidFill>
              <a:latin typeface="Arial"/>
              <a:ea typeface="Arial"/>
              <a:cs typeface="Arial"/>
              <a:sym typeface="Arial"/>
            </a:endParaRPr>
          </a:p>
        </p:txBody>
      </p:sp>
      <p:grpSp>
        <p:nvGrpSpPr>
          <p:cNvPr id="312" name="Google Shape;312;p7"/>
          <p:cNvGrpSpPr/>
          <p:nvPr/>
        </p:nvGrpSpPr>
        <p:grpSpPr>
          <a:xfrm>
            <a:off x="12565518" y="-2454676"/>
            <a:ext cx="7186254" cy="7186254"/>
            <a:chOff x="0" y="0"/>
            <a:chExt cx="812800" cy="812800"/>
          </a:xfrm>
        </p:grpSpPr>
        <p:sp>
          <p:nvSpPr>
            <p:cNvPr id="313" name="Google Shape;31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7"/>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7"/>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17" name="Google Shape;317;p7"/>
          <p:cNvGrpSpPr/>
          <p:nvPr/>
        </p:nvGrpSpPr>
        <p:grpSpPr>
          <a:xfrm>
            <a:off x="11159725" y="1362799"/>
            <a:ext cx="6732944" cy="8250289"/>
            <a:chOff x="0" y="-38100"/>
            <a:chExt cx="1129954" cy="1164637"/>
          </a:xfrm>
        </p:grpSpPr>
        <p:sp>
          <p:nvSpPr>
            <p:cNvPr id="318" name="Google Shape;318;p7"/>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7"/>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7"/>
          <p:cNvGrpSpPr/>
          <p:nvPr/>
        </p:nvGrpSpPr>
        <p:grpSpPr>
          <a:xfrm>
            <a:off x="11817526" y="461942"/>
            <a:ext cx="5577296" cy="1353006"/>
            <a:chOff x="0" y="-38100"/>
            <a:chExt cx="996444" cy="241729"/>
          </a:xfrm>
        </p:grpSpPr>
        <p:sp>
          <p:nvSpPr>
            <p:cNvPr id="321" name="Google Shape;321;p7"/>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7"/>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3" name="Google Shape;323;p7"/>
          <p:cNvGrpSpPr/>
          <p:nvPr/>
        </p:nvGrpSpPr>
        <p:grpSpPr>
          <a:xfrm>
            <a:off x="5863211" y="3094308"/>
            <a:ext cx="5058822" cy="6518695"/>
            <a:chOff x="0" y="-38100"/>
            <a:chExt cx="903815" cy="1164637"/>
          </a:xfrm>
        </p:grpSpPr>
        <p:sp>
          <p:nvSpPr>
            <p:cNvPr id="324" name="Google Shape;324;p7"/>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7"/>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7"/>
          <p:cNvGrpSpPr/>
          <p:nvPr/>
        </p:nvGrpSpPr>
        <p:grpSpPr>
          <a:xfrm>
            <a:off x="6235759" y="2496742"/>
            <a:ext cx="4313727" cy="1353005"/>
            <a:chOff x="0" y="-38100"/>
            <a:chExt cx="770695" cy="241729"/>
          </a:xfrm>
        </p:grpSpPr>
        <p:sp>
          <p:nvSpPr>
            <p:cNvPr id="327" name="Google Shape;327;p7"/>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7"/>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9" name="Google Shape;329;p7"/>
          <p:cNvSpPr txBox="1"/>
          <p:nvPr/>
        </p:nvSpPr>
        <p:spPr>
          <a:xfrm>
            <a:off x="1022111" y="1571956"/>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REQUERIMIENTO</a:t>
            </a:r>
            <a:endParaRPr b="0" i="0" sz="1400" u="none" cap="none" strike="noStrike">
              <a:solidFill>
                <a:srgbClr val="000000"/>
              </a:solidFill>
              <a:latin typeface="Arial"/>
              <a:ea typeface="Arial"/>
              <a:cs typeface="Arial"/>
              <a:sym typeface="Arial"/>
            </a:endParaRPr>
          </a:p>
        </p:txBody>
      </p:sp>
      <p:sp>
        <p:nvSpPr>
          <p:cNvPr id="330" name="Google Shape;330;p7"/>
          <p:cNvSpPr txBox="1"/>
          <p:nvPr/>
        </p:nvSpPr>
        <p:spPr>
          <a:xfrm>
            <a:off x="7323000" y="1521575"/>
            <a:ext cx="3642600" cy="1462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1" lang="en-US" sz="2500">
                <a:solidFill>
                  <a:srgbClr val="545454"/>
                </a:solidFill>
                <a:latin typeface="Inter Medium"/>
                <a:ea typeface="Inter Medium"/>
                <a:cs typeface="Inter Medium"/>
                <a:sym typeface="Inter Medium"/>
              </a:rPr>
              <a:t>Análisis</a:t>
            </a:r>
            <a:r>
              <a:rPr b="1" lang="en-US" sz="2500">
                <a:solidFill>
                  <a:srgbClr val="545454"/>
                </a:solidFill>
                <a:latin typeface="Inter Medium"/>
                <a:ea typeface="Inter Medium"/>
                <a:cs typeface="Inter Medium"/>
                <a:sym typeface="Inter Medium"/>
              </a:rPr>
              <a:t> de Ventas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Corresponde al UR </a:t>
            </a:r>
            <a:r>
              <a:rPr b="1" lang="en-US" sz="2500">
                <a:solidFill>
                  <a:srgbClr val="545454"/>
                </a:solidFill>
                <a:latin typeface="Inter Medium"/>
                <a:ea typeface="Inter Medium"/>
                <a:cs typeface="Inter Medium"/>
                <a:sym typeface="Inter Medium"/>
              </a:rPr>
              <a:t>7.2</a:t>
            </a:r>
            <a:r>
              <a:rPr b="1" i="0" lang="en-US" sz="2500" u="none" cap="none" strike="noStrike">
                <a:solidFill>
                  <a:srgbClr val="545454"/>
                </a:solidFill>
                <a:latin typeface="Inter Medium"/>
                <a:ea typeface="Inter Medium"/>
                <a:cs typeface="Inter Medium"/>
                <a:sym typeface="Inter Medium"/>
              </a:rPr>
              <a:t> </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t/>
            </a:r>
            <a:endParaRPr b="1" i="0" sz="2500" u="none" cap="none" strike="noStrike">
              <a:solidFill>
                <a:srgbClr val="545454"/>
              </a:solidFill>
              <a:latin typeface="Inter Medium"/>
              <a:ea typeface="Inter Medium"/>
              <a:cs typeface="Inter Medium"/>
              <a:sym typeface="Inter Medium"/>
            </a:endParaRPr>
          </a:p>
        </p:txBody>
      </p:sp>
      <p:sp>
        <p:nvSpPr>
          <p:cNvPr id="331" name="Google Shape;331;p7"/>
          <p:cNvSpPr txBox="1"/>
          <p:nvPr/>
        </p:nvSpPr>
        <p:spPr>
          <a:xfrm>
            <a:off x="11817522" y="854790"/>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CASO DE USO</a:t>
            </a:r>
            <a:endParaRPr b="0" i="0" sz="1400" u="none" cap="none" strike="noStrike">
              <a:solidFill>
                <a:srgbClr val="000000"/>
              </a:solidFill>
              <a:latin typeface="Arial"/>
              <a:ea typeface="Arial"/>
              <a:cs typeface="Arial"/>
              <a:sym typeface="Arial"/>
            </a:endParaRPr>
          </a:p>
        </p:txBody>
      </p:sp>
      <p:sp>
        <p:nvSpPr>
          <p:cNvPr id="332" name="Google Shape;332;p7"/>
          <p:cNvSpPr txBox="1"/>
          <p:nvPr/>
        </p:nvSpPr>
        <p:spPr>
          <a:xfrm>
            <a:off x="6523764" y="2917116"/>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UR </a:t>
            </a:r>
            <a:r>
              <a:rPr b="1" lang="en-US" sz="3685">
                <a:solidFill>
                  <a:srgbClr val="FFFFFF"/>
                </a:solidFill>
                <a:latin typeface="Poppins Black"/>
                <a:ea typeface="Poppins Black"/>
                <a:cs typeface="Poppins Black"/>
                <a:sym typeface="Poppins Black"/>
              </a:rPr>
              <a:t>7.2</a:t>
            </a:r>
            <a:endParaRPr b="0" i="0" sz="1400" u="none" cap="none" strike="noStrike">
              <a:solidFill>
                <a:srgbClr val="000000"/>
              </a:solidFill>
              <a:latin typeface="Arial"/>
              <a:ea typeface="Arial"/>
              <a:cs typeface="Arial"/>
              <a:sym typeface="Arial"/>
            </a:endParaRPr>
          </a:p>
        </p:txBody>
      </p:sp>
      <p:sp>
        <p:nvSpPr>
          <p:cNvPr id="333" name="Google Shape;333;p7"/>
          <p:cNvSpPr txBox="1"/>
          <p:nvPr/>
        </p:nvSpPr>
        <p:spPr>
          <a:xfrm>
            <a:off x="466025" y="2575750"/>
            <a:ext cx="5058900" cy="85623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b="1" lang="en-US" sz="1600">
                <a:solidFill>
                  <a:schemeClr val="lt1"/>
                </a:solidFill>
                <a:latin typeface="Inter"/>
                <a:ea typeface="Inter"/>
                <a:cs typeface="Inter"/>
                <a:sym typeface="Inter"/>
              </a:rPr>
              <a:t>El sistema debe permitir que los usuarios autorizados analicen las ventas definitivas o consolidadas correspondientes al período consultado. El monto neto, entendido como el valor antes de impuestos, debe constituir la cifra principal del análisis; el monto total, que incorpora los impuestos aplicables, puede presentarse como información complementaria. El análisis debe permitir revisar la evolución temporal de las ventas, compararlas con períodos anteriores cuando exista base suficiente y analizar su composición por cliente y tipo de cliente. El análisis por producto o categoría sólo debe presentarse cuando exista una clasificación válida proveniente de la fuente correspondiente. Cuando se seleccione un cliente, el sistema puede presentar un resumen contextual autorizado y permitir continuar hacia su ficha correspondiente sin modificarla desde el Panel General.</a:t>
            </a:r>
            <a:endParaRPr b="1" sz="1600">
              <a:solidFill>
                <a:schemeClr val="lt1"/>
              </a:solidFill>
              <a:latin typeface="Inter"/>
              <a:ea typeface="Inter"/>
              <a:cs typeface="Inter"/>
              <a:sym typeface="Inter"/>
            </a:endParaRPr>
          </a:p>
          <a:p>
            <a:pPr indent="0" lvl="0" marL="0" marR="0" rtl="0" algn="just">
              <a:lnSpc>
                <a:spcPct val="150000"/>
              </a:lnSpc>
              <a:spcBef>
                <a:spcPts val="800"/>
              </a:spcBef>
              <a:spcAft>
                <a:spcPts val="0"/>
              </a:spcAft>
              <a:buClr>
                <a:schemeClr val="dk1"/>
              </a:buClr>
              <a:buSzPts val="1100"/>
              <a:buFont typeface="Arial"/>
              <a:buNone/>
            </a:pPr>
            <a:r>
              <a:t/>
            </a:r>
            <a:endParaRPr sz="1600">
              <a:solidFill>
                <a:schemeClr val="lt1"/>
              </a:solidFill>
              <a:latin typeface="Inter"/>
              <a:ea typeface="Inter"/>
              <a:cs typeface="Inter"/>
              <a:sym typeface="Inter"/>
            </a:endParaRPr>
          </a:p>
          <a:p>
            <a:pPr indent="0" lvl="0" marL="0" marR="0" rtl="0" algn="just">
              <a:lnSpc>
                <a:spcPct val="140000"/>
              </a:lnSpc>
              <a:spcBef>
                <a:spcPts val="60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p:txBody>
      </p:sp>
      <p:sp>
        <p:nvSpPr>
          <p:cNvPr id="334" name="Google Shape;334;p7"/>
          <p:cNvSpPr txBox="1"/>
          <p:nvPr/>
        </p:nvSpPr>
        <p:spPr>
          <a:xfrm>
            <a:off x="6235759" y="3935472"/>
            <a:ext cx="4313700" cy="4657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Como usuario autorizado, quiero analizar las ventas consolidadas de un período, su evolución, comparación y composición para comprender su comportamiento y apoyar el análisis comercial.</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Necesidad: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Prioridad: </a:t>
            </a:r>
            <a:r>
              <a:rPr b="1" lang="en-US" sz="1700">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Estabilidad: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Claridad: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Verificalidad: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Fuente: 1</a:t>
            </a:r>
            <a:endParaRPr b="0" i="0" sz="1400" u="none" cap="none" strike="noStrike">
              <a:solidFill>
                <a:srgbClr val="000000"/>
              </a:solidFill>
              <a:latin typeface="Arial"/>
              <a:ea typeface="Arial"/>
              <a:cs typeface="Arial"/>
              <a:sym typeface="Arial"/>
            </a:endParaRPr>
          </a:p>
        </p:txBody>
      </p:sp>
      <p:pic>
        <p:nvPicPr>
          <p:cNvPr id="335" name="Google Shape;335;p7" title="Captura de pantalla 2026-10-04 172752.png"/>
          <p:cNvPicPr preferRelativeResize="0"/>
          <p:nvPr/>
        </p:nvPicPr>
        <p:blipFill rotWithShape="1">
          <a:blip r:embed="rId3">
            <a:alphaModFix/>
          </a:blip>
          <a:srcRect b="-190" l="0" r="0" t="190"/>
          <a:stretch/>
        </p:blipFill>
        <p:spPr>
          <a:xfrm>
            <a:off x="11281956" y="1983150"/>
            <a:ext cx="6537440" cy="7458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43" name="Shape 343"/>
        <p:cNvGrpSpPr/>
        <p:nvPr/>
      </p:nvGrpSpPr>
      <p:grpSpPr>
        <a:xfrm>
          <a:off x="0" y="0"/>
          <a:ext cx="0" cy="0"/>
          <a:chOff x="0" y="0"/>
          <a:chExt cx="0" cy="0"/>
        </a:xfrm>
      </p:grpSpPr>
      <p:grpSp>
        <p:nvGrpSpPr>
          <p:cNvPr id="344" name="Google Shape;344;p8"/>
          <p:cNvGrpSpPr/>
          <p:nvPr/>
        </p:nvGrpSpPr>
        <p:grpSpPr>
          <a:xfrm>
            <a:off x="12565518" y="-2454676"/>
            <a:ext cx="7186254" cy="7186254"/>
            <a:chOff x="0" y="0"/>
            <a:chExt cx="812800" cy="812800"/>
          </a:xfrm>
        </p:grpSpPr>
        <p:sp>
          <p:nvSpPr>
            <p:cNvPr id="345" name="Google Shape;345;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8"/>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8"/>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49" name="Google Shape;349;p8"/>
          <p:cNvGrpSpPr/>
          <p:nvPr/>
        </p:nvGrpSpPr>
        <p:grpSpPr>
          <a:xfrm>
            <a:off x="15705644" y="1606448"/>
            <a:ext cx="234493" cy="8374261"/>
            <a:chOff x="0" y="-38100"/>
            <a:chExt cx="61760" cy="2205567"/>
          </a:xfrm>
        </p:grpSpPr>
        <p:sp>
          <p:nvSpPr>
            <p:cNvPr id="350" name="Google Shape;350;p8"/>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8"/>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8"/>
          <p:cNvGrpSpPr/>
          <p:nvPr/>
        </p:nvGrpSpPr>
        <p:grpSpPr>
          <a:xfrm>
            <a:off x="-231633" y="-1921513"/>
            <a:ext cx="3860075" cy="3860075"/>
            <a:chOff x="0" y="0"/>
            <a:chExt cx="812800" cy="812800"/>
          </a:xfrm>
        </p:grpSpPr>
        <p:sp>
          <p:nvSpPr>
            <p:cNvPr id="353" name="Google Shape;35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5" name="Google Shape;355;p8"/>
          <p:cNvGrpSpPr/>
          <p:nvPr/>
        </p:nvGrpSpPr>
        <p:grpSpPr>
          <a:xfrm>
            <a:off x="-450373" y="-348365"/>
            <a:ext cx="2148777" cy="10635365"/>
            <a:chOff x="0" y="-38100"/>
            <a:chExt cx="229394" cy="1135384"/>
          </a:xfrm>
        </p:grpSpPr>
        <p:sp>
          <p:nvSpPr>
            <p:cNvPr id="356" name="Google Shape;356;p8"/>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8"/>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8"/>
          <p:cNvGrpSpPr/>
          <p:nvPr/>
        </p:nvGrpSpPr>
        <p:grpSpPr>
          <a:xfrm>
            <a:off x="9547785" y="7287542"/>
            <a:ext cx="5386334" cy="5386334"/>
            <a:chOff x="0" y="0"/>
            <a:chExt cx="812800" cy="812800"/>
          </a:xfrm>
        </p:grpSpPr>
        <p:sp>
          <p:nvSpPr>
            <p:cNvPr id="359" name="Google Shape;359;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8"/>
          <p:cNvSpPr txBox="1"/>
          <p:nvPr/>
        </p:nvSpPr>
        <p:spPr>
          <a:xfrm>
            <a:off x="2031458" y="511131"/>
            <a:ext cx="5081100" cy="6418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89</a:t>
            </a:r>
            <a:r>
              <a:rPr b="0" i="0" lang="en-US" sz="9499" u="none" cap="none" strike="noStrike">
                <a:solidFill>
                  <a:srgbClr val="000000"/>
                </a:solidFill>
                <a:latin typeface="Impact"/>
                <a:ea typeface="Impact"/>
                <a:cs typeface="Impact"/>
                <a:sym typeface="Impact"/>
              </a:rPr>
              <a:t> - DIAGRAMACASO DE USO </a:t>
            </a:r>
            <a:r>
              <a:rPr lang="en-US" sz="9499">
                <a:latin typeface="Impact"/>
                <a:ea typeface="Impact"/>
                <a:cs typeface="Impact"/>
                <a:sym typeface="Impact"/>
              </a:rPr>
              <a:t>106</a:t>
            </a:r>
            <a:endParaRPr b="0" i="0" sz="1400" u="none" cap="none" strike="noStrike">
              <a:solidFill>
                <a:srgbClr val="000000"/>
              </a:solidFill>
              <a:latin typeface="Arial"/>
              <a:ea typeface="Arial"/>
              <a:cs typeface="Arial"/>
              <a:sym typeface="Arial"/>
            </a:endParaRPr>
          </a:p>
        </p:txBody>
      </p:sp>
      <p:pic>
        <p:nvPicPr>
          <p:cNvPr id="362" name="Google Shape;362;p8" title="CU106 - Analizando Ventas del período.jpg"/>
          <p:cNvPicPr preferRelativeResize="0"/>
          <p:nvPr/>
        </p:nvPicPr>
        <p:blipFill>
          <a:blip r:embed="rId3">
            <a:alphaModFix/>
          </a:blip>
          <a:stretch>
            <a:fillRect/>
          </a:stretch>
        </p:blipFill>
        <p:spPr>
          <a:xfrm>
            <a:off x="9309650" y="295313"/>
            <a:ext cx="4906181" cy="9696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70" name="Shape 370"/>
        <p:cNvGrpSpPr/>
        <p:nvPr/>
      </p:nvGrpSpPr>
      <p:grpSpPr>
        <a:xfrm>
          <a:off x="0" y="0"/>
          <a:ext cx="0" cy="0"/>
          <a:chOff x="0" y="0"/>
          <a:chExt cx="0" cy="0"/>
        </a:xfrm>
      </p:grpSpPr>
      <p:grpSp>
        <p:nvGrpSpPr>
          <p:cNvPr id="371" name="Google Shape;371;p9"/>
          <p:cNvGrpSpPr/>
          <p:nvPr/>
        </p:nvGrpSpPr>
        <p:grpSpPr>
          <a:xfrm>
            <a:off x="-29169" y="8086614"/>
            <a:ext cx="18317385" cy="2200683"/>
            <a:chOff x="0" y="-38100"/>
            <a:chExt cx="4824300" cy="579600"/>
          </a:xfrm>
        </p:grpSpPr>
        <p:sp>
          <p:nvSpPr>
            <p:cNvPr id="372" name="Google Shape;372;p9"/>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9"/>
            <p:cNvSpPr txBox="1"/>
            <p:nvPr/>
          </p:nvSpPr>
          <p:spPr>
            <a:xfrm>
              <a:off x="0" y="-38100"/>
              <a:ext cx="4824300" cy="579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4" name="Google Shape;374;p9"/>
          <p:cNvGrpSpPr/>
          <p:nvPr/>
        </p:nvGrpSpPr>
        <p:grpSpPr>
          <a:xfrm>
            <a:off x="12565518" y="-2454676"/>
            <a:ext cx="7186290" cy="7186290"/>
            <a:chOff x="0" y="0"/>
            <a:chExt cx="812800" cy="812800"/>
          </a:xfrm>
        </p:grpSpPr>
        <p:sp>
          <p:nvSpPr>
            <p:cNvPr id="375" name="Google Shape;37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9"/>
          <p:cNvSpPr txBox="1"/>
          <p:nvPr/>
        </p:nvSpPr>
        <p:spPr>
          <a:xfrm>
            <a:off x="277349" y="224025"/>
            <a:ext cx="1796700" cy="969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6299"/>
              <a:buFont typeface="Arial"/>
              <a:buNone/>
            </a:pPr>
            <a:r>
              <a:rPr b="0" i="0" lang="en-US" sz="6299" u="none" cap="none" strike="noStrike">
                <a:solidFill>
                  <a:srgbClr val="000000"/>
                </a:solidFill>
                <a:latin typeface="Impact"/>
                <a:ea typeface="Impact"/>
                <a:cs typeface="Impact"/>
                <a:sym typeface="Impact"/>
              </a:rPr>
              <a:t>RF</a:t>
            </a:r>
            <a:r>
              <a:rPr lang="en-US" sz="6299">
                <a:latin typeface="Impact"/>
                <a:ea typeface="Impact"/>
                <a:cs typeface="Impact"/>
                <a:sym typeface="Impact"/>
              </a:rPr>
              <a:t>89</a:t>
            </a:r>
            <a:endParaRPr b="0" i="0" sz="100" u="none" cap="none" strike="noStrike">
              <a:solidFill>
                <a:srgbClr val="000000"/>
              </a:solidFill>
              <a:latin typeface="Arial"/>
              <a:ea typeface="Arial"/>
              <a:cs typeface="Arial"/>
              <a:sym typeface="Arial"/>
            </a:endParaRPr>
          </a:p>
        </p:txBody>
      </p:sp>
      <p:sp>
        <p:nvSpPr>
          <p:cNvPr id="379" name="Google Shape;379;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80" name="Google Shape;380;p9"/>
          <p:cNvGrpSpPr/>
          <p:nvPr/>
        </p:nvGrpSpPr>
        <p:grpSpPr>
          <a:xfrm>
            <a:off x="-29168" y="-536711"/>
            <a:ext cx="2052808" cy="2052808"/>
            <a:chOff x="0" y="0"/>
            <a:chExt cx="812800" cy="812800"/>
          </a:xfrm>
        </p:grpSpPr>
        <p:sp>
          <p:nvSpPr>
            <p:cNvPr id="381" name="Google Shape;381;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13075" lIns="26100" spcFirstLastPara="1" rIns="26100" wrap="square" tIns="13075">
              <a:noAutofit/>
            </a:bodyPr>
            <a:lstStyle/>
            <a:p>
              <a:pPr indent="0" lvl="0" marL="0" marR="0" rtl="0" algn="l">
                <a:lnSpc>
                  <a:spcPct val="100000"/>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sp>
          <p:nvSpPr>
            <p:cNvPr id="382" name="Google Shape;382;p9"/>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grpSp>
      <p:sp>
        <p:nvSpPr>
          <p:cNvPr id="383" name="Google Shape;383;p9"/>
          <p:cNvSpPr txBox="1"/>
          <p:nvPr/>
        </p:nvSpPr>
        <p:spPr>
          <a:xfrm>
            <a:off x="2179500" y="67942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SECUENCIA CU</a:t>
            </a:r>
            <a:r>
              <a:rPr lang="en-US" sz="9499">
                <a:latin typeface="Impact"/>
                <a:ea typeface="Impact"/>
                <a:cs typeface="Impact"/>
                <a:sym typeface="Impact"/>
              </a:rPr>
              <a:t>106</a:t>
            </a:r>
            <a:endParaRPr b="0" i="0" sz="1400" u="none" cap="none" strike="noStrike">
              <a:solidFill>
                <a:srgbClr val="000000"/>
              </a:solidFill>
              <a:latin typeface="Arial"/>
              <a:ea typeface="Arial"/>
              <a:cs typeface="Arial"/>
              <a:sym typeface="Arial"/>
            </a:endParaRPr>
          </a:p>
        </p:txBody>
      </p:sp>
      <p:pic>
        <p:nvPicPr>
          <p:cNvPr id="384" name="Google Shape;384;p9" title="CU106-Analizando Ventas del período.png"/>
          <p:cNvPicPr preferRelativeResize="0"/>
          <p:nvPr/>
        </p:nvPicPr>
        <p:blipFill>
          <a:blip r:embed="rId3">
            <a:alphaModFix/>
          </a:blip>
          <a:stretch>
            <a:fillRect/>
          </a:stretch>
        </p:blipFill>
        <p:spPr>
          <a:xfrm>
            <a:off x="896350" y="2014400"/>
            <a:ext cx="16698639" cy="59195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92" name="Shape 392"/>
        <p:cNvGrpSpPr/>
        <p:nvPr/>
      </p:nvGrpSpPr>
      <p:grpSpPr>
        <a:xfrm>
          <a:off x="0" y="0"/>
          <a:ext cx="0" cy="0"/>
          <a:chOff x="0" y="0"/>
          <a:chExt cx="0" cy="0"/>
        </a:xfrm>
      </p:grpSpPr>
      <p:grpSp>
        <p:nvGrpSpPr>
          <p:cNvPr id="393" name="Google Shape;393;p10"/>
          <p:cNvGrpSpPr/>
          <p:nvPr/>
        </p:nvGrpSpPr>
        <p:grpSpPr>
          <a:xfrm>
            <a:off x="-3059651" y="-173897"/>
            <a:ext cx="7613660" cy="7613660"/>
            <a:chOff x="0" y="0"/>
            <a:chExt cx="812800" cy="812800"/>
          </a:xfrm>
        </p:grpSpPr>
        <p:sp>
          <p:nvSpPr>
            <p:cNvPr id="394" name="Google Shape;394;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10"/>
          <p:cNvSpPr/>
          <p:nvPr/>
        </p:nvSpPr>
        <p:spPr>
          <a:xfrm>
            <a:off x="874722" y="7796583"/>
            <a:ext cx="6329677" cy="736544"/>
          </a:xfrm>
          <a:custGeom>
            <a:rect b="b" l="l" r="r" t="t"/>
            <a:pathLst>
              <a:path extrusionOk="0" h="736544" w="6329677">
                <a:moveTo>
                  <a:pt x="0" y="0"/>
                </a:moveTo>
                <a:lnTo>
                  <a:pt x="6329676" y="0"/>
                </a:lnTo>
                <a:lnTo>
                  <a:pt x="6329676" y="736544"/>
                </a:lnTo>
                <a:lnTo>
                  <a:pt x="0" y="736544"/>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97" name="Google Shape;397;p10"/>
          <p:cNvGrpSpPr/>
          <p:nvPr/>
        </p:nvGrpSpPr>
        <p:grpSpPr>
          <a:xfrm>
            <a:off x="15811427" y="4570195"/>
            <a:ext cx="3531409" cy="3531409"/>
            <a:chOff x="0" y="0"/>
            <a:chExt cx="812800" cy="812800"/>
          </a:xfrm>
        </p:grpSpPr>
        <p:sp>
          <p:nvSpPr>
            <p:cNvPr id="398" name="Google Shape;398;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0" name="Google Shape;400;p10"/>
          <p:cNvSpPr txBox="1"/>
          <p:nvPr/>
        </p:nvSpPr>
        <p:spPr>
          <a:xfrm>
            <a:off x="7935076" y="6567825"/>
            <a:ext cx="9155100" cy="3278400"/>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DIAGRAMA DE COMPONENTES</a:t>
            </a:r>
            <a:endParaRPr b="0" i="0" sz="1400" u="none" cap="none" strike="noStrike">
              <a:solidFill>
                <a:srgbClr val="000000"/>
              </a:solidFill>
              <a:latin typeface="Arial"/>
              <a:ea typeface="Arial"/>
              <a:cs typeface="Arial"/>
              <a:sym typeface="Arial"/>
            </a:endParaRPr>
          </a:p>
        </p:txBody>
      </p:sp>
      <p:pic>
        <p:nvPicPr>
          <p:cNvPr id="401" name="Google Shape;401;p10"/>
          <p:cNvPicPr preferRelativeResize="0"/>
          <p:nvPr/>
        </p:nvPicPr>
        <p:blipFill rotWithShape="1">
          <a:blip r:embed="rId3">
            <a:alphaModFix/>
          </a:blip>
          <a:srcRect b="0" l="0" r="0" t="0"/>
          <a:stretch/>
        </p:blipFill>
        <p:spPr>
          <a:xfrm>
            <a:off x="874721" y="170725"/>
            <a:ext cx="17328952" cy="6295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09" name="Shape 409"/>
        <p:cNvGrpSpPr/>
        <p:nvPr/>
      </p:nvGrpSpPr>
      <p:grpSpPr>
        <a:xfrm>
          <a:off x="0" y="0"/>
          <a:ext cx="0" cy="0"/>
          <a:chOff x="0" y="0"/>
          <a:chExt cx="0" cy="0"/>
        </a:xfrm>
      </p:grpSpPr>
      <p:grpSp>
        <p:nvGrpSpPr>
          <p:cNvPr id="410" name="Google Shape;410;p11"/>
          <p:cNvGrpSpPr/>
          <p:nvPr/>
        </p:nvGrpSpPr>
        <p:grpSpPr>
          <a:xfrm>
            <a:off x="1031797" y="6462465"/>
            <a:ext cx="16230600" cy="3578159"/>
            <a:chOff x="0" y="-38100"/>
            <a:chExt cx="1732706" cy="381988"/>
          </a:xfrm>
        </p:grpSpPr>
        <p:sp>
          <p:nvSpPr>
            <p:cNvPr id="411" name="Google Shape;411;p11"/>
            <p:cNvSpPr/>
            <p:nvPr/>
          </p:nvSpPr>
          <p:spPr>
            <a:xfrm>
              <a:off x="0" y="0"/>
              <a:ext cx="1732705" cy="343888"/>
            </a:xfrm>
            <a:custGeom>
              <a:rect b="b" l="l" r="r" t="t"/>
              <a:pathLst>
                <a:path extrusionOk="0" h="343888" w="1732705">
                  <a:moveTo>
                    <a:pt x="0" y="0"/>
                  </a:moveTo>
                  <a:lnTo>
                    <a:pt x="1732705" y="0"/>
                  </a:lnTo>
                  <a:lnTo>
                    <a:pt x="1732705" y="343888"/>
                  </a:lnTo>
                  <a:lnTo>
                    <a:pt x="0" y="343888"/>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11"/>
            <p:cNvSpPr txBox="1"/>
            <p:nvPr/>
          </p:nvSpPr>
          <p:spPr>
            <a:xfrm>
              <a:off x="0" y="-38100"/>
              <a:ext cx="1732706" cy="381988"/>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3" name="Google Shape;413;p11"/>
          <p:cNvSpPr/>
          <p:nvPr/>
        </p:nvSpPr>
        <p:spPr>
          <a:xfrm>
            <a:off x="102870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11"/>
          <p:cNvSpPr/>
          <p:nvPr/>
        </p:nvSpPr>
        <p:spPr>
          <a:xfrm>
            <a:off x="15665015" y="3106249"/>
            <a:ext cx="1597381" cy="537785"/>
          </a:xfrm>
          <a:custGeom>
            <a:rect b="b" l="l" r="r" t="t"/>
            <a:pathLst>
              <a:path extrusionOk="0" h="537785" w="1597381">
                <a:moveTo>
                  <a:pt x="0" y="0"/>
                </a:moveTo>
                <a:lnTo>
                  <a:pt x="1597382" y="0"/>
                </a:lnTo>
                <a:lnTo>
                  <a:pt x="1597382"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1"/>
          <p:cNvSpPr txBox="1"/>
          <p:nvPr/>
        </p:nvSpPr>
        <p:spPr>
          <a:xfrm>
            <a:off x="805282" y="2268189"/>
            <a:ext cx="5644200" cy="4766700"/>
          </a:xfrm>
          <a:prstGeom prst="rect">
            <a:avLst/>
          </a:prstGeom>
          <a:noFill/>
          <a:ln>
            <a:noFill/>
          </a:ln>
        </p:spPr>
        <p:txBody>
          <a:bodyPr anchorCtr="0" anchor="t" bIns="0" lIns="0" spcFirstLastPara="1" rIns="0" wrap="square" tIns="0">
            <a:spAutoFit/>
          </a:bodyPr>
          <a:lstStyle/>
          <a:p>
            <a:pPr indent="0" lvl="0" marL="0" marR="0" rtl="0" algn="ctr">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DE DESPLIEGUE</a:t>
            </a:r>
            <a:endParaRPr b="0" i="0" sz="1400" u="none" cap="none" strike="noStrike">
              <a:solidFill>
                <a:srgbClr val="000000"/>
              </a:solidFill>
              <a:latin typeface="Arial"/>
              <a:ea typeface="Arial"/>
              <a:cs typeface="Arial"/>
              <a:sym typeface="Arial"/>
            </a:endParaRPr>
          </a:p>
        </p:txBody>
      </p:sp>
      <p:sp>
        <p:nvSpPr>
          <p:cNvPr id="416" name="Google Shape;416;p11"/>
          <p:cNvSpPr/>
          <p:nvPr/>
        </p:nvSpPr>
        <p:spPr>
          <a:xfrm>
            <a:off x="455704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1"/>
          <p:cNvSpPr/>
          <p:nvPr/>
        </p:nvSpPr>
        <p:spPr>
          <a:xfrm>
            <a:off x="7176980" y="256192"/>
            <a:ext cx="9710639" cy="9556011"/>
          </a:xfrm>
          <a:custGeom>
            <a:rect b="b" l="l" r="r" t="t"/>
            <a:pathLst>
              <a:path extrusionOk="0" h="9556011" w="9710639">
                <a:moveTo>
                  <a:pt x="0" y="0"/>
                </a:moveTo>
                <a:lnTo>
                  <a:pt x="9710639" y="0"/>
                </a:lnTo>
                <a:lnTo>
                  <a:pt x="9710639" y="9556011"/>
                </a:lnTo>
                <a:lnTo>
                  <a:pt x="0" y="95560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25" name="Shape 425"/>
        <p:cNvGrpSpPr/>
        <p:nvPr/>
      </p:nvGrpSpPr>
      <p:grpSpPr>
        <a:xfrm>
          <a:off x="0" y="0"/>
          <a:ext cx="0" cy="0"/>
          <a:chOff x="0" y="0"/>
          <a:chExt cx="0" cy="0"/>
        </a:xfrm>
      </p:grpSpPr>
      <p:grpSp>
        <p:nvGrpSpPr>
          <p:cNvPr id="426" name="Google Shape;426;p12"/>
          <p:cNvGrpSpPr/>
          <p:nvPr/>
        </p:nvGrpSpPr>
        <p:grpSpPr>
          <a:xfrm>
            <a:off x="-1180592" y="2898944"/>
            <a:ext cx="8340954" cy="8340954"/>
            <a:chOff x="0" y="0"/>
            <a:chExt cx="812800" cy="812800"/>
          </a:xfrm>
        </p:grpSpPr>
        <p:sp>
          <p:nvSpPr>
            <p:cNvPr id="427" name="Google Shape;42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9" name="Google Shape;429;p12"/>
          <p:cNvGrpSpPr/>
          <p:nvPr/>
        </p:nvGrpSpPr>
        <p:grpSpPr>
          <a:xfrm>
            <a:off x="-522981" y="8815709"/>
            <a:ext cx="8886237" cy="1471291"/>
            <a:chOff x="0" y="-38100"/>
            <a:chExt cx="2340408" cy="387500"/>
          </a:xfrm>
        </p:grpSpPr>
        <p:sp>
          <p:nvSpPr>
            <p:cNvPr id="430" name="Google Shape;430;p12"/>
            <p:cNvSpPr/>
            <p:nvPr/>
          </p:nvSpPr>
          <p:spPr>
            <a:xfrm>
              <a:off x="0" y="0"/>
              <a:ext cx="2340408" cy="349400"/>
            </a:xfrm>
            <a:custGeom>
              <a:rect b="b" l="l" r="r" t="t"/>
              <a:pathLst>
                <a:path extrusionOk="0" h="349400" w="2340408">
                  <a:moveTo>
                    <a:pt x="0" y="0"/>
                  </a:moveTo>
                  <a:lnTo>
                    <a:pt x="2340408" y="0"/>
                  </a:lnTo>
                  <a:lnTo>
                    <a:pt x="2340408" y="349400"/>
                  </a:lnTo>
                  <a:lnTo>
                    <a:pt x="0" y="34940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12"/>
            <p:cNvSpPr txBox="1"/>
            <p:nvPr/>
          </p:nvSpPr>
          <p:spPr>
            <a:xfrm>
              <a:off x="0" y="-38100"/>
              <a:ext cx="2340408" cy="387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2" name="Google Shape;432;p12"/>
          <p:cNvSpPr/>
          <p:nvPr/>
        </p:nvSpPr>
        <p:spPr>
          <a:xfrm>
            <a:off x="11296203" y="765889"/>
            <a:ext cx="1577524" cy="773644"/>
          </a:xfrm>
          <a:custGeom>
            <a:rect b="b" l="l" r="r" t="t"/>
            <a:pathLst>
              <a:path extrusionOk="0" h="773644" w="1577524">
                <a:moveTo>
                  <a:pt x="0" y="0"/>
                </a:moveTo>
                <a:lnTo>
                  <a:pt x="1577525" y="0"/>
                </a:lnTo>
                <a:lnTo>
                  <a:pt x="1577525" y="773644"/>
                </a:lnTo>
                <a:lnTo>
                  <a:pt x="0" y="773644"/>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33" name="Google Shape;433;p12"/>
          <p:cNvGrpSpPr/>
          <p:nvPr/>
        </p:nvGrpSpPr>
        <p:grpSpPr>
          <a:xfrm>
            <a:off x="15054241" y="3820733"/>
            <a:ext cx="2291432" cy="2291432"/>
            <a:chOff x="0" y="0"/>
            <a:chExt cx="812800" cy="812800"/>
          </a:xfrm>
        </p:grpSpPr>
        <p:sp>
          <p:nvSpPr>
            <p:cNvPr id="434" name="Google Shape;43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6" name="Google Shape;436;p12"/>
          <p:cNvSpPr/>
          <p:nvPr/>
        </p:nvSpPr>
        <p:spPr>
          <a:xfrm>
            <a:off x="15599878" y="4365869"/>
            <a:ext cx="1200159" cy="1201160"/>
          </a:xfrm>
          <a:custGeom>
            <a:rect b="b" l="l" r="r" t="t"/>
            <a:pathLst>
              <a:path extrusionOk="0" h="1201160" w="1200159">
                <a:moveTo>
                  <a:pt x="0" y="0"/>
                </a:moveTo>
                <a:lnTo>
                  <a:pt x="1200159" y="0"/>
                </a:lnTo>
                <a:lnTo>
                  <a:pt x="1200159" y="1201160"/>
                </a:lnTo>
                <a:lnTo>
                  <a:pt x="0" y="12011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p12"/>
          <p:cNvSpPr txBox="1"/>
          <p:nvPr/>
        </p:nvSpPr>
        <p:spPr>
          <a:xfrm>
            <a:off x="14539179" y="9586842"/>
            <a:ext cx="2806500" cy="529200"/>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Clr>
                <a:srgbClr val="000000"/>
              </a:buClr>
              <a:buSzPts val="1433"/>
              <a:buFont typeface="Arial"/>
              <a:buNone/>
            </a:pPr>
            <a:r>
              <a:rPr b="0" i="0" lang="en-US" sz="1433" u="none" cap="none" strike="noStrike">
                <a:solidFill>
                  <a:srgbClr val="000000"/>
                </a:solidFill>
                <a:latin typeface="Open Sans"/>
                <a:ea typeface="Open Sans"/>
                <a:cs typeface="Open Sans"/>
                <a:sym typeface="Open Sans"/>
              </a:rPr>
              <a:t>Segmento del modelo de datos utilizado para el incremento </a:t>
            </a:r>
            <a:r>
              <a:rPr lang="en-US" sz="1433">
                <a:latin typeface="Open Sans"/>
                <a:ea typeface="Open Sans"/>
                <a:cs typeface="Open Sans"/>
                <a:sym typeface="Open Sans"/>
              </a:rPr>
              <a:t>3</a:t>
            </a:r>
            <a:r>
              <a:rPr b="0" i="0" lang="en-US" sz="1433"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pic>
        <p:nvPicPr>
          <p:cNvPr id="438" name="Google Shape;438;p12" title="Modelo_Fisico_Incremento_3_ (1).jpg"/>
          <p:cNvPicPr preferRelativeResize="0"/>
          <p:nvPr/>
        </p:nvPicPr>
        <p:blipFill>
          <a:blip r:embed="rId3">
            <a:alphaModFix/>
          </a:blip>
          <a:stretch>
            <a:fillRect/>
          </a:stretch>
        </p:blipFill>
        <p:spPr>
          <a:xfrm>
            <a:off x="392775" y="1136475"/>
            <a:ext cx="15744026" cy="8340951"/>
          </a:xfrm>
          <a:prstGeom prst="rect">
            <a:avLst/>
          </a:prstGeom>
          <a:noFill/>
          <a:ln>
            <a:noFill/>
          </a:ln>
        </p:spPr>
      </p:pic>
      <p:sp>
        <p:nvSpPr>
          <p:cNvPr id="439" name="Google Shape;439;p12"/>
          <p:cNvSpPr txBox="1"/>
          <p:nvPr/>
        </p:nvSpPr>
        <p:spPr>
          <a:xfrm>
            <a:off x="11931767" y="367154"/>
            <a:ext cx="5841600" cy="2873100"/>
          </a:xfrm>
          <a:prstGeom prst="rect">
            <a:avLst/>
          </a:prstGeom>
          <a:noFill/>
          <a:ln>
            <a:noFill/>
          </a:ln>
        </p:spPr>
        <p:txBody>
          <a:bodyPr anchorCtr="0" anchor="t" bIns="0" lIns="0" spcFirstLastPara="1" rIns="0" wrap="square" tIns="0">
            <a:spAutoFit/>
          </a:bodyPr>
          <a:lstStyle/>
          <a:p>
            <a:pPr indent="0" lvl="0" marL="0" marR="0" rtl="0" algn="r">
              <a:lnSpc>
                <a:spcPct val="112997"/>
              </a:lnSpc>
              <a:spcBef>
                <a:spcPts val="0"/>
              </a:spcBef>
              <a:spcAft>
                <a:spcPts val="0"/>
              </a:spcAft>
              <a:buClr>
                <a:srgbClr val="000000"/>
              </a:buClr>
              <a:buSzPts val="8763"/>
              <a:buFont typeface="Arial"/>
              <a:buNone/>
            </a:pPr>
            <a:r>
              <a:rPr b="0" i="0" lang="en-US" sz="8763" u="none" cap="none" strike="noStrike">
                <a:solidFill>
                  <a:srgbClr val="000000"/>
                </a:solidFill>
                <a:latin typeface="Impact"/>
                <a:ea typeface="Impact"/>
                <a:cs typeface="Impact"/>
                <a:sym typeface="Impact"/>
              </a:rPr>
              <a:t>MODELO DE DATOS</a:t>
            </a:r>
            <a:endParaRPr b="0" i="0" sz="1400" u="none" cap="none" strike="noStrike">
              <a:solidFill>
                <a:srgbClr val="000000"/>
              </a:solidFill>
              <a:latin typeface="Arial"/>
              <a:ea typeface="Arial"/>
              <a:cs typeface="Arial"/>
              <a:sym typeface="Arial"/>
            </a:endParaRPr>
          </a:p>
        </p:txBody>
      </p:sp>
      <p:pic>
        <p:nvPicPr>
          <p:cNvPr id="440" name="Google Shape;440;p12" title="Leyenda_Modelo_Fisico.png"/>
          <p:cNvPicPr preferRelativeResize="0"/>
          <p:nvPr/>
        </p:nvPicPr>
        <p:blipFill>
          <a:blip r:embed="rId4">
            <a:alphaModFix/>
          </a:blip>
          <a:stretch>
            <a:fillRect/>
          </a:stretch>
        </p:blipFill>
        <p:spPr>
          <a:xfrm>
            <a:off x="14270962" y="7841707"/>
            <a:ext cx="1846399" cy="15190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48" name="Shape 448"/>
        <p:cNvGrpSpPr/>
        <p:nvPr/>
      </p:nvGrpSpPr>
      <p:grpSpPr>
        <a:xfrm>
          <a:off x="0" y="0"/>
          <a:ext cx="0" cy="0"/>
          <a:chOff x="0" y="0"/>
          <a:chExt cx="0" cy="0"/>
        </a:xfrm>
      </p:grpSpPr>
      <p:grpSp>
        <p:nvGrpSpPr>
          <p:cNvPr id="449" name="Google Shape;449;p13"/>
          <p:cNvGrpSpPr/>
          <p:nvPr/>
        </p:nvGrpSpPr>
        <p:grpSpPr>
          <a:xfrm>
            <a:off x="2941084" y="1606448"/>
            <a:ext cx="234493" cy="8374261"/>
            <a:chOff x="0" y="-38100"/>
            <a:chExt cx="61760" cy="2205567"/>
          </a:xfrm>
        </p:grpSpPr>
        <p:sp>
          <p:nvSpPr>
            <p:cNvPr id="450" name="Google Shape;450;p13"/>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13"/>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2" name="Google Shape;452;p13"/>
          <p:cNvGrpSpPr/>
          <p:nvPr/>
        </p:nvGrpSpPr>
        <p:grpSpPr>
          <a:xfrm>
            <a:off x="-231633" y="-1921513"/>
            <a:ext cx="3860075" cy="3860075"/>
            <a:chOff x="0" y="0"/>
            <a:chExt cx="812800" cy="812800"/>
          </a:xfrm>
        </p:grpSpPr>
        <p:sp>
          <p:nvSpPr>
            <p:cNvPr id="453" name="Google Shape;453;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4" name="Google Shape;454;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13"/>
          <p:cNvGrpSpPr/>
          <p:nvPr/>
        </p:nvGrpSpPr>
        <p:grpSpPr>
          <a:xfrm>
            <a:off x="-450373" y="-348365"/>
            <a:ext cx="2148777" cy="10635365"/>
            <a:chOff x="0" y="-38100"/>
            <a:chExt cx="229394" cy="1135384"/>
          </a:xfrm>
        </p:grpSpPr>
        <p:sp>
          <p:nvSpPr>
            <p:cNvPr id="456" name="Google Shape;456;p13"/>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13"/>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p13"/>
          <p:cNvGrpSpPr/>
          <p:nvPr/>
        </p:nvGrpSpPr>
        <p:grpSpPr>
          <a:xfrm>
            <a:off x="9547785" y="7287542"/>
            <a:ext cx="5386334" cy="5386334"/>
            <a:chOff x="0" y="0"/>
            <a:chExt cx="812800" cy="812800"/>
          </a:xfrm>
        </p:grpSpPr>
        <p:sp>
          <p:nvSpPr>
            <p:cNvPr id="459" name="Google Shape;459;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p13"/>
          <p:cNvSpPr txBox="1"/>
          <p:nvPr/>
        </p:nvSpPr>
        <p:spPr>
          <a:xfrm>
            <a:off x="4418258" y="313578"/>
            <a:ext cx="12841042" cy="1896313"/>
          </a:xfrm>
          <a:prstGeom prst="rect">
            <a:avLst/>
          </a:prstGeom>
          <a:noFill/>
          <a:ln>
            <a:noFill/>
          </a:ln>
        </p:spPr>
        <p:txBody>
          <a:bodyPr anchorCtr="0" anchor="t" bIns="0" lIns="0" spcFirstLastPara="1" rIns="0" wrap="square" tIns="0">
            <a:spAutoFit/>
          </a:bodyPr>
          <a:lstStyle/>
          <a:p>
            <a:pPr indent="0" lvl="0" marL="0" marR="0" rtl="0" algn="r">
              <a:lnSpc>
                <a:spcPct val="112996"/>
              </a:lnSpc>
              <a:spcBef>
                <a:spcPts val="0"/>
              </a:spcBef>
              <a:spcAft>
                <a:spcPts val="0"/>
              </a:spcAft>
              <a:buClr>
                <a:srgbClr val="000000"/>
              </a:buClr>
              <a:buSzPts val="11457"/>
              <a:buFont typeface="Arial"/>
              <a:buNone/>
            </a:pPr>
            <a:r>
              <a:rPr b="0" i="0" lang="en-US" sz="11457" u="none" cap="none" strike="noStrike">
                <a:solidFill>
                  <a:srgbClr val="000000"/>
                </a:solidFill>
                <a:latin typeface="Impact"/>
                <a:ea typeface="Impact"/>
                <a:cs typeface="Impact"/>
                <a:sym typeface="Impact"/>
              </a:rPr>
              <a:t>ÁRBOL DE NAVEGACIÓN </a:t>
            </a:r>
            <a:endParaRPr b="0" i="0" sz="1400" u="none" cap="none" strike="noStrike">
              <a:solidFill>
                <a:srgbClr val="000000"/>
              </a:solidFill>
              <a:latin typeface="Arial"/>
              <a:ea typeface="Arial"/>
              <a:cs typeface="Arial"/>
              <a:sym typeface="Arial"/>
            </a:endParaRPr>
          </a:p>
        </p:txBody>
      </p:sp>
      <p:pic>
        <p:nvPicPr>
          <p:cNvPr id="462" name="Google Shape;462;p13" title="Arbol_Navegacion_Incremento_3.png"/>
          <p:cNvPicPr preferRelativeResize="0"/>
          <p:nvPr/>
        </p:nvPicPr>
        <p:blipFill>
          <a:blip r:embed="rId3">
            <a:alphaModFix/>
          </a:blip>
          <a:stretch>
            <a:fillRect/>
          </a:stretch>
        </p:blipFill>
        <p:spPr>
          <a:xfrm>
            <a:off x="-231625" y="2723555"/>
            <a:ext cx="18288000" cy="48398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70" name="Shape 470"/>
        <p:cNvGrpSpPr/>
        <p:nvPr/>
      </p:nvGrpSpPr>
      <p:grpSpPr>
        <a:xfrm>
          <a:off x="0" y="0"/>
          <a:ext cx="0" cy="0"/>
          <a:chOff x="0" y="0"/>
          <a:chExt cx="0" cy="0"/>
        </a:xfrm>
      </p:grpSpPr>
      <p:grpSp>
        <p:nvGrpSpPr>
          <p:cNvPr id="471" name="Google Shape;471;h72088bf70636b300_0_0"/>
          <p:cNvGrpSpPr/>
          <p:nvPr/>
        </p:nvGrpSpPr>
        <p:grpSpPr>
          <a:xfrm>
            <a:off x="2941084" y="1606447"/>
            <a:ext cx="234642" cy="8374443"/>
            <a:chOff x="0" y="-38100"/>
            <a:chExt cx="61800" cy="2205600"/>
          </a:xfrm>
        </p:grpSpPr>
        <p:sp>
          <p:nvSpPr>
            <p:cNvPr id="472" name="Google Shape;472;h72088bf70636b300_0_0"/>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h72088bf70636b300_0_0"/>
            <p:cNvSpPr txBox="1"/>
            <p:nvPr/>
          </p:nvSpPr>
          <p:spPr>
            <a:xfrm>
              <a:off x="0" y="-38100"/>
              <a:ext cx="618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4" name="Google Shape;474;h72088bf70636b300_0_0"/>
          <p:cNvGrpSpPr/>
          <p:nvPr/>
        </p:nvGrpSpPr>
        <p:grpSpPr>
          <a:xfrm>
            <a:off x="-231633" y="-1921513"/>
            <a:ext cx="3860068" cy="3860068"/>
            <a:chOff x="0" y="0"/>
            <a:chExt cx="812800" cy="812800"/>
          </a:xfrm>
        </p:grpSpPr>
        <p:sp>
          <p:nvSpPr>
            <p:cNvPr id="475" name="Google Shape;475;h72088bf70636b300_0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h72088bf70636b300_0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7" name="Google Shape;477;h72088bf70636b300_0_0"/>
          <p:cNvGrpSpPr/>
          <p:nvPr/>
        </p:nvGrpSpPr>
        <p:grpSpPr>
          <a:xfrm>
            <a:off x="-450373" y="-348365"/>
            <a:ext cx="2149772" cy="10636456"/>
            <a:chOff x="0" y="-38100"/>
            <a:chExt cx="229500" cy="1135500"/>
          </a:xfrm>
        </p:grpSpPr>
        <p:sp>
          <p:nvSpPr>
            <p:cNvPr id="478" name="Google Shape;478;h72088bf70636b300_0_0"/>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h72088bf70636b300_0_0"/>
            <p:cNvSpPr txBox="1"/>
            <p:nvPr/>
          </p:nvSpPr>
          <p:spPr>
            <a:xfrm>
              <a:off x="0" y="-38100"/>
              <a:ext cx="229500" cy="1135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h72088bf70636b300_0_0"/>
          <p:cNvGrpSpPr/>
          <p:nvPr/>
        </p:nvGrpSpPr>
        <p:grpSpPr>
          <a:xfrm>
            <a:off x="9547785" y="7287542"/>
            <a:ext cx="5386344" cy="5386344"/>
            <a:chOff x="0" y="0"/>
            <a:chExt cx="812800" cy="812800"/>
          </a:xfrm>
        </p:grpSpPr>
        <p:sp>
          <p:nvSpPr>
            <p:cNvPr id="481" name="Google Shape;481;h72088bf70636b300_0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2" name="Google Shape;482;h72088bf70636b300_0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3" name="Google Shape;483;h72088bf70636b300_0_0"/>
          <p:cNvSpPr txBox="1"/>
          <p:nvPr/>
        </p:nvSpPr>
        <p:spPr>
          <a:xfrm>
            <a:off x="7884316" y="293825"/>
            <a:ext cx="6840300" cy="1763400"/>
          </a:xfrm>
          <a:prstGeom prst="rect">
            <a:avLst/>
          </a:prstGeom>
          <a:noFill/>
          <a:ln>
            <a:noFill/>
          </a:ln>
        </p:spPr>
        <p:txBody>
          <a:bodyPr anchorCtr="0" anchor="t" bIns="0" lIns="0" spcFirstLastPara="1" rIns="0" wrap="square" tIns="0">
            <a:spAutoFit/>
          </a:bodyPr>
          <a:lstStyle/>
          <a:p>
            <a:pPr indent="0" lvl="0" marL="0" marR="0" rtl="0" algn="l">
              <a:lnSpc>
                <a:spcPct val="112996"/>
              </a:lnSpc>
              <a:spcBef>
                <a:spcPts val="0"/>
              </a:spcBef>
              <a:spcAft>
                <a:spcPts val="0"/>
              </a:spcAft>
              <a:buClr>
                <a:srgbClr val="000000"/>
              </a:buClr>
              <a:buSzPts val="11457"/>
              <a:buFont typeface="Arial"/>
              <a:buNone/>
            </a:pPr>
            <a:r>
              <a:rPr lang="en-US" sz="11457">
                <a:latin typeface="Impact"/>
                <a:ea typeface="Impact"/>
                <a:cs typeface="Impact"/>
                <a:sym typeface="Impact"/>
              </a:rPr>
              <a:t>TESTEO</a:t>
            </a:r>
            <a:endParaRPr b="0" i="0" sz="1400" u="none" cap="none" strike="noStrike">
              <a:solidFill>
                <a:srgbClr val="000000"/>
              </a:solidFill>
              <a:latin typeface="Arial"/>
              <a:ea typeface="Arial"/>
              <a:cs typeface="Arial"/>
              <a:sym typeface="Arial"/>
            </a:endParaRPr>
          </a:p>
        </p:txBody>
      </p:sp>
      <p:pic>
        <p:nvPicPr>
          <p:cNvPr id="484" name="Google Shape;484;h72088bf70636b300_0_0" title="WhatsApp Image 2026-10-04 at 11.08.47 PM.jpeg"/>
          <p:cNvPicPr preferRelativeResize="0"/>
          <p:nvPr/>
        </p:nvPicPr>
        <p:blipFill>
          <a:blip r:embed="rId3">
            <a:alphaModFix/>
          </a:blip>
          <a:stretch>
            <a:fillRect/>
          </a:stretch>
        </p:blipFill>
        <p:spPr>
          <a:xfrm>
            <a:off x="3328126" y="2209625"/>
            <a:ext cx="14807472" cy="2535780"/>
          </a:xfrm>
          <a:prstGeom prst="rect">
            <a:avLst/>
          </a:prstGeom>
          <a:noFill/>
          <a:ln>
            <a:noFill/>
          </a:ln>
        </p:spPr>
      </p:pic>
      <p:pic>
        <p:nvPicPr>
          <p:cNvPr id="485" name="Google Shape;485;h72088bf70636b300_0_0" title="WhatsApp Image 2026-10-04 at 11.08.48 PM.jpeg"/>
          <p:cNvPicPr preferRelativeResize="0"/>
          <p:nvPr/>
        </p:nvPicPr>
        <p:blipFill>
          <a:blip r:embed="rId4">
            <a:alphaModFix/>
          </a:blip>
          <a:stretch>
            <a:fillRect/>
          </a:stretch>
        </p:blipFill>
        <p:spPr>
          <a:xfrm>
            <a:off x="3328125" y="4897800"/>
            <a:ext cx="14695474" cy="4512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93" name="Shape 493"/>
        <p:cNvGrpSpPr/>
        <p:nvPr/>
      </p:nvGrpSpPr>
      <p:grpSpPr>
        <a:xfrm>
          <a:off x="0" y="0"/>
          <a:ext cx="0" cy="0"/>
          <a:chOff x="0" y="0"/>
          <a:chExt cx="0" cy="0"/>
        </a:xfrm>
      </p:grpSpPr>
      <p:grpSp>
        <p:nvGrpSpPr>
          <p:cNvPr id="494" name="Google Shape;494;p14"/>
          <p:cNvGrpSpPr/>
          <p:nvPr/>
        </p:nvGrpSpPr>
        <p:grpSpPr>
          <a:xfrm>
            <a:off x="3244373" y="841107"/>
            <a:ext cx="3706184" cy="9445893"/>
            <a:chOff x="0" y="-38100"/>
            <a:chExt cx="752722" cy="1918450"/>
          </a:xfrm>
        </p:grpSpPr>
        <p:sp>
          <p:nvSpPr>
            <p:cNvPr id="495" name="Google Shape;495;p14"/>
            <p:cNvSpPr/>
            <p:nvPr/>
          </p:nvSpPr>
          <p:spPr>
            <a:xfrm>
              <a:off x="0" y="0"/>
              <a:ext cx="752722" cy="1880350"/>
            </a:xfrm>
            <a:custGeom>
              <a:rect b="b" l="l" r="r" t="t"/>
              <a:pathLst>
                <a:path extrusionOk="0" h="1880350" w="752722">
                  <a:moveTo>
                    <a:pt x="0" y="0"/>
                  </a:moveTo>
                  <a:lnTo>
                    <a:pt x="752722" y="0"/>
                  </a:lnTo>
                  <a:lnTo>
                    <a:pt x="752722" y="1880350"/>
                  </a:lnTo>
                  <a:lnTo>
                    <a:pt x="0" y="1880350"/>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14"/>
            <p:cNvSpPr txBox="1"/>
            <p:nvPr/>
          </p:nvSpPr>
          <p:spPr>
            <a:xfrm>
              <a:off x="0" y="-38100"/>
              <a:ext cx="752722" cy="191845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7" name="Google Shape;497;p14"/>
          <p:cNvGrpSpPr/>
          <p:nvPr/>
        </p:nvGrpSpPr>
        <p:grpSpPr>
          <a:xfrm>
            <a:off x="2257425" y="1685925"/>
            <a:ext cx="13232549" cy="7633610"/>
            <a:chOff x="0" y="-38100"/>
            <a:chExt cx="3368518" cy="2010485"/>
          </a:xfrm>
        </p:grpSpPr>
        <p:sp>
          <p:nvSpPr>
            <p:cNvPr id="498" name="Google Shape;498;p14"/>
            <p:cNvSpPr/>
            <p:nvPr/>
          </p:nvSpPr>
          <p:spPr>
            <a:xfrm>
              <a:off x="0" y="0"/>
              <a:ext cx="3368518" cy="1972385"/>
            </a:xfrm>
            <a:custGeom>
              <a:rect b="b" l="l" r="r" t="t"/>
              <a:pathLst>
                <a:path extrusionOk="0" h="1972385" w="3368518">
                  <a:moveTo>
                    <a:pt x="0" y="0"/>
                  </a:moveTo>
                  <a:lnTo>
                    <a:pt x="3368518" y="0"/>
                  </a:lnTo>
                  <a:lnTo>
                    <a:pt x="3368518" y="1972385"/>
                  </a:lnTo>
                  <a:lnTo>
                    <a:pt x="0" y="1972385"/>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14"/>
            <p:cNvSpPr txBox="1"/>
            <p:nvPr/>
          </p:nvSpPr>
          <p:spPr>
            <a:xfrm>
              <a:off x="0" y="-38100"/>
              <a:ext cx="3368518" cy="201048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0" name="Google Shape;500;p14"/>
          <p:cNvGrpSpPr/>
          <p:nvPr/>
        </p:nvGrpSpPr>
        <p:grpSpPr>
          <a:xfrm>
            <a:off x="16021065" y="8467047"/>
            <a:ext cx="4001993" cy="4001993"/>
            <a:chOff x="0" y="0"/>
            <a:chExt cx="812800" cy="812800"/>
          </a:xfrm>
        </p:grpSpPr>
        <p:sp>
          <p:nvSpPr>
            <p:cNvPr id="501" name="Google Shape;50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3" name="Google Shape;503;p14"/>
          <p:cNvSpPr/>
          <p:nvPr/>
        </p:nvSpPr>
        <p:spPr>
          <a:xfrm rot="-5400000">
            <a:off x="16434244" y="8604381"/>
            <a:ext cx="219896" cy="1430217"/>
          </a:xfrm>
          <a:custGeom>
            <a:rect b="b" l="l" r="r" t="t"/>
            <a:pathLst>
              <a:path extrusionOk="0" h="1430217" w="219896">
                <a:moveTo>
                  <a:pt x="0" y="0"/>
                </a:moveTo>
                <a:lnTo>
                  <a:pt x="219895" y="0"/>
                </a:lnTo>
                <a:lnTo>
                  <a:pt x="219895"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4" name="Google Shape;504;p14"/>
          <p:cNvSpPr/>
          <p:nvPr/>
        </p:nvSpPr>
        <p:spPr>
          <a:xfrm>
            <a:off x="1028700" y="1028700"/>
            <a:ext cx="1088196" cy="1088196"/>
          </a:xfrm>
          <a:custGeom>
            <a:rect b="b" l="l" r="r" t="t"/>
            <a:pathLst>
              <a:path extrusionOk="0" h="1088196" w="1088196">
                <a:moveTo>
                  <a:pt x="0" y="0"/>
                </a:moveTo>
                <a:lnTo>
                  <a:pt x="1088196" y="0"/>
                </a:lnTo>
                <a:lnTo>
                  <a:pt x="1088196" y="1088196"/>
                </a:lnTo>
                <a:lnTo>
                  <a:pt x="0" y="1088196"/>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5" name="Google Shape;505;p14"/>
          <p:cNvSpPr txBox="1"/>
          <p:nvPr/>
        </p:nvSpPr>
        <p:spPr>
          <a:xfrm>
            <a:off x="9601201" y="260240"/>
            <a:ext cx="7930406" cy="1372171"/>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DEMOSTRACIÓN </a:t>
            </a:r>
            <a:endParaRPr b="0" i="0" sz="1400" u="none" cap="none" strike="noStrike">
              <a:solidFill>
                <a:srgbClr val="000000"/>
              </a:solidFill>
              <a:latin typeface="Arial"/>
              <a:ea typeface="Arial"/>
              <a:cs typeface="Arial"/>
              <a:sym typeface="Arial"/>
            </a:endParaRPr>
          </a:p>
        </p:txBody>
      </p:sp>
      <p:pic>
        <p:nvPicPr>
          <p:cNvPr id="506" name="Google Shape;506;p14" title="Demostracion.mp4">
            <a:hlinkClick r:id="rId3"/>
          </p:cNvPr>
          <p:cNvPicPr preferRelativeResize="0"/>
          <p:nvPr/>
        </p:nvPicPr>
        <p:blipFill>
          <a:blip r:embed="rId4">
            <a:alphaModFix/>
          </a:blip>
          <a:stretch>
            <a:fillRect/>
          </a:stretch>
        </p:blipFill>
        <p:spPr>
          <a:xfrm>
            <a:off x="2589250" y="2104200"/>
            <a:ext cx="12576875" cy="691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514" name="Shape 514"/>
        <p:cNvGrpSpPr/>
        <p:nvPr/>
      </p:nvGrpSpPr>
      <p:grpSpPr>
        <a:xfrm>
          <a:off x="0" y="0"/>
          <a:ext cx="0" cy="0"/>
          <a:chOff x="0" y="0"/>
          <a:chExt cx="0" cy="0"/>
        </a:xfrm>
      </p:grpSpPr>
      <p:grpSp>
        <p:nvGrpSpPr>
          <p:cNvPr id="515" name="Google Shape;515;p15"/>
          <p:cNvGrpSpPr/>
          <p:nvPr/>
        </p:nvGrpSpPr>
        <p:grpSpPr>
          <a:xfrm>
            <a:off x="-4432416" y="4521897"/>
            <a:ext cx="7613660" cy="7613660"/>
            <a:chOff x="0" y="0"/>
            <a:chExt cx="812800" cy="812800"/>
          </a:xfrm>
        </p:grpSpPr>
        <p:sp>
          <p:nvSpPr>
            <p:cNvPr id="516" name="Google Shape;516;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p15"/>
          <p:cNvGrpSpPr/>
          <p:nvPr/>
        </p:nvGrpSpPr>
        <p:grpSpPr>
          <a:xfrm>
            <a:off x="-106638" y="8075353"/>
            <a:ext cx="18501914" cy="2443903"/>
            <a:chOff x="0" y="-38100"/>
            <a:chExt cx="4872900" cy="709200"/>
          </a:xfrm>
        </p:grpSpPr>
        <p:sp>
          <p:nvSpPr>
            <p:cNvPr id="519" name="Google Shape;519;p15"/>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0" name="Google Shape;520;p15"/>
            <p:cNvSpPr txBox="1"/>
            <p:nvPr/>
          </p:nvSpPr>
          <p:spPr>
            <a:xfrm>
              <a:off x="0" y="-38100"/>
              <a:ext cx="4872900" cy="7092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1" name="Google Shape;521;p15"/>
          <p:cNvGrpSpPr/>
          <p:nvPr/>
        </p:nvGrpSpPr>
        <p:grpSpPr>
          <a:xfrm>
            <a:off x="13172228" y="5377078"/>
            <a:ext cx="2291446" cy="2291446"/>
            <a:chOff x="0" y="0"/>
            <a:chExt cx="812800" cy="812800"/>
          </a:xfrm>
        </p:grpSpPr>
        <p:sp>
          <p:nvSpPr>
            <p:cNvPr id="522" name="Google Shape;522;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4" name="Google Shape;524;p15"/>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25" name="Google Shape;525;p15"/>
          <p:cNvGrpSpPr/>
          <p:nvPr/>
        </p:nvGrpSpPr>
        <p:grpSpPr>
          <a:xfrm>
            <a:off x="-2609694" y="5597423"/>
            <a:ext cx="4689612" cy="4689612"/>
            <a:chOff x="0" y="0"/>
            <a:chExt cx="812800" cy="812800"/>
          </a:xfrm>
        </p:grpSpPr>
        <p:sp>
          <p:nvSpPr>
            <p:cNvPr id="526" name="Google Shape;526;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15"/>
          <p:cNvGrpSpPr/>
          <p:nvPr/>
        </p:nvGrpSpPr>
        <p:grpSpPr>
          <a:xfrm>
            <a:off x="14740038" y="-3443680"/>
            <a:ext cx="6669756" cy="6669756"/>
            <a:chOff x="0" y="0"/>
            <a:chExt cx="812800" cy="812800"/>
          </a:xfrm>
        </p:grpSpPr>
        <p:sp>
          <p:nvSpPr>
            <p:cNvPr id="529" name="Google Shape;529;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15"/>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15"/>
          <p:cNvSpPr txBox="1"/>
          <p:nvPr/>
        </p:nvSpPr>
        <p:spPr>
          <a:xfrm>
            <a:off x="1261789" y="2528950"/>
            <a:ext cx="15764400" cy="31242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GRUPO 18: PUERTAS BLINDADAS - MODULO FINANCIERO</a:t>
            </a:r>
            <a:endParaRPr b="0" i="0" sz="1400" u="none" cap="none" strike="noStrike">
              <a:solidFill>
                <a:srgbClr val="000000"/>
              </a:solidFill>
              <a:latin typeface="Arial"/>
              <a:ea typeface="Arial"/>
              <a:cs typeface="Arial"/>
              <a:sym typeface="Arial"/>
            </a:endParaRPr>
          </a:p>
        </p:txBody>
      </p:sp>
      <p:sp>
        <p:nvSpPr>
          <p:cNvPr id="533" name="Google Shape;533;p15"/>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Angella Sanchez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Daniella Lecanda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Gianella Catalán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Sebastian Bravo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Valentin Garcia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Vicente Hernandez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1" i="0" sz="2000" u="none" cap="none" strike="noStrike">
              <a:solidFill>
                <a:srgbClr val="7D7C7C"/>
              </a:solidFill>
              <a:latin typeface="Inter Medium"/>
              <a:ea typeface="Inter Medium"/>
              <a:cs typeface="Inter Medium"/>
              <a:sym typeface="Inter Medium"/>
            </a:endParaRPr>
          </a:p>
        </p:txBody>
      </p:sp>
      <p:sp>
        <p:nvSpPr>
          <p:cNvPr id="534" name="Google Shape;534;p15"/>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