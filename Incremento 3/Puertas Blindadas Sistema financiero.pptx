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Impact" panose="020B0806030902050204" pitchFamily="34" charset="0"/>
      <p:regular r:id="rId19"/>
    </p:embeddedFon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Inter Medium" panose="020B0604020202020204" charset="0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Poppins Black" panose="00000A00000000000000" pitchFamily="2" charset="0"/>
      <p:bold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2ac211eMgdUy5UdT3/gHYTg85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362481-975E-42C9-97F0-CB12015AEE75}">
  <a:tblStyle styleId="{E5362481-975E-42C9-97F0-CB12015AEE7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viewProps" Target="viewProps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5" name="Google Shape;115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8" name="Google Shape;168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7" name="Google Shape;207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41dc49bcd25866c6_0_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h41dc49bcd25866c6_0_1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8" name="Google Shape;248;h41dc49bcd25866c6_0_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h41dc49bcd25866c6_0_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h41dc49bcd25866c6_0_1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h41dc49bcd25866c6_0_1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5" name="Google Shape;275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6" name="Google Shape;296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9" name="Google Shape;339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8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6" name="Google Shape;366;p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p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88" name="Google Shape;388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1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p1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05" name="Google Shape;405;p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7" name="Google Shape;407;p1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21" name="Google Shape;421;p1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1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1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44" name="Google Shape;444;p1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1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6" name="Google Shape;446;p1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h72088bf70636b300_0_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h72088bf70636b300_0_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66" name="Google Shape;466;h72088bf70636b300_0_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h72088bf70636b300_0_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h72088bf70636b300_0_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h72088bf70636b300_0_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89" name="Google Shape;489;p1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1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p1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10" name="Google Shape;510;p1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00" cy="25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p1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2" name="Google Shape;512;p1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UABTEyvR-UMUmItYbACNxN6TJApU1aMW/view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"/>
          <p:cNvGrpSpPr/>
          <p:nvPr/>
        </p:nvGrpSpPr>
        <p:grpSpPr>
          <a:xfrm>
            <a:off x="-4432416" y="4521897"/>
            <a:ext cx="7613660" cy="7613660"/>
            <a:chOff x="0" y="0"/>
            <a:chExt cx="812800" cy="812800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-106638" y="8075352"/>
            <a:ext cx="18501275" cy="2443817"/>
            <a:chOff x="0" y="-38100"/>
            <a:chExt cx="4872764" cy="709165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4872764" cy="671065"/>
            </a:xfrm>
            <a:custGeom>
              <a:avLst/>
              <a:gdLst/>
              <a:ahLst/>
              <a:cxnLst/>
              <a:rect l="l" t="t" r="r" b="b"/>
              <a:pathLst>
                <a:path w="4872764" h="671065" extrusionOk="0">
                  <a:moveTo>
                    <a:pt x="0" y="0"/>
                  </a:moveTo>
                  <a:lnTo>
                    <a:pt x="4872764" y="0"/>
                  </a:lnTo>
                  <a:lnTo>
                    <a:pt x="4872764" y="671065"/>
                  </a:lnTo>
                  <a:lnTo>
                    <a:pt x="0" y="671065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0" y="-38100"/>
              <a:ext cx="4872764" cy="709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3172228" y="5377078"/>
            <a:ext cx="2291446" cy="2291446"/>
            <a:chOff x="0" y="0"/>
            <a:chExt cx="812800" cy="812800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"/>
          <p:cNvSpPr/>
          <p:nvPr/>
        </p:nvSpPr>
        <p:spPr>
          <a:xfrm flipH="1">
            <a:off x="10749198" y="6312597"/>
            <a:ext cx="4714462" cy="420373"/>
          </a:xfrm>
          <a:custGeom>
            <a:avLst/>
            <a:gdLst/>
            <a:ahLst/>
            <a:cxnLst/>
            <a:rect l="l" t="t" r="r" b="b"/>
            <a:pathLst>
              <a:path w="4714462" h="420373" extrusionOk="0">
                <a:moveTo>
                  <a:pt x="4714463" y="0"/>
                </a:moveTo>
                <a:lnTo>
                  <a:pt x="0" y="0"/>
                </a:lnTo>
                <a:lnTo>
                  <a:pt x="0" y="420373"/>
                </a:lnTo>
                <a:lnTo>
                  <a:pt x="4714463" y="420373"/>
                </a:lnTo>
                <a:lnTo>
                  <a:pt x="4714463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1"/>
          <p:cNvGrpSpPr/>
          <p:nvPr/>
        </p:nvGrpSpPr>
        <p:grpSpPr>
          <a:xfrm>
            <a:off x="-2609694" y="5597423"/>
            <a:ext cx="4689577" cy="4689577"/>
            <a:chOff x="0" y="0"/>
            <a:chExt cx="812800" cy="812800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"/>
          <p:cNvGrpSpPr/>
          <p:nvPr/>
        </p:nvGrpSpPr>
        <p:grpSpPr>
          <a:xfrm>
            <a:off x="14740038" y="-3443680"/>
            <a:ext cx="6669748" cy="6669748"/>
            <a:chOff x="0" y="0"/>
            <a:chExt cx="812800" cy="812800"/>
          </a:xfrm>
        </p:grpSpPr>
        <p:sp>
          <p:nvSpPr>
            <p:cNvPr id="106" name="Google Shape;106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"/>
          <p:cNvSpPr/>
          <p:nvPr/>
        </p:nvSpPr>
        <p:spPr>
          <a:xfrm>
            <a:off x="14317944" y="8835817"/>
            <a:ext cx="1145716" cy="422483"/>
          </a:xfrm>
          <a:custGeom>
            <a:avLst/>
            <a:gdLst/>
            <a:ahLst/>
            <a:cxnLst/>
            <a:rect l="l" t="t" r="r" b="b"/>
            <a:pathLst>
              <a:path w="1145716" h="422483" extrusionOk="0">
                <a:moveTo>
                  <a:pt x="0" y="0"/>
                </a:moveTo>
                <a:lnTo>
                  <a:pt x="1145717" y="0"/>
                </a:lnTo>
                <a:lnTo>
                  <a:pt x="1145717" y="422483"/>
                </a:lnTo>
                <a:lnTo>
                  <a:pt x="0" y="42248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261789" y="2528950"/>
            <a:ext cx="157644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lang="en-US" sz="99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GRUPO 18: PUERTAS BLINDADAS - MODULO FINANCIERO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3330300" y="5597424"/>
            <a:ext cx="5851800" cy="30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7C7C"/>
                </a:solidFill>
                <a:latin typeface="Inter Medium"/>
                <a:ea typeface="Inter Medium"/>
                <a:cs typeface="Inter Medium"/>
                <a:sym typeface="Inter Medium"/>
              </a:rPr>
              <a:t>Angella Sanchez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7C7C"/>
                </a:solidFill>
                <a:latin typeface="Inter Medium"/>
                <a:ea typeface="Inter Medium"/>
                <a:cs typeface="Inter Medium"/>
                <a:sym typeface="Inter Medium"/>
              </a:rPr>
              <a:t>Daniella Lecanda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7C7C"/>
                </a:solidFill>
                <a:latin typeface="Inter Medium"/>
                <a:ea typeface="Inter Medium"/>
                <a:cs typeface="Inter Medium"/>
                <a:sym typeface="Inter Medium"/>
              </a:rPr>
              <a:t>Gianella Catalán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7C7C"/>
                </a:solidFill>
                <a:latin typeface="Inter Medium"/>
                <a:ea typeface="Inter Medium"/>
                <a:cs typeface="Inter Medium"/>
                <a:sym typeface="Inter Medium"/>
              </a:rPr>
              <a:t>Sebastian Bravo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7C7C"/>
                </a:solidFill>
                <a:latin typeface="Inter Medium"/>
                <a:ea typeface="Inter Medium"/>
                <a:cs typeface="Inter Medium"/>
                <a:sym typeface="Inter Medium"/>
              </a:rPr>
              <a:t>Valentin Garcia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7C7C"/>
                </a:solidFill>
                <a:latin typeface="Inter Medium"/>
                <a:ea typeface="Inter Medium"/>
                <a:cs typeface="Inter Medium"/>
                <a:sym typeface="Inter Medium"/>
              </a:rPr>
              <a:t>Vicente Hernandez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7D7C7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285085" y="176461"/>
            <a:ext cx="5519290" cy="2028339"/>
          </a:xfrm>
          <a:custGeom>
            <a:avLst/>
            <a:gdLst/>
            <a:ahLst/>
            <a:cxnLst/>
            <a:rect l="l" t="t" r="r" b="b"/>
            <a:pathLst>
              <a:path w="5519290" h="2028339" extrusionOk="0">
                <a:moveTo>
                  <a:pt x="0" y="0"/>
                </a:moveTo>
                <a:lnTo>
                  <a:pt x="5519289" y="0"/>
                </a:lnTo>
                <a:lnTo>
                  <a:pt x="5519289" y="2028339"/>
                </a:lnTo>
                <a:lnTo>
                  <a:pt x="0" y="2028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"/>
          <p:cNvGrpSpPr/>
          <p:nvPr/>
        </p:nvGrpSpPr>
        <p:grpSpPr>
          <a:xfrm>
            <a:off x="13964328" y="289313"/>
            <a:ext cx="3480018" cy="6840051"/>
            <a:chOff x="0" y="-38100"/>
            <a:chExt cx="916542" cy="1801483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916542" cy="1763382"/>
            </a:xfrm>
            <a:custGeom>
              <a:avLst/>
              <a:gdLst/>
              <a:ahLst/>
              <a:cxnLst/>
              <a:rect l="l" t="t" r="r" b="b"/>
              <a:pathLst>
                <a:path w="916542" h="1763382" extrusionOk="0">
                  <a:moveTo>
                    <a:pt x="0" y="0"/>
                  </a:moveTo>
                  <a:lnTo>
                    <a:pt x="916542" y="0"/>
                  </a:lnTo>
                  <a:lnTo>
                    <a:pt x="916542" y="1763382"/>
                  </a:lnTo>
                  <a:lnTo>
                    <a:pt x="0" y="1763382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0" y="-38100"/>
              <a:ext cx="916542" cy="1801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5957953" y="3791041"/>
            <a:ext cx="7613660" cy="7613660"/>
            <a:chOff x="0" y="0"/>
            <a:chExt cx="812800" cy="812800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9490227" y="490073"/>
            <a:ext cx="6409551" cy="9129897"/>
            <a:chOff x="0" y="-38100"/>
            <a:chExt cx="1688101" cy="2404566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688101" cy="2366466"/>
            </a:xfrm>
            <a:custGeom>
              <a:avLst/>
              <a:gdLst/>
              <a:ahLst/>
              <a:cxnLst/>
              <a:rect l="l" t="t" r="r" b="b"/>
              <a:pathLst>
                <a:path w="1688101" h="2366466" extrusionOk="0">
                  <a:moveTo>
                    <a:pt x="0" y="0"/>
                  </a:moveTo>
                  <a:lnTo>
                    <a:pt x="1688101" y="0"/>
                  </a:lnTo>
                  <a:lnTo>
                    <a:pt x="1688101" y="2366466"/>
                  </a:lnTo>
                  <a:lnTo>
                    <a:pt x="0" y="2366466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0" y="-38100"/>
              <a:ext cx="1688101" cy="2404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0567253" y="1240279"/>
            <a:ext cx="709005" cy="709005"/>
            <a:chOff x="0" y="0"/>
            <a:chExt cx="812800" cy="812800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1" i="0" u="none" strike="noStrike" cap="non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10567253" y="2196258"/>
            <a:ext cx="709005" cy="709005"/>
            <a:chOff x="0" y="0"/>
            <a:chExt cx="812800" cy="812800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1" i="0" u="none" strike="noStrike" cap="non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2"/>
          <p:cNvGrpSpPr/>
          <p:nvPr/>
        </p:nvGrpSpPr>
        <p:grpSpPr>
          <a:xfrm>
            <a:off x="10567253" y="3152939"/>
            <a:ext cx="709005" cy="709005"/>
            <a:chOff x="0" y="0"/>
            <a:chExt cx="812800" cy="812800"/>
          </a:xfrm>
        </p:grpSpPr>
        <p:sp>
          <p:nvSpPr>
            <p:cNvPr id="136" name="Google Shape;136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1" i="0" u="none" strike="noStrike" cap="non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2"/>
          <p:cNvGrpSpPr/>
          <p:nvPr/>
        </p:nvGrpSpPr>
        <p:grpSpPr>
          <a:xfrm>
            <a:off x="10567253" y="4109619"/>
            <a:ext cx="709005" cy="709005"/>
            <a:chOff x="0" y="0"/>
            <a:chExt cx="812800" cy="812800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1" i="0" u="none" strike="noStrike" cap="non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2"/>
          <p:cNvGrpSpPr/>
          <p:nvPr/>
        </p:nvGrpSpPr>
        <p:grpSpPr>
          <a:xfrm>
            <a:off x="10567253" y="5066299"/>
            <a:ext cx="709005" cy="709005"/>
            <a:chOff x="0" y="0"/>
            <a:chExt cx="812800" cy="812800"/>
          </a:xfrm>
        </p:grpSpPr>
        <p:sp>
          <p:nvSpPr>
            <p:cNvPr id="142" name="Google Shape;142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1" i="0" u="none" strike="noStrike" cap="non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2"/>
          <p:cNvGrpSpPr/>
          <p:nvPr/>
        </p:nvGrpSpPr>
        <p:grpSpPr>
          <a:xfrm>
            <a:off x="10567253" y="6022979"/>
            <a:ext cx="709005" cy="709005"/>
            <a:chOff x="0" y="0"/>
            <a:chExt cx="812800" cy="812800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1" i="0" u="none" strike="noStrike" cap="non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2"/>
          <p:cNvSpPr/>
          <p:nvPr/>
        </p:nvSpPr>
        <p:spPr>
          <a:xfrm>
            <a:off x="1028700" y="7053599"/>
            <a:ext cx="7159730" cy="833132"/>
          </a:xfrm>
          <a:custGeom>
            <a:avLst/>
            <a:gdLst/>
            <a:ahLst/>
            <a:cxnLst/>
            <a:rect l="l" t="t" r="r" b="b"/>
            <a:pathLst>
              <a:path w="7159730" h="833132" extrusionOk="0">
                <a:moveTo>
                  <a:pt x="0" y="0"/>
                </a:moveTo>
                <a:lnTo>
                  <a:pt x="7159730" y="0"/>
                </a:lnTo>
                <a:lnTo>
                  <a:pt x="7159730" y="833132"/>
                </a:lnTo>
                <a:lnTo>
                  <a:pt x="0" y="83313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 rot="-5400000">
            <a:off x="1687106" y="5007850"/>
            <a:ext cx="239244" cy="1556056"/>
          </a:xfrm>
          <a:custGeom>
            <a:avLst/>
            <a:gdLst/>
            <a:ahLst/>
            <a:cxnLst/>
            <a:rect l="l" t="t" r="r" b="b"/>
            <a:pathLst>
              <a:path w="239244" h="1556056" extrusionOk="0">
                <a:moveTo>
                  <a:pt x="0" y="0"/>
                </a:moveTo>
                <a:lnTo>
                  <a:pt x="239244" y="0"/>
                </a:lnTo>
                <a:lnTo>
                  <a:pt x="239244" y="1556056"/>
                </a:lnTo>
                <a:lnTo>
                  <a:pt x="0" y="155605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311939" y="925385"/>
            <a:ext cx="9484500" cy="28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99"/>
              <a:buFont typeface="Arial"/>
              <a:buNone/>
            </a:pPr>
            <a:r>
              <a:rPr lang="en-US" sz="89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TABLA DE CONTENIDOS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028700" y="4305300"/>
            <a:ext cx="4929247" cy="130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 la siguiente presentación se consideran los siguientes contenidos.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1608223" y="1368100"/>
            <a:ext cx="35382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1608223" y="6179290"/>
            <a:ext cx="353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Modelo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1608223" y="7122446"/>
            <a:ext cx="353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Árbol de Navegación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1598024" y="4264032"/>
            <a:ext cx="417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Diagrama de Componentes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1608223" y="2196252"/>
            <a:ext cx="35382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Requerimiento 8</a:t>
            </a: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11608223" y="3222477"/>
            <a:ext cx="353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Requerimiento </a:t>
            </a: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2"/>
          <p:cNvGrpSpPr/>
          <p:nvPr/>
        </p:nvGrpSpPr>
        <p:grpSpPr>
          <a:xfrm>
            <a:off x="10567253" y="6979659"/>
            <a:ext cx="709005" cy="709005"/>
            <a:chOff x="0" y="0"/>
            <a:chExt cx="812800" cy="812800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1" i="0" u="none" strike="noStrike" cap="non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2"/>
          <p:cNvSpPr txBox="1"/>
          <p:nvPr/>
        </p:nvSpPr>
        <p:spPr>
          <a:xfrm>
            <a:off x="11608223" y="8061513"/>
            <a:ext cx="35382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Demostración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2"/>
          <p:cNvGrpSpPr/>
          <p:nvPr/>
        </p:nvGrpSpPr>
        <p:grpSpPr>
          <a:xfrm>
            <a:off x="10567253" y="7936339"/>
            <a:ext cx="709005" cy="709005"/>
            <a:chOff x="0" y="0"/>
            <a:chExt cx="812800" cy="812800"/>
          </a:xfrm>
        </p:grpSpPr>
        <p:sp>
          <p:nvSpPr>
            <p:cNvPr id="162" name="Google Shape;162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lang="en-US" sz="2300" b="1" i="0" u="none" strike="noStrike" cap="non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2"/>
          <p:cNvSpPr txBox="1"/>
          <p:nvPr/>
        </p:nvSpPr>
        <p:spPr>
          <a:xfrm>
            <a:off x="11579348" y="5236155"/>
            <a:ext cx="383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Diagrama de Despliegue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3"/>
          <p:cNvGrpSpPr/>
          <p:nvPr/>
        </p:nvGrpSpPr>
        <p:grpSpPr>
          <a:xfrm>
            <a:off x="-2822684" y="6496485"/>
            <a:ext cx="7613660" cy="7613660"/>
            <a:chOff x="0" y="0"/>
            <a:chExt cx="812800" cy="812800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1028700" y="7334067"/>
            <a:ext cx="16230600" cy="2253712"/>
            <a:chOff x="0" y="-38100"/>
            <a:chExt cx="4274726" cy="59357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4274726" cy="555470"/>
            </a:xfrm>
            <a:custGeom>
              <a:avLst/>
              <a:gdLst/>
              <a:ahLst/>
              <a:cxnLst/>
              <a:rect l="l" t="t" r="r" b="b"/>
              <a:pathLst>
                <a:path w="4274726" h="555470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555470"/>
                  </a:lnTo>
                  <a:lnTo>
                    <a:pt x="0" y="555470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0" y="-38100"/>
              <a:ext cx="4274726" cy="593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3"/>
          <p:cNvSpPr/>
          <p:nvPr/>
        </p:nvSpPr>
        <p:spPr>
          <a:xfrm rot="-5400000">
            <a:off x="1589307" y="-385887"/>
            <a:ext cx="219896" cy="1430217"/>
          </a:xfrm>
          <a:custGeom>
            <a:avLst/>
            <a:gdLst/>
            <a:ahLst/>
            <a:cxnLst/>
            <a:rect l="l" t="t" r="r" b="b"/>
            <a:pathLst>
              <a:path w="219896" h="1430217" extrusionOk="0">
                <a:moveTo>
                  <a:pt x="0" y="0"/>
                </a:moveTo>
                <a:lnTo>
                  <a:pt x="219896" y="0"/>
                </a:lnTo>
                <a:lnTo>
                  <a:pt x="219896" y="1430217"/>
                </a:lnTo>
                <a:lnTo>
                  <a:pt x="0" y="143021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p3"/>
          <p:cNvGrpSpPr/>
          <p:nvPr/>
        </p:nvGrpSpPr>
        <p:grpSpPr>
          <a:xfrm>
            <a:off x="2057112" y="6895172"/>
            <a:ext cx="4381725" cy="2357283"/>
            <a:chOff x="0" y="-38100"/>
            <a:chExt cx="1154027" cy="620844"/>
          </a:xfrm>
        </p:grpSpPr>
        <p:sp>
          <p:nvSpPr>
            <p:cNvPr id="181" name="Google Shape;181;p3"/>
            <p:cNvSpPr/>
            <p:nvPr/>
          </p:nvSpPr>
          <p:spPr>
            <a:xfrm>
              <a:off x="0" y="0"/>
              <a:ext cx="1154027" cy="582744"/>
            </a:xfrm>
            <a:custGeom>
              <a:avLst/>
              <a:gdLst/>
              <a:ahLst/>
              <a:cxnLst/>
              <a:rect l="l" t="t" r="r" b="b"/>
              <a:pathLst>
                <a:path w="1154027" h="582744" extrusionOk="0">
                  <a:moveTo>
                    <a:pt x="0" y="0"/>
                  </a:moveTo>
                  <a:lnTo>
                    <a:pt x="1154027" y="0"/>
                  </a:lnTo>
                  <a:lnTo>
                    <a:pt x="1154027" y="582744"/>
                  </a:lnTo>
                  <a:lnTo>
                    <a:pt x="0" y="582744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 txBox="1"/>
            <p:nvPr/>
          </p:nvSpPr>
          <p:spPr>
            <a:xfrm>
              <a:off x="0" y="-38100"/>
              <a:ext cx="1154027" cy="6208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3"/>
          <p:cNvGrpSpPr/>
          <p:nvPr/>
        </p:nvGrpSpPr>
        <p:grpSpPr>
          <a:xfrm>
            <a:off x="6953152" y="6895172"/>
            <a:ext cx="4381725" cy="2357283"/>
            <a:chOff x="0" y="-38100"/>
            <a:chExt cx="1154027" cy="620844"/>
          </a:xfrm>
        </p:grpSpPr>
        <p:sp>
          <p:nvSpPr>
            <p:cNvPr id="184" name="Google Shape;184;p3"/>
            <p:cNvSpPr/>
            <p:nvPr/>
          </p:nvSpPr>
          <p:spPr>
            <a:xfrm>
              <a:off x="0" y="0"/>
              <a:ext cx="1154027" cy="582744"/>
            </a:xfrm>
            <a:custGeom>
              <a:avLst/>
              <a:gdLst/>
              <a:ahLst/>
              <a:cxnLst/>
              <a:rect l="l" t="t" r="r" b="b"/>
              <a:pathLst>
                <a:path w="1154027" h="582744" extrusionOk="0">
                  <a:moveTo>
                    <a:pt x="0" y="0"/>
                  </a:moveTo>
                  <a:lnTo>
                    <a:pt x="1154027" y="0"/>
                  </a:lnTo>
                  <a:lnTo>
                    <a:pt x="1154027" y="582744"/>
                  </a:lnTo>
                  <a:lnTo>
                    <a:pt x="0" y="582744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3"/>
            <p:cNvSpPr txBox="1"/>
            <p:nvPr/>
          </p:nvSpPr>
          <p:spPr>
            <a:xfrm>
              <a:off x="0" y="-38100"/>
              <a:ext cx="1154027" cy="6208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3"/>
          <p:cNvGrpSpPr/>
          <p:nvPr/>
        </p:nvGrpSpPr>
        <p:grpSpPr>
          <a:xfrm>
            <a:off x="11751998" y="6895172"/>
            <a:ext cx="4381725" cy="2357283"/>
            <a:chOff x="0" y="-38100"/>
            <a:chExt cx="1154027" cy="620844"/>
          </a:xfrm>
        </p:grpSpPr>
        <p:sp>
          <p:nvSpPr>
            <p:cNvPr id="187" name="Google Shape;187;p3"/>
            <p:cNvSpPr/>
            <p:nvPr/>
          </p:nvSpPr>
          <p:spPr>
            <a:xfrm>
              <a:off x="0" y="0"/>
              <a:ext cx="1154027" cy="582744"/>
            </a:xfrm>
            <a:custGeom>
              <a:avLst/>
              <a:gdLst/>
              <a:ahLst/>
              <a:cxnLst/>
              <a:rect l="l" t="t" r="r" b="b"/>
              <a:pathLst>
                <a:path w="1154027" h="582744" extrusionOk="0">
                  <a:moveTo>
                    <a:pt x="0" y="0"/>
                  </a:moveTo>
                  <a:lnTo>
                    <a:pt x="1154027" y="0"/>
                  </a:lnTo>
                  <a:lnTo>
                    <a:pt x="1154027" y="582744"/>
                  </a:lnTo>
                  <a:lnTo>
                    <a:pt x="0" y="582744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 txBox="1"/>
            <p:nvPr/>
          </p:nvSpPr>
          <p:spPr>
            <a:xfrm>
              <a:off x="0" y="-38100"/>
              <a:ext cx="1154027" cy="6208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3"/>
          <p:cNvSpPr/>
          <p:nvPr/>
        </p:nvSpPr>
        <p:spPr>
          <a:xfrm rot="5400000">
            <a:off x="4067069" y="6943027"/>
            <a:ext cx="368333" cy="550670"/>
          </a:xfrm>
          <a:custGeom>
            <a:avLst/>
            <a:gdLst/>
            <a:ahLst/>
            <a:cxnLst/>
            <a:rect l="l" t="t" r="r" b="b"/>
            <a:pathLst>
              <a:path w="368333" h="550670" extrusionOk="0">
                <a:moveTo>
                  <a:pt x="0" y="0"/>
                </a:moveTo>
                <a:lnTo>
                  <a:pt x="368333" y="0"/>
                </a:lnTo>
                <a:lnTo>
                  <a:pt x="368333" y="550670"/>
                </a:lnTo>
                <a:lnTo>
                  <a:pt x="0" y="5506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 rot="5400000">
            <a:off x="8959833" y="6943027"/>
            <a:ext cx="368333" cy="550670"/>
          </a:xfrm>
          <a:custGeom>
            <a:avLst/>
            <a:gdLst/>
            <a:ahLst/>
            <a:cxnLst/>
            <a:rect l="l" t="t" r="r" b="b"/>
            <a:pathLst>
              <a:path w="368333" h="550670" extrusionOk="0">
                <a:moveTo>
                  <a:pt x="0" y="0"/>
                </a:moveTo>
                <a:lnTo>
                  <a:pt x="368334" y="0"/>
                </a:lnTo>
                <a:lnTo>
                  <a:pt x="368334" y="550670"/>
                </a:lnTo>
                <a:lnTo>
                  <a:pt x="0" y="5506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 rot="5400000">
            <a:off x="13852598" y="6943027"/>
            <a:ext cx="368333" cy="550670"/>
          </a:xfrm>
          <a:custGeom>
            <a:avLst/>
            <a:gdLst/>
            <a:ahLst/>
            <a:cxnLst/>
            <a:rect l="l" t="t" r="r" b="b"/>
            <a:pathLst>
              <a:path w="368333" h="550670" extrusionOk="0">
                <a:moveTo>
                  <a:pt x="0" y="0"/>
                </a:moveTo>
                <a:lnTo>
                  <a:pt x="368333" y="0"/>
                </a:lnTo>
                <a:lnTo>
                  <a:pt x="368333" y="550670"/>
                </a:lnTo>
                <a:lnTo>
                  <a:pt x="0" y="55067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3"/>
          <p:cNvGrpSpPr/>
          <p:nvPr/>
        </p:nvGrpSpPr>
        <p:grpSpPr>
          <a:xfrm>
            <a:off x="15073715" y="-3065569"/>
            <a:ext cx="7613660" cy="7613660"/>
            <a:chOff x="0" y="0"/>
            <a:chExt cx="812800" cy="812800"/>
          </a:xfrm>
        </p:grpSpPr>
        <p:sp>
          <p:nvSpPr>
            <p:cNvPr id="193" name="Google Shape;193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3"/>
          <p:cNvSpPr txBox="1"/>
          <p:nvPr/>
        </p:nvSpPr>
        <p:spPr>
          <a:xfrm>
            <a:off x="951613" y="347219"/>
            <a:ext cx="8269500" cy="12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99"/>
              <a:buFont typeface="Arial"/>
              <a:buNone/>
            </a:pPr>
            <a:r>
              <a:rPr lang="en-US" sz="80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INTRODUCCIÓN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"/>
          <p:cNvSpPr txBox="1"/>
          <p:nvPr/>
        </p:nvSpPr>
        <p:spPr>
          <a:xfrm>
            <a:off x="1028725" y="1593727"/>
            <a:ext cx="8115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Para este incremento se consideran los siguientes datos.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2679424" y="7402528"/>
            <a:ext cx="3143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CANTIDAD REQUERIMIENTOS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"/>
          <p:cNvSpPr txBox="1"/>
          <p:nvPr/>
        </p:nvSpPr>
        <p:spPr>
          <a:xfrm>
            <a:off x="7778556" y="7325428"/>
            <a:ext cx="2730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PORCENTAJE DE AVANCE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 txBox="1"/>
          <p:nvPr/>
        </p:nvSpPr>
        <p:spPr>
          <a:xfrm>
            <a:off x="7365923" y="8314827"/>
            <a:ext cx="35562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1" i="0" u="none" strike="noStrike" cap="none" dirty="0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~</a:t>
            </a:r>
            <a:r>
              <a:rPr lang="en-US" sz="2300" b="1" dirty="0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100</a:t>
            </a:r>
            <a:r>
              <a:rPr lang="en-US" sz="2300" b="1" i="0" u="none" strike="noStrike" cap="none" dirty="0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%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 txBox="1"/>
          <p:nvPr/>
        </p:nvSpPr>
        <p:spPr>
          <a:xfrm>
            <a:off x="12671308" y="7325428"/>
            <a:ext cx="2730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SIGUIENTE ENTREGA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 txBox="1"/>
          <p:nvPr/>
        </p:nvSpPr>
        <p:spPr>
          <a:xfrm>
            <a:off x="12258649" y="8388015"/>
            <a:ext cx="355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1">
                <a:solidFill>
                  <a:srgbClr val="D9D9D9"/>
                </a:solidFill>
                <a:latin typeface="Inter Medium"/>
                <a:ea typeface="Inter Medium"/>
                <a:cs typeface="Inter Medium"/>
                <a:sym typeface="Inter Medium"/>
              </a:rPr>
              <a:t>Consolidación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2" name="Google Shape;202;p3"/>
          <p:cNvGraphicFramePr/>
          <p:nvPr/>
        </p:nvGraphicFramePr>
        <p:xfrm>
          <a:off x="3756086" y="2242524"/>
          <a:ext cx="10301100" cy="4694384"/>
        </p:xfrm>
        <a:graphic>
          <a:graphicData uri="http://schemas.openxmlformats.org/drawingml/2006/table">
            <a:tbl>
              <a:tblPr>
                <a:noFill/>
                <a:tableStyleId>{E5362481-975E-42C9-97F0-CB12015AEE75}</a:tableStyleId>
              </a:tblPr>
              <a:tblGrid>
                <a:gridCol w="257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7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 b="1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Incremento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54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 b="1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Descripción del Hito / Alcance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54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 b="1" u="none" strike="noStrike" cap="none">
                          <a:solidFill>
                            <a:srgbClr val="FEFEF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Cantidad de RFs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54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 b="1" u="none" strike="noStrike" cap="none">
                          <a:solidFill>
                            <a:srgbClr val="FEFEF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% de Avance (Acumulado)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5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Incremento 1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Núcleo Comercial (MVP):</a:t>
                      </a:r>
                      <a:r>
                        <a:rPr lang="en-US" sz="1200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Clientes, Cotizaciones y Nota de ventas.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36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r>
                        <a:rPr lang="en-US" sz="1464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5,64</a:t>
                      </a:r>
                      <a:r>
                        <a:rPr lang="en-US" sz="1464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%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Incremento 2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Tesorería y Seguridad:</a:t>
                      </a:r>
                      <a:r>
                        <a:rPr lang="en-US" sz="1200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Roles de usuario, Bloqueos, Recaudación, Pagos y Conciliación.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39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</a:t>
                      </a:r>
                      <a:r>
                        <a:rPr lang="en-US" sz="1464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4,26</a:t>
                      </a:r>
                      <a:r>
                        <a:rPr lang="en-US" sz="1464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%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Incremento 3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87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Operaciones y Rentabilidad:</a:t>
                      </a:r>
                      <a:r>
                        <a:rPr lang="en-US" sz="1200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Sueldos, Proveedores, Bonos por Destajo y Dashboards Analíticos.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87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26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87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100,00</a:t>
                      </a:r>
                      <a:r>
                        <a:rPr lang="en-US" sz="1464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%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87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3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Incremento 4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Cierre y consolidación del proyecto: documentación final, validación y aprobación del cliente, requerimientos no funcionales aprobados, videos y entregables finales.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4"/>
                        <a:buFont typeface="Arial"/>
                        <a:buNone/>
                      </a:pPr>
                      <a:r>
                        <a:rPr lang="en-US" sz="1464" b="1" u="none" strike="noStrike" cap="none">
                          <a:solidFill>
                            <a:srgbClr val="1F1F1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100,00%</a:t>
                      </a:r>
                      <a:endParaRPr sz="1100" u="none" strike="noStrike" cap="none"/>
                    </a:p>
                  </a:txBody>
                  <a:tcPr marL="76200" marR="76200" marT="76200" marB="762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3" name="Google Shape;203;p3"/>
          <p:cNvSpPr txBox="1"/>
          <p:nvPr/>
        </p:nvSpPr>
        <p:spPr>
          <a:xfrm>
            <a:off x="2473185" y="8388027"/>
            <a:ext cx="35562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1" dirty="0">
                <a:solidFill>
                  <a:srgbClr val="D9D9D9"/>
                </a:solidFill>
                <a:latin typeface="Inter Medium"/>
                <a:ea typeface="Inter Medium"/>
                <a:cs typeface="Arial"/>
                <a:sym typeface="Inter Medium"/>
              </a:rPr>
              <a:t>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4"/>
          <p:cNvGrpSpPr/>
          <p:nvPr/>
        </p:nvGrpSpPr>
        <p:grpSpPr>
          <a:xfrm>
            <a:off x="-29169" y="8086614"/>
            <a:ext cx="18317290" cy="2200398"/>
            <a:chOff x="0" y="-38100"/>
            <a:chExt cx="4824275" cy="579525"/>
          </a:xfrm>
        </p:grpSpPr>
        <p:sp>
          <p:nvSpPr>
            <p:cNvPr id="213" name="Google Shape;213;p4"/>
            <p:cNvSpPr/>
            <p:nvPr/>
          </p:nvSpPr>
          <p:spPr>
            <a:xfrm>
              <a:off x="0" y="0"/>
              <a:ext cx="4824275" cy="541425"/>
            </a:xfrm>
            <a:custGeom>
              <a:avLst/>
              <a:gdLst/>
              <a:ahLst/>
              <a:cxnLst/>
              <a:rect l="l" t="t" r="r" b="b"/>
              <a:pathLst>
                <a:path w="4824275" h="541425" extrusionOk="0">
                  <a:moveTo>
                    <a:pt x="0" y="0"/>
                  </a:moveTo>
                  <a:lnTo>
                    <a:pt x="4824275" y="0"/>
                  </a:lnTo>
                  <a:lnTo>
                    <a:pt x="4824275" y="541425"/>
                  </a:lnTo>
                  <a:lnTo>
                    <a:pt x="0" y="541425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0" y="-38100"/>
              <a:ext cx="4824275" cy="579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4"/>
          <p:cNvGrpSpPr/>
          <p:nvPr/>
        </p:nvGrpSpPr>
        <p:grpSpPr>
          <a:xfrm>
            <a:off x="201400" y="3094325"/>
            <a:ext cx="5437713" cy="6505196"/>
            <a:chOff x="0" y="-38100"/>
            <a:chExt cx="903815" cy="1164637"/>
          </a:xfrm>
        </p:grpSpPr>
        <p:sp>
          <p:nvSpPr>
            <p:cNvPr id="216" name="Google Shape;216;p4"/>
            <p:cNvSpPr/>
            <p:nvPr/>
          </p:nvSpPr>
          <p:spPr>
            <a:xfrm>
              <a:off x="0" y="0"/>
              <a:ext cx="903815" cy="1126537"/>
            </a:xfrm>
            <a:custGeom>
              <a:avLst/>
              <a:gdLst/>
              <a:ahLst/>
              <a:cxnLst/>
              <a:rect l="l" t="t" r="r" b="b"/>
              <a:pathLst>
                <a:path w="903815" h="1126537" extrusionOk="0">
                  <a:moveTo>
                    <a:pt x="0" y="0"/>
                  </a:moveTo>
                  <a:lnTo>
                    <a:pt x="903815" y="0"/>
                  </a:lnTo>
                  <a:lnTo>
                    <a:pt x="903815" y="1126537"/>
                  </a:lnTo>
                  <a:lnTo>
                    <a:pt x="0" y="1126537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0" y="-38100"/>
              <a:ext cx="903815" cy="1164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4"/>
          <p:cNvGrpSpPr/>
          <p:nvPr/>
        </p:nvGrpSpPr>
        <p:grpSpPr>
          <a:xfrm>
            <a:off x="679672" y="2365289"/>
            <a:ext cx="4313734" cy="1615910"/>
            <a:chOff x="0" y="-38100"/>
            <a:chExt cx="770695" cy="241729"/>
          </a:xfrm>
        </p:grpSpPr>
        <p:sp>
          <p:nvSpPr>
            <p:cNvPr id="219" name="Google Shape;219;p4"/>
            <p:cNvSpPr/>
            <p:nvPr/>
          </p:nvSpPr>
          <p:spPr>
            <a:xfrm>
              <a:off x="0" y="0"/>
              <a:ext cx="770695" cy="203629"/>
            </a:xfrm>
            <a:custGeom>
              <a:avLst/>
              <a:gdLst/>
              <a:ahLst/>
              <a:cxnLst/>
              <a:rect l="l" t="t" r="r" b="b"/>
              <a:pathLst>
                <a:path w="770695" h="203629" extrusionOk="0">
                  <a:moveTo>
                    <a:pt x="0" y="0"/>
                  </a:moveTo>
                  <a:lnTo>
                    <a:pt x="770695" y="0"/>
                  </a:lnTo>
                  <a:lnTo>
                    <a:pt x="770695" y="203629"/>
                  </a:lnTo>
                  <a:lnTo>
                    <a:pt x="0" y="203629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4"/>
            <p:cNvSpPr txBox="1"/>
            <p:nvPr/>
          </p:nvSpPr>
          <p:spPr>
            <a:xfrm>
              <a:off x="0" y="-38100"/>
              <a:ext cx="770695" cy="2417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4"/>
          <p:cNvSpPr txBox="1"/>
          <p:nvPr/>
        </p:nvSpPr>
        <p:spPr>
          <a:xfrm>
            <a:off x="1434451" y="361150"/>
            <a:ext cx="36834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99"/>
              <a:buFont typeface="Arial"/>
              <a:buNone/>
            </a:pPr>
            <a:r>
              <a:rPr lang="en-US" sz="100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RF</a:t>
            </a:r>
            <a:r>
              <a:rPr lang="en-US" sz="10099">
                <a:latin typeface="Impact"/>
                <a:ea typeface="Impact"/>
                <a:cs typeface="Impact"/>
                <a:sym typeface="Impact"/>
              </a:rPr>
              <a:t>87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 txBox="1"/>
          <p:nvPr/>
        </p:nvSpPr>
        <p:spPr>
          <a:xfrm>
            <a:off x="13588555" y="7742328"/>
            <a:ext cx="2730865" cy="45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EFFICIENCY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4"/>
          <p:cNvGrpSpPr/>
          <p:nvPr/>
        </p:nvGrpSpPr>
        <p:grpSpPr>
          <a:xfrm>
            <a:off x="12565518" y="-2454676"/>
            <a:ext cx="7186254" cy="7186254"/>
            <a:chOff x="0" y="0"/>
            <a:chExt cx="812800" cy="812800"/>
          </a:xfrm>
        </p:grpSpPr>
        <p:sp>
          <p:nvSpPr>
            <p:cNvPr id="224" name="Google Shape;224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4"/>
          <p:cNvSpPr/>
          <p:nvPr/>
        </p:nvSpPr>
        <p:spPr>
          <a:xfrm>
            <a:off x="8996418" y="4548640"/>
            <a:ext cx="1766910" cy="594860"/>
          </a:xfrm>
          <a:custGeom>
            <a:avLst/>
            <a:gdLst/>
            <a:ahLst/>
            <a:cxnLst/>
            <a:rect l="l" t="t" r="r" b="b"/>
            <a:pathLst>
              <a:path w="1766910" h="594860" extrusionOk="0">
                <a:moveTo>
                  <a:pt x="0" y="0"/>
                </a:moveTo>
                <a:lnTo>
                  <a:pt x="1766910" y="0"/>
                </a:lnTo>
                <a:lnTo>
                  <a:pt x="1766910" y="594860"/>
                </a:lnTo>
                <a:lnTo>
                  <a:pt x="0" y="59486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 rot="-5400000">
            <a:off x="1648039" y="-94030"/>
            <a:ext cx="219896" cy="1430217"/>
          </a:xfrm>
          <a:custGeom>
            <a:avLst/>
            <a:gdLst/>
            <a:ahLst/>
            <a:cxnLst/>
            <a:rect l="l" t="t" r="r" b="b"/>
            <a:pathLst>
              <a:path w="219896" h="1430217" extrusionOk="0">
                <a:moveTo>
                  <a:pt x="0" y="0"/>
                </a:moveTo>
                <a:lnTo>
                  <a:pt x="219896" y="0"/>
                </a:lnTo>
                <a:lnTo>
                  <a:pt x="219896" y="1430217"/>
                </a:lnTo>
                <a:lnTo>
                  <a:pt x="0" y="143021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11146100" y="3094375"/>
            <a:ext cx="6898369" cy="6505751"/>
          </a:xfrm>
          <a:custGeom>
            <a:avLst/>
            <a:gdLst/>
            <a:ahLst/>
            <a:cxnLst/>
            <a:rect l="l" t="t" r="r" b="b"/>
            <a:pathLst>
              <a:path w="1129954" h="1126537" extrusionOk="0">
                <a:moveTo>
                  <a:pt x="0" y="0"/>
                </a:moveTo>
                <a:lnTo>
                  <a:pt x="1129954" y="0"/>
                </a:lnTo>
                <a:lnTo>
                  <a:pt x="1129954" y="1126537"/>
                </a:lnTo>
                <a:lnTo>
                  <a:pt x="0" y="1126537"/>
                </a:lnTo>
                <a:close/>
              </a:path>
            </a:pathLst>
          </a:custGeom>
          <a:solidFill>
            <a:srgbClr val="FF87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" name="Google Shape;229;p4"/>
          <p:cNvGrpSpPr/>
          <p:nvPr/>
        </p:nvGrpSpPr>
        <p:grpSpPr>
          <a:xfrm>
            <a:off x="11806650" y="2215492"/>
            <a:ext cx="5577296" cy="1353006"/>
            <a:chOff x="0" y="-38100"/>
            <a:chExt cx="996444" cy="241729"/>
          </a:xfrm>
        </p:grpSpPr>
        <p:sp>
          <p:nvSpPr>
            <p:cNvPr id="230" name="Google Shape;230;p4"/>
            <p:cNvSpPr/>
            <p:nvPr/>
          </p:nvSpPr>
          <p:spPr>
            <a:xfrm>
              <a:off x="0" y="0"/>
              <a:ext cx="996444" cy="203629"/>
            </a:xfrm>
            <a:custGeom>
              <a:avLst/>
              <a:gdLst/>
              <a:ahLst/>
              <a:cxnLst/>
              <a:rect l="l" t="t" r="r" b="b"/>
              <a:pathLst>
                <a:path w="996444" h="203629" extrusionOk="0">
                  <a:moveTo>
                    <a:pt x="0" y="0"/>
                  </a:moveTo>
                  <a:lnTo>
                    <a:pt x="996444" y="0"/>
                  </a:lnTo>
                  <a:lnTo>
                    <a:pt x="996444" y="203629"/>
                  </a:lnTo>
                  <a:lnTo>
                    <a:pt x="0" y="203629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4"/>
            <p:cNvSpPr txBox="1"/>
            <p:nvPr/>
          </p:nvSpPr>
          <p:spPr>
            <a:xfrm>
              <a:off x="0" y="-38100"/>
              <a:ext cx="996444" cy="2417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4"/>
          <p:cNvGrpSpPr/>
          <p:nvPr/>
        </p:nvGrpSpPr>
        <p:grpSpPr>
          <a:xfrm>
            <a:off x="5863200" y="3094300"/>
            <a:ext cx="5058833" cy="6505196"/>
            <a:chOff x="0" y="-38100"/>
            <a:chExt cx="903815" cy="1164637"/>
          </a:xfrm>
        </p:grpSpPr>
        <p:sp>
          <p:nvSpPr>
            <p:cNvPr id="233" name="Google Shape;233;p4"/>
            <p:cNvSpPr/>
            <p:nvPr/>
          </p:nvSpPr>
          <p:spPr>
            <a:xfrm>
              <a:off x="0" y="0"/>
              <a:ext cx="903815" cy="1126537"/>
            </a:xfrm>
            <a:custGeom>
              <a:avLst/>
              <a:gdLst/>
              <a:ahLst/>
              <a:cxnLst/>
              <a:rect l="l" t="t" r="r" b="b"/>
              <a:pathLst>
                <a:path w="903815" h="1126537" extrusionOk="0">
                  <a:moveTo>
                    <a:pt x="0" y="0"/>
                  </a:moveTo>
                  <a:lnTo>
                    <a:pt x="903815" y="0"/>
                  </a:lnTo>
                  <a:lnTo>
                    <a:pt x="903815" y="1126537"/>
                  </a:lnTo>
                  <a:lnTo>
                    <a:pt x="0" y="1126537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4"/>
            <p:cNvSpPr txBox="1"/>
            <p:nvPr/>
          </p:nvSpPr>
          <p:spPr>
            <a:xfrm>
              <a:off x="0" y="-38100"/>
              <a:ext cx="903815" cy="1164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4"/>
          <p:cNvGrpSpPr/>
          <p:nvPr/>
        </p:nvGrpSpPr>
        <p:grpSpPr>
          <a:xfrm>
            <a:off x="6235759" y="2496742"/>
            <a:ext cx="4313727" cy="1353005"/>
            <a:chOff x="0" y="-38100"/>
            <a:chExt cx="770695" cy="241729"/>
          </a:xfrm>
        </p:grpSpPr>
        <p:sp>
          <p:nvSpPr>
            <p:cNvPr id="236" name="Google Shape;236;p4"/>
            <p:cNvSpPr/>
            <p:nvPr/>
          </p:nvSpPr>
          <p:spPr>
            <a:xfrm>
              <a:off x="0" y="0"/>
              <a:ext cx="770695" cy="203629"/>
            </a:xfrm>
            <a:custGeom>
              <a:avLst/>
              <a:gdLst/>
              <a:ahLst/>
              <a:cxnLst/>
              <a:rect l="l" t="t" r="r" b="b"/>
              <a:pathLst>
                <a:path w="770695" h="203629" extrusionOk="0">
                  <a:moveTo>
                    <a:pt x="0" y="0"/>
                  </a:moveTo>
                  <a:lnTo>
                    <a:pt x="770695" y="0"/>
                  </a:lnTo>
                  <a:lnTo>
                    <a:pt x="770695" y="203629"/>
                  </a:lnTo>
                  <a:lnTo>
                    <a:pt x="0" y="203629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4"/>
            <p:cNvSpPr txBox="1"/>
            <p:nvPr/>
          </p:nvSpPr>
          <p:spPr>
            <a:xfrm>
              <a:off x="0" y="-38100"/>
              <a:ext cx="770695" cy="2417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p4"/>
          <p:cNvSpPr txBox="1"/>
          <p:nvPr/>
        </p:nvSpPr>
        <p:spPr>
          <a:xfrm>
            <a:off x="823698" y="3001212"/>
            <a:ext cx="40257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None/>
            </a:pPr>
            <a:r>
              <a:rPr lang="en-US" sz="3685" b="1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REQUERIMIENTO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"/>
          <p:cNvSpPr txBox="1"/>
          <p:nvPr/>
        </p:nvSpPr>
        <p:spPr>
          <a:xfrm>
            <a:off x="12831987" y="425294"/>
            <a:ext cx="5212500" cy="17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Ciclo documental de la liquidación de remuneración.</a:t>
            </a:r>
            <a:endParaRPr sz="2500" b="1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Corresponde al UR  6.1</a:t>
            </a:r>
            <a:r>
              <a:rPr lang="en-US" sz="2500" b="1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545454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0" name="Google Shape;240;p4"/>
          <p:cNvSpPr txBox="1"/>
          <p:nvPr/>
        </p:nvSpPr>
        <p:spPr>
          <a:xfrm>
            <a:off x="11791815" y="2663293"/>
            <a:ext cx="55773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None/>
            </a:pPr>
            <a:r>
              <a:rPr lang="en-US" sz="3685" b="1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CASO DE USO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"/>
          <p:cNvSpPr txBox="1"/>
          <p:nvPr/>
        </p:nvSpPr>
        <p:spPr>
          <a:xfrm>
            <a:off x="6409377" y="3001204"/>
            <a:ext cx="40257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None/>
            </a:pPr>
            <a:r>
              <a:rPr lang="en-US" sz="3685" b="1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UR </a:t>
            </a:r>
            <a:r>
              <a:rPr lang="en-US" sz="3685" b="1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6.12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"/>
          <p:cNvSpPr txBox="1"/>
          <p:nvPr/>
        </p:nvSpPr>
        <p:spPr>
          <a:xfrm>
            <a:off x="316721" y="4259479"/>
            <a:ext cx="5212500" cy="50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rgbClr val="FEFEFE"/>
                </a:solidFill>
                <a:latin typeface="Inter"/>
                <a:ea typeface="Inter"/>
                <a:cs typeface="Inter"/>
                <a:sym typeface="Inter"/>
              </a:rPr>
              <a:t>El sistema debe permitir que los usuarios autorizados consulten el historial de liquidaciones oficiales mediante criterios de trabajador y período, mostrando cronológicamente las versiones vigentes y las versiones reemplazadas que correspondan. Gerencia, Contador y Secretaría deben acceder conforme a sus permisos a la documentación oficial histórica. Las restricciones de descarga y reenvío deben respetar la vigencia de la versión y el perfil del actor.</a:t>
            </a:r>
            <a:endParaRPr sz="2400" b="1" i="0" u="none" strike="noStrike" cap="none">
              <a:solidFill>
                <a:srgbClr val="FEFEF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4"/>
          <p:cNvSpPr txBox="1"/>
          <p:nvPr/>
        </p:nvSpPr>
        <p:spPr>
          <a:xfrm>
            <a:off x="6235784" y="4069692"/>
            <a:ext cx="4313700" cy="46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Como usuario autorizado, quiero consultar el historial de liquidaciones oficiales por trabajador y período para revisar cronológicamente las versiones vigentes y reemplazadas conforme a mis permisos.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Necesidad: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Prioridad: </a:t>
            </a:r>
            <a:r>
              <a:rPr lang="en-US" sz="17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Estabilidad: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Claridad: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Verificalidad: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Fuente: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4" title="Captura de pantalla 2026-10-04 180852.png"/>
          <p:cNvPicPr preferRelativeResize="0"/>
          <p:nvPr/>
        </p:nvPicPr>
        <p:blipFill rotWithShape="1">
          <a:blip r:embed="rId3">
            <a:alphaModFix/>
          </a:blip>
          <a:srcRect l="744" t="695"/>
          <a:stretch/>
        </p:blipFill>
        <p:spPr>
          <a:xfrm>
            <a:off x="11271363" y="3640004"/>
            <a:ext cx="6650108" cy="58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h41dc49bcd25866c6_0_11"/>
          <p:cNvGrpSpPr/>
          <p:nvPr/>
        </p:nvGrpSpPr>
        <p:grpSpPr>
          <a:xfrm>
            <a:off x="12565518" y="-2454676"/>
            <a:ext cx="7186290" cy="7186290"/>
            <a:chOff x="0" y="0"/>
            <a:chExt cx="812800" cy="812800"/>
          </a:xfrm>
        </p:grpSpPr>
        <p:sp>
          <p:nvSpPr>
            <p:cNvPr id="254" name="Google Shape;254;h41dc49bcd25866c6_0_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h41dc49bcd25866c6_0_1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h41dc49bcd25866c6_0_11"/>
          <p:cNvSpPr/>
          <p:nvPr/>
        </p:nvSpPr>
        <p:spPr>
          <a:xfrm rot="10800000">
            <a:off x="14953988" y="1193634"/>
            <a:ext cx="5741326" cy="668082"/>
          </a:xfrm>
          <a:custGeom>
            <a:avLst/>
            <a:gdLst/>
            <a:ahLst/>
            <a:cxnLst/>
            <a:rect l="l" t="t" r="r" b="b"/>
            <a:pathLst>
              <a:path w="5741326" h="668082" extrusionOk="0">
                <a:moveTo>
                  <a:pt x="0" y="0"/>
                </a:moveTo>
                <a:lnTo>
                  <a:pt x="5741325" y="0"/>
                </a:lnTo>
                <a:lnTo>
                  <a:pt x="5741325" y="668082"/>
                </a:lnTo>
                <a:lnTo>
                  <a:pt x="0" y="66808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h41dc49bcd25866c6_0_11"/>
          <p:cNvSpPr/>
          <p:nvPr/>
        </p:nvSpPr>
        <p:spPr>
          <a:xfrm rot="-5400000">
            <a:off x="1648039" y="-94030"/>
            <a:ext cx="219896" cy="1430217"/>
          </a:xfrm>
          <a:custGeom>
            <a:avLst/>
            <a:gdLst/>
            <a:ahLst/>
            <a:cxnLst/>
            <a:rect l="l" t="t" r="r" b="b"/>
            <a:pathLst>
              <a:path w="219896" h="1430217" extrusionOk="0">
                <a:moveTo>
                  <a:pt x="0" y="0"/>
                </a:moveTo>
                <a:lnTo>
                  <a:pt x="219896" y="0"/>
                </a:lnTo>
                <a:lnTo>
                  <a:pt x="219896" y="1430217"/>
                </a:lnTo>
                <a:lnTo>
                  <a:pt x="0" y="143021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8" name="Google Shape;258;h41dc49bcd25866c6_0_11"/>
          <p:cNvGrpSpPr/>
          <p:nvPr/>
        </p:nvGrpSpPr>
        <p:grpSpPr>
          <a:xfrm>
            <a:off x="15705644" y="1606447"/>
            <a:ext cx="234642" cy="8374443"/>
            <a:chOff x="0" y="-38100"/>
            <a:chExt cx="61800" cy="2205600"/>
          </a:xfrm>
        </p:grpSpPr>
        <p:sp>
          <p:nvSpPr>
            <p:cNvPr id="259" name="Google Shape;259;h41dc49bcd25866c6_0_11"/>
            <p:cNvSpPr/>
            <p:nvPr/>
          </p:nvSpPr>
          <p:spPr>
            <a:xfrm>
              <a:off x="0" y="0"/>
              <a:ext cx="61760" cy="2167467"/>
            </a:xfrm>
            <a:custGeom>
              <a:avLst/>
              <a:gdLst/>
              <a:ahLst/>
              <a:cxnLst/>
              <a:rect l="l" t="t" r="r" b="b"/>
              <a:pathLst>
                <a:path w="61760" h="2167467" extrusionOk="0">
                  <a:moveTo>
                    <a:pt x="0" y="0"/>
                  </a:moveTo>
                  <a:lnTo>
                    <a:pt x="61760" y="0"/>
                  </a:lnTo>
                  <a:lnTo>
                    <a:pt x="6176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h41dc49bcd25866c6_0_11"/>
            <p:cNvSpPr txBox="1"/>
            <p:nvPr/>
          </p:nvSpPr>
          <p:spPr>
            <a:xfrm>
              <a:off x="0" y="-38100"/>
              <a:ext cx="61800" cy="220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h41dc49bcd25866c6_0_11"/>
          <p:cNvGrpSpPr/>
          <p:nvPr/>
        </p:nvGrpSpPr>
        <p:grpSpPr>
          <a:xfrm>
            <a:off x="-231633" y="-1921513"/>
            <a:ext cx="3860068" cy="3860068"/>
            <a:chOff x="0" y="0"/>
            <a:chExt cx="812800" cy="812800"/>
          </a:xfrm>
        </p:grpSpPr>
        <p:sp>
          <p:nvSpPr>
            <p:cNvPr id="262" name="Google Shape;262;h41dc49bcd25866c6_0_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h41dc49bcd25866c6_0_1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h41dc49bcd25866c6_0_11"/>
          <p:cNvGrpSpPr/>
          <p:nvPr/>
        </p:nvGrpSpPr>
        <p:grpSpPr>
          <a:xfrm>
            <a:off x="-450373" y="-348365"/>
            <a:ext cx="2149772" cy="10636456"/>
            <a:chOff x="0" y="-38100"/>
            <a:chExt cx="229500" cy="1135500"/>
          </a:xfrm>
        </p:grpSpPr>
        <p:sp>
          <p:nvSpPr>
            <p:cNvPr id="265" name="Google Shape;265;h41dc49bcd25866c6_0_11"/>
            <p:cNvSpPr/>
            <p:nvPr/>
          </p:nvSpPr>
          <p:spPr>
            <a:xfrm>
              <a:off x="0" y="0"/>
              <a:ext cx="229394" cy="1097284"/>
            </a:xfrm>
            <a:custGeom>
              <a:avLst/>
              <a:gdLst/>
              <a:ahLst/>
              <a:cxnLst/>
              <a:rect l="l" t="t" r="r" b="b"/>
              <a:pathLst>
                <a:path w="229394" h="1097284" extrusionOk="0">
                  <a:moveTo>
                    <a:pt x="0" y="0"/>
                  </a:moveTo>
                  <a:lnTo>
                    <a:pt x="229394" y="0"/>
                  </a:lnTo>
                  <a:lnTo>
                    <a:pt x="229394" y="1097284"/>
                  </a:lnTo>
                  <a:lnTo>
                    <a:pt x="0" y="1097284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h41dc49bcd25866c6_0_11"/>
            <p:cNvSpPr txBox="1"/>
            <p:nvPr/>
          </p:nvSpPr>
          <p:spPr>
            <a:xfrm>
              <a:off x="0" y="-38100"/>
              <a:ext cx="229500" cy="113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h41dc49bcd25866c6_0_11"/>
          <p:cNvGrpSpPr/>
          <p:nvPr/>
        </p:nvGrpSpPr>
        <p:grpSpPr>
          <a:xfrm>
            <a:off x="9547785" y="7287542"/>
            <a:ext cx="5386344" cy="5386344"/>
            <a:chOff x="0" y="0"/>
            <a:chExt cx="812800" cy="812800"/>
          </a:xfrm>
        </p:grpSpPr>
        <p:sp>
          <p:nvSpPr>
            <p:cNvPr id="268" name="Google Shape;268;h41dc49bcd25866c6_0_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h41dc49bcd25866c6_0_11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h41dc49bcd25866c6_0_11"/>
          <p:cNvSpPr txBox="1"/>
          <p:nvPr/>
        </p:nvSpPr>
        <p:spPr>
          <a:xfrm>
            <a:off x="1997254" y="511131"/>
            <a:ext cx="5081100" cy="6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99"/>
              <a:buFont typeface="Arial"/>
              <a:buNone/>
            </a:pPr>
            <a:r>
              <a:rPr lang="en-US" sz="94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RF</a:t>
            </a:r>
            <a:r>
              <a:rPr lang="en-US" sz="9499">
                <a:latin typeface="Impact"/>
                <a:ea typeface="Impact"/>
                <a:cs typeface="Impact"/>
                <a:sym typeface="Impact"/>
              </a:rPr>
              <a:t>87</a:t>
            </a:r>
            <a:r>
              <a:rPr lang="en-US" sz="94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 - DIAGRAMACASO DE USO </a:t>
            </a:r>
            <a:r>
              <a:rPr lang="en-US" sz="9499">
                <a:latin typeface="Impact"/>
                <a:ea typeface="Impact"/>
                <a:cs typeface="Impact"/>
                <a:sym typeface="Impact"/>
              </a:rPr>
              <a:t>104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h41dc49bcd25866c6_0_11" title="CU104 - Consultando historial de liquidacione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0250" y="390701"/>
            <a:ext cx="5262975" cy="919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6"/>
          <p:cNvGrpSpPr/>
          <p:nvPr/>
        </p:nvGrpSpPr>
        <p:grpSpPr>
          <a:xfrm>
            <a:off x="-29169" y="8086614"/>
            <a:ext cx="18317290" cy="2200398"/>
            <a:chOff x="0" y="-38100"/>
            <a:chExt cx="4824275" cy="579525"/>
          </a:xfrm>
        </p:grpSpPr>
        <p:sp>
          <p:nvSpPr>
            <p:cNvPr id="281" name="Google Shape;281;p6"/>
            <p:cNvSpPr/>
            <p:nvPr/>
          </p:nvSpPr>
          <p:spPr>
            <a:xfrm>
              <a:off x="0" y="0"/>
              <a:ext cx="4824275" cy="541425"/>
            </a:xfrm>
            <a:custGeom>
              <a:avLst/>
              <a:gdLst/>
              <a:ahLst/>
              <a:cxnLst/>
              <a:rect l="l" t="t" r="r" b="b"/>
              <a:pathLst>
                <a:path w="4824275" h="541425" extrusionOk="0">
                  <a:moveTo>
                    <a:pt x="0" y="0"/>
                  </a:moveTo>
                  <a:lnTo>
                    <a:pt x="4824275" y="0"/>
                  </a:lnTo>
                  <a:lnTo>
                    <a:pt x="4824275" y="541425"/>
                  </a:lnTo>
                  <a:lnTo>
                    <a:pt x="0" y="541425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6"/>
            <p:cNvSpPr txBox="1"/>
            <p:nvPr/>
          </p:nvSpPr>
          <p:spPr>
            <a:xfrm>
              <a:off x="0" y="-38100"/>
              <a:ext cx="4824275" cy="579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6"/>
          <p:cNvGrpSpPr/>
          <p:nvPr/>
        </p:nvGrpSpPr>
        <p:grpSpPr>
          <a:xfrm>
            <a:off x="12565518" y="-2454676"/>
            <a:ext cx="7186290" cy="7186290"/>
            <a:chOff x="0" y="0"/>
            <a:chExt cx="812800" cy="812800"/>
          </a:xfrm>
        </p:grpSpPr>
        <p:sp>
          <p:nvSpPr>
            <p:cNvPr id="284" name="Google Shape;284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6"/>
          <p:cNvSpPr/>
          <p:nvPr/>
        </p:nvSpPr>
        <p:spPr>
          <a:xfrm rot="-5400000">
            <a:off x="1648039" y="-94030"/>
            <a:ext cx="219896" cy="1430217"/>
          </a:xfrm>
          <a:custGeom>
            <a:avLst/>
            <a:gdLst/>
            <a:ahLst/>
            <a:cxnLst/>
            <a:rect l="l" t="t" r="r" b="b"/>
            <a:pathLst>
              <a:path w="219896" h="1430217" extrusionOk="0">
                <a:moveTo>
                  <a:pt x="0" y="0"/>
                </a:moveTo>
                <a:lnTo>
                  <a:pt x="219896" y="0"/>
                </a:lnTo>
                <a:lnTo>
                  <a:pt x="219896" y="1430217"/>
                </a:lnTo>
                <a:lnTo>
                  <a:pt x="0" y="143021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 txBox="1"/>
          <p:nvPr/>
        </p:nvSpPr>
        <p:spPr>
          <a:xfrm>
            <a:off x="522598" y="136275"/>
            <a:ext cx="2052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99"/>
              <a:buFont typeface="Arial"/>
              <a:buNone/>
            </a:pPr>
            <a:r>
              <a:rPr lang="en-US" sz="62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RF</a:t>
            </a:r>
            <a:r>
              <a:rPr lang="en-US" sz="6299">
                <a:latin typeface="Impact"/>
                <a:ea typeface="Impact"/>
                <a:cs typeface="Impact"/>
                <a:sym typeface="Impact"/>
              </a:rPr>
              <a:t>87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6"/>
          <p:cNvGrpSpPr/>
          <p:nvPr/>
        </p:nvGrpSpPr>
        <p:grpSpPr>
          <a:xfrm>
            <a:off x="-148686" y="-555477"/>
            <a:ext cx="2052808" cy="2052808"/>
            <a:chOff x="0" y="0"/>
            <a:chExt cx="812800" cy="812800"/>
          </a:xfrm>
        </p:grpSpPr>
        <p:sp>
          <p:nvSpPr>
            <p:cNvPr id="289" name="Google Shape;289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26100" tIns="13075" rIns="26100" bIns="130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4"/>
                <a:buFont typeface="Arial"/>
                <a:buNone/>
              </a:pPr>
              <a:endParaRPr sz="5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500" tIns="14500" rIns="14500" bIns="145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4"/>
                <a:buFont typeface="Arial"/>
                <a:buNone/>
              </a:pPr>
              <a:endParaRPr sz="5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p6"/>
          <p:cNvSpPr txBox="1"/>
          <p:nvPr/>
        </p:nvSpPr>
        <p:spPr>
          <a:xfrm>
            <a:off x="2179500" y="603975"/>
            <a:ext cx="139290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99"/>
              <a:buFont typeface="Arial"/>
              <a:buNone/>
            </a:pPr>
            <a:r>
              <a:rPr lang="en-US" sz="94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DIAGRAMA SECUENCIA CU</a:t>
            </a:r>
            <a:r>
              <a:rPr lang="en-US" sz="9499">
                <a:latin typeface="Impact"/>
                <a:ea typeface="Impact"/>
                <a:cs typeface="Impact"/>
                <a:sym typeface="Impact"/>
              </a:rPr>
              <a:t>104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6" title="CU104-Consultando historial de liquidacion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175" y="1970725"/>
            <a:ext cx="13929001" cy="6175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7"/>
          <p:cNvGrpSpPr/>
          <p:nvPr/>
        </p:nvGrpSpPr>
        <p:grpSpPr>
          <a:xfrm>
            <a:off x="-29169" y="8086615"/>
            <a:ext cx="18317169" cy="2200385"/>
            <a:chOff x="0" y="-38100"/>
            <a:chExt cx="4824275" cy="579525"/>
          </a:xfrm>
        </p:grpSpPr>
        <p:sp>
          <p:nvSpPr>
            <p:cNvPr id="302" name="Google Shape;302;p7"/>
            <p:cNvSpPr/>
            <p:nvPr/>
          </p:nvSpPr>
          <p:spPr>
            <a:xfrm>
              <a:off x="0" y="0"/>
              <a:ext cx="4824275" cy="541425"/>
            </a:xfrm>
            <a:custGeom>
              <a:avLst/>
              <a:gdLst/>
              <a:ahLst/>
              <a:cxnLst/>
              <a:rect l="l" t="t" r="r" b="b"/>
              <a:pathLst>
                <a:path w="4824275" h="541425" extrusionOk="0">
                  <a:moveTo>
                    <a:pt x="0" y="0"/>
                  </a:moveTo>
                  <a:lnTo>
                    <a:pt x="4824275" y="0"/>
                  </a:lnTo>
                  <a:lnTo>
                    <a:pt x="4824275" y="541425"/>
                  </a:lnTo>
                  <a:lnTo>
                    <a:pt x="0" y="541425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7"/>
            <p:cNvSpPr txBox="1"/>
            <p:nvPr/>
          </p:nvSpPr>
          <p:spPr>
            <a:xfrm>
              <a:off x="0" y="-38100"/>
              <a:ext cx="4824275" cy="579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7"/>
          <p:cNvGrpSpPr/>
          <p:nvPr/>
        </p:nvGrpSpPr>
        <p:grpSpPr>
          <a:xfrm>
            <a:off x="323050" y="1521574"/>
            <a:ext cx="5400023" cy="8091432"/>
            <a:chOff x="0" y="-38100"/>
            <a:chExt cx="903815" cy="1164637"/>
          </a:xfrm>
        </p:grpSpPr>
        <p:sp>
          <p:nvSpPr>
            <p:cNvPr id="305" name="Google Shape;305;p7"/>
            <p:cNvSpPr/>
            <p:nvPr/>
          </p:nvSpPr>
          <p:spPr>
            <a:xfrm>
              <a:off x="0" y="0"/>
              <a:ext cx="903815" cy="1126537"/>
            </a:xfrm>
            <a:custGeom>
              <a:avLst/>
              <a:gdLst/>
              <a:ahLst/>
              <a:cxnLst/>
              <a:rect l="l" t="t" r="r" b="b"/>
              <a:pathLst>
                <a:path w="903815" h="1126537" extrusionOk="0">
                  <a:moveTo>
                    <a:pt x="0" y="0"/>
                  </a:moveTo>
                  <a:lnTo>
                    <a:pt x="903815" y="0"/>
                  </a:lnTo>
                  <a:lnTo>
                    <a:pt x="903815" y="1126537"/>
                  </a:lnTo>
                  <a:lnTo>
                    <a:pt x="0" y="1126537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7"/>
            <p:cNvSpPr txBox="1"/>
            <p:nvPr/>
          </p:nvSpPr>
          <p:spPr>
            <a:xfrm>
              <a:off x="0" y="-38100"/>
              <a:ext cx="903815" cy="1164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7"/>
          <p:cNvGrpSpPr/>
          <p:nvPr/>
        </p:nvGrpSpPr>
        <p:grpSpPr>
          <a:xfrm>
            <a:off x="878082" y="1104480"/>
            <a:ext cx="4313734" cy="1353006"/>
            <a:chOff x="0" y="-38100"/>
            <a:chExt cx="770695" cy="241729"/>
          </a:xfrm>
        </p:grpSpPr>
        <p:sp>
          <p:nvSpPr>
            <p:cNvPr id="308" name="Google Shape;308;p7"/>
            <p:cNvSpPr/>
            <p:nvPr/>
          </p:nvSpPr>
          <p:spPr>
            <a:xfrm>
              <a:off x="0" y="0"/>
              <a:ext cx="770695" cy="203629"/>
            </a:xfrm>
            <a:custGeom>
              <a:avLst/>
              <a:gdLst/>
              <a:ahLst/>
              <a:cxnLst/>
              <a:rect l="l" t="t" r="r" b="b"/>
              <a:pathLst>
                <a:path w="770695" h="203629" extrusionOk="0">
                  <a:moveTo>
                    <a:pt x="0" y="0"/>
                  </a:moveTo>
                  <a:lnTo>
                    <a:pt x="770695" y="0"/>
                  </a:lnTo>
                  <a:lnTo>
                    <a:pt x="770695" y="203629"/>
                  </a:lnTo>
                  <a:lnTo>
                    <a:pt x="0" y="203629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7"/>
            <p:cNvSpPr txBox="1"/>
            <p:nvPr/>
          </p:nvSpPr>
          <p:spPr>
            <a:xfrm>
              <a:off x="0" y="-38100"/>
              <a:ext cx="770695" cy="2417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7"/>
          <p:cNvSpPr txBox="1"/>
          <p:nvPr/>
        </p:nvSpPr>
        <p:spPr>
          <a:xfrm>
            <a:off x="5863190" y="109750"/>
            <a:ext cx="27309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99"/>
              <a:buFont typeface="Arial"/>
              <a:buNone/>
            </a:pPr>
            <a:r>
              <a:rPr lang="en-US" sz="94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RF</a:t>
            </a:r>
            <a:r>
              <a:rPr lang="en-US" sz="9499">
                <a:latin typeface="Impact"/>
                <a:ea typeface="Impact"/>
                <a:cs typeface="Impact"/>
                <a:sym typeface="Impact"/>
              </a:rPr>
              <a:t>89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13588555" y="7742328"/>
            <a:ext cx="2730865" cy="45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EFFICIENCY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" name="Google Shape;312;p7"/>
          <p:cNvGrpSpPr/>
          <p:nvPr/>
        </p:nvGrpSpPr>
        <p:grpSpPr>
          <a:xfrm>
            <a:off x="12565518" y="-2454676"/>
            <a:ext cx="7186254" cy="7186254"/>
            <a:chOff x="0" y="0"/>
            <a:chExt cx="812800" cy="812800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" name="Google Shape;315;p7"/>
          <p:cNvSpPr/>
          <p:nvPr/>
        </p:nvSpPr>
        <p:spPr>
          <a:xfrm>
            <a:off x="8996418" y="4548640"/>
            <a:ext cx="1766910" cy="594860"/>
          </a:xfrm>
          <a:custGeom>
            <a:avLst/>
            <a:gdLst/>
            <a:ahLst/>
            <a:cxnLst/>
            <a:rect l="l" t="t" r="r" b="b"/>
            <a:pathLst>
              <a:path w="1766910" h="594860" extrusionOk="0">
                <a:moveTo>
                  <a:pt x="0" y="0"/>
                </a:moveTo>
                <a:lnTo>
                  <a:pt x="1766910" y="0"/>
                </a:lnTo>
                <a:lnTo>
                  <a:pt x="1766910" y="594860"/>
                </a:lnTo>
                <a:lnTo>
                  <a:pt x="0" y="59486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 rot="-5400000">
            <a:off x="1648039" y="-94030"/>
            <a:ext cx="219896" cy="1430217"/>
          </a:xfrm>
          <a:custGeom>
            <a:avLst/>
            <a:gdLst/>
            <a:ahLst/>
            <a:cxnLst/>
            <a:rect l="l" t="t" r="r" b="b"/>
            <a:pathLst>
              <a:path w="219896" h="1430217" extrusionOk="0">
                <a:moveTo>
                  <a:pt x="0" y="0"/>
                </a:moveTo>
                <a:lnTo>
                  <a:pt x="219896" y="0"/>
                </a:lnTo>
                <a:lnTo>
                  <a:pt x="219896" y="1430217"/>
                </a:lnTo>
                <a:lnTo>
                  <a:pt x="0" y="143021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7" name="Google Shape;317;p7"/>
          <p:cNvGrpSpPr/>
          <p:nvPr/>
        </p:nvGrpSpPr>
        <p:grpSpPr>
          <a:xfrm>
            <a:off x="11159725" y="1362799"/>
            <a:ext cx="6732944" cy="8250289"/>
            <a:chOff x="0" y="-38100"/>
            <a:chExt cx="1129954" cy="1164637"/>
          </a:xfrm>
        </p:grpSpPr>
        <p:sp>
          <p:nvSpPr>
            <p:cNvPr id="318" name="Google Shape;318;p7"/>
            <p:cNvSpPr/>
            <p:nvPr/>
          </p:nvSpPr>
          <p:spPr>
            <a:xfrm>
              <a:off x="0" y="0"/>
              <a:ext cx="1129954" cy="1126537"/>
            </a:xfrm>
            <a:custGeom>
              <a:avLst/>
              <a:gdLst/>
              <a:ahLst/>
              <a:cxnLst/>
              <a:rect l="l" t="t" r="r" b="b"/>
              <a:pathLst>
                <a:path w="1129954" h="1126537" extrusionOk="0">
                  <a:moveTo>
                    <a:pt x="0" y="0"/>
                  </a:moveTo>
                  <a:lnTo>
                    <a:pt x="1129954" y="0"/>
                  </a:lnTo>
                  <a:lnTo>
                    <a:pt x="1129954" y="1126537"/>
                  </a:lnTo>
                  <a:lnTo>
                    <a:pt x="0" y="1126537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7"/>
            <p:cNvSpPr txBox="1"/>
            <p:nvPr/>
          </p:nvSpPr>
          <p:spPr>
            <a:xfrm>
              <a:off x="0" y="-38100"/>
              <a:ext cx="1129954" cy="1164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7"/>
          <p:cNvGrpSpPr/>
          <p:nvPr/>
        </p:nvGrpSpPr>
        <p:grpSpPr>
          <a:xfrm>
            <a:off x="11817526" y="461942"/>
            <a:ext cx="5577296" cy="1353006"/>
            <a:chOff x="0" y="-38100"/>
            <a:chExt cx="996444" cy="241729"/>
          </a:xfrm>
        </p:grpSpPr>
        <p:sp>
          <p:nvSpPr>
            <p:cNvPr id="321" name="Google Shape;321;p7"/>
            <p:cNvSpPr/>
            <p:nvPr/>
          </p:nvSpPr>
          <p:spPr>
            <a:xfrm>
              <a:off x="0" y="0"/>
              <a:ext cx="996444" cy="203629"/>
            </a:xfrm>
            <a:custGeom>
              <a:avLst/>
              <a:gdLst/>
              <a:ahLst/>
              <a:cxnLst/>
              <a:rect l="l" t="t" r="r" b="b"/>
              <a:pathLst>
                <a:path w="996444" h="203629" extrusionOk="0">
                  <a:moveTo>
                    <a:pt x="0" y="0"/>
                  </a:moveTo>
                  <a:lnTo>
                    <a:pt x="996444" y="0"/>
                  </a:lnTo>
                  <a:lnTo>
                    <a:pt x="996444" y="203629"/>
                  </a:lnTo>
                  <a:lnTo>
                    <a:pt x="0" y="203629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7"/>
            <p:cNvSpPr txBox="1"/>
            <p:nvPr/>
          </p:nvSpPr>
          <p:spPr>
            <a:xfrm>
              <a:off x="0" y="-38100"/>
              <a:ext cx="996444" cy="2417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7"/>
          <p:cNvGrpSpPr/>
          <p:nvPr/>
        </p:nvGrpSpPr>
        <p:grpSpPr>
          <a:xfrm>
            <a:off x="5863211" y="3094308"/>
            <a:ext cx="5058822" cy="6518695"/>
            <a:chOff x="0" y="-38100"/>
            <a:chExt cx="903815" cy="1164637"/>
          </a:xfrm>
        </p:grpSpPr>
        <p:sp>
          <p:nvSpPr>
            <p:cNvPr id="324" name="Google Shape;324;p7"/>
            <p:cNvSpPr/>
            <p:nvPr/>
          </p:nvSpPr>
          <p:spPr>
            <a:xfrm>
              <a:off x="0" y="0"/>
              <a:ext cx="903815" cy="1126537"/>
            </a:xfrm>
            <a:custGeom>
              <a:avLst/>
              <a:gdLst/>
              <a:ahLst/>
              <a:cxnLst/>
              <a:rect l="l" t="t" r="r" b="b"/>
              <a:pathLst>
                <a:path w="903815" h="1126537" extrusionOk="0">
                  <a:moveTo>
                    <a:pt x="0" y="0"/>
                  </a:moveTo>
                  <a:lnTo>
                    <a:pt x="903815" y="0"/>
                  </a:lnTo>
                  <a:lnTo>
                    <a:pt x="903815" y="1126537"/>
                  </a:lnTo>
                  <a:lnTo>
                    <a:pt x="0" y="1126537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7"/>
            <p:cNvSpPr txBox="1"/>
            <p:nvPr/>
          </p:nvSpPr>
          <p:spPr>
            <a:xfrm>
              <a:off x="0" y="-38100"/>
              <a:ext cx="903815" cy="1164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7"/>
          <p:cNvGrpSpPr/>
          <p:nvPr/>
        </p:nvGrpSpPr>
        <p:grpSpPr>
          <a:xfrm>
            <a:off x="6235759" y="2496742"/>
            <a:ext cx="4313727" cy="1353005"/>
            <a:chOff x="0" y="-38100"/>
            <a:chExt cx="770695" cy="241729"/>
          </a:xfrm>
        </p:grpSpPr>
        <p:sp>
          <p:nvSpPr>
            <p:cNvPr id="327" name="Google Shape;327;p7"/>
            <p:cNvSpPr/>
            <p:nvPr/>
          </p:nvSpPr>
          <p:spPr>
            <a:xfrm>
              <a:off x="0" y="0"/>
              <a:ext cx="770695" cy="203629"/>
            </a:xfrm>
            <a:custGeom>
              <a:avLst/>
              <a:gdLst/>
              <a:ahLst/>
              <a:cxnLst/>
              <a:rect l="l" t="t" r="r" b="b"/>
              <a:pathLst>
                <a:path w="770695" h="203629" extrusionOk="0">
                  <a:moveTo>
                    <a:pt x="0" y="0"/>
                  </a:moveTo>
                  <a:lnTo>
                    <a:pt x="770695" y="0"/>
                  </a:lnTo>
                  <a:lnTo>
                    <a:pt x="770695" y="203629"/>
                  </a:lnTo>
                  <a:lnTo>
                    <a:pt x="0" y="203629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7"/>
            <p:cNvSpPr txBox="1"/>
            <p:nvPr/>
          </p:nvSpPr>
          <p:spPr>
            <a:xfrm>
              <a:off x="0" y="-38100"/>
              <a:ext cx="770695" cy="2417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7"/>
          <p:cNvSpPr txBox="1"/>
          <p:nvPr/>
        </p:nvSpPr>
        <p:spPr>
          <a:xfrm>
            <a:off x="1022111" y="1571956"/>
            <a:ext cx="40257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None/>
            </a:pPr>
            <a:r>
              <a:rPr lang="en-US" sz="3685" b="1" i="0" u="none" strike="noStrike" cap="none" dirty="0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REQUERIMIENTO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"/>
          <p:cNvSpPr txBox="1"/>
          <p:nvPr/>
        </p:nvSpPr>
        <p:spPr>
          <a:xfrm>
            <a:off x="7323000" y="1521575"/>
            <a:ext cx="36426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Análisis de Ventas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Corresponde al UR </a:t>
            </a:r>
            <a:r>
              <a:rPr lang="en-US" sz="2500" b="1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7.2</a:t>
            </a:r>
            <a:r>
              <a:rPr lang="en-US" sz="2500" b="1" i="0" u="none" strike="noStrike" cap="none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545454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31" name="Google Shape;331;p7"/>
          <p:cNvSpPr txBox="1"/>
          <p:nvPr/>
        </p:nvSpPr>
        <p:spPr>
          <a:xfrm>
            <a:off x="11817522" y="854790"/>
            <a:ext cx="55773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None/>
            </a:pPr>
            <a:r>
              <a:rPr lang="en-US" sz="3685" b="1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CASO DE USO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7"/>
          <p:cNvSpPr txBox="1"/>
          <p:nvPr/>
        </p:nvSpPr>
        <p:spPr>
          <a:xfrm>
            <a:off x="6523764" y="2917116"/>
            <a:ext cx="40257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84"/>
              <a:buFont typeface="Arial"/>
              <a:buNone/>
            </a:pPr>
            <a:r>
              <a:rPr lang="en-US" sz="3685" b="1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UR </a:t>
            </a:r>
            <a:r>
              <a:rPr lang="en-US" sz="3685" b="1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7.2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7"/>
          <p:cNvSpPr txBox="1"/>
          <p:nvPr/>
        </p:nvSpPr>
        <p:spPr>
          <a:xfrm>
            <a:off x="466025" y="2575750"/>
            <a:ext cx="5058900" cy="85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debe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permitir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que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usuarios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autorizados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analicen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las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ventas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definitivas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consolidadas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correspondientes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período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consultado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 El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monto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neto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entendido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valor antes de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impuestos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debe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constituir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cifra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principal del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análisis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;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monto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total, que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incorpora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impuestos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aplicables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puede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presentarse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información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complementaria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 El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análisis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debe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permitir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revisar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evolución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temporal de las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ventas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compararlas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períodos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anteriores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cuando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exista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base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suficiente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analizar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composición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cliente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tipo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cliente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 El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análisis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producto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categoría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sólo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debe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presentarse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cuando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exista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clasificación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válida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proveniente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de la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fuente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correspondiente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Cuando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seleccione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cliente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puede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presentar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resumen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contextual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autorizado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permitir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continuar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hacia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ficha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correspondiente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sin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modificarla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desde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Panel General.</a:t>
            </a:r>
            <a:endParaRPr sz="1600" b="1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34" name="Google Shape;334;p7"/>
          <p:cNvSpPr txBox="1"/>
          <p:nvPr/>
        </p:nvSpPr>
        <p:spPr>
          <a:xfrm>
            <a:off x="6235759" y="3935472"/>
            <a:ext cx="4313700" cy="46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Como usuario autorizado, quiero analizar las ventas consolidadas de un período, su evolución, comparación y composición para comprender su comportamiento y apoyar el análisis comercial.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Necesidad: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Prioridad: </a:t>
            </a:r>
            <a:r>
              <a:rPr lang="en-US" sz="170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Estabilidad: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Claridad: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Verificalidad: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Fuente: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7" title="Captura de pantalla 2026-10-04 172752.png"/>
          <p:cNvPicPr preferRelativeResize="0"/>
          <p:nvPr/>
        </p:nvPicPr>
        <p:blipFill rotWithShape="1">
          <a:blip r:embed="rId3">
            <a:alphaModFix/>
          </a:blip>
          <a:srcRect t="190" b="-190"/>
          <a:stretch/>
        </p:blipFill>
        <p:spPr>
          <a:xfrm>
            <a:off x="11281956" y="1983150"/>
            <a:ext cx="6537440" cy="745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8"/>
          <p:cNvGrpSpPr/>
          <p:nvPr/>
        </p:nvGrpSpPr>
        <p:grpSpPr>
          <a:xfrm>
            <a:off x="12565518" y="-2454676"/>
            <a:ext cx="7186254" cy="7186254"/>
            <a:chOff x="0" y="0"/>
            <a:chExt cx="812800" cy="812800"/>
          </a:xfrm>
        </p:grpSpPr>
        <p:sp>
          <p:nvSpPr>
            <p:cNvPr id="345" name="Google Shape;345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8"/>
          <p:cNvSpPr/>
          <p:nvPr/>
        </p:nvSpPr>
        <p:spPr>
          <a:xfrm rot="10800000">
            <a:off x="14953988" y="1193634"/>
            <a:ext cx="5741326" cy="668082"/>
          </a:xfrm>
          <a:custGeom>
            <a:avLst/>
            <a:gdLst/>
            <a:ahLst/>
            <a:cxnLst/>
            <a:rect l="l" t="t" r="r" b="b"/>
            <a:pathLst>
              <a:path w="5741326" h="668082" extrusionOk="0">
                <a:moveTo>
                  <a:pt x="0" y="0"/>
                </a:moveTo>
                <a:lnTo>
                  <a:pt x="5741325" y="0"/>
                </a:lnTo>
                <a:lnTo>
                  <a:pt x="5741325" y="668082"/>
                </a:lnTo>
                <a:lnTo>
                  <a:pt x="0" y="66808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 rot="-5400000">
            <a:off x="1648039" y="-94030"/>
            <a:ext cx="219896" cy="1430217"/>
          </a:xfrm>
          <a:custGeom>
            <a:avLst/>
            <a:gdLst/>
            <a:ahLst/>
            <a:cxnLst/>
            <a:rect l="l" t="t" r="r" b="b"/>
            <a:pathLst>
              <a:path w="219896" h="1430217" extrusionOk="0">
                <a:moveTo>
                  <a:pt x="0" y="0"/>
                </a:moveTo>
                <a:lnTo>
                  <a:pt x="219896" y="0"/>
                </a:lnTo>
                <a:lnTo>
                  <a:pt x="219896" y="1430217"/>
                </a:lnTo>
                <a:lnTo>
                  <a:pt x="0" y="143021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8"/>
          <p:cNvGrpSpPr/>
          <p:nvPr/>
        </p:nvGrpSpPr>
        <p:grpSpPr>
          <a:xfrm>
            <a:off x="15705644" y="1606448"/>
            <a:ext cx="234493" cy="8374261"/>
            <a:chOff x="0" y="-38100"/>
            <a:chExt cx="61760" cy="2205567"/>
          </a:xfrm>
        </p:grpSpPr>
        <p:sp>
          <p:nvSpPr>
            <p:cNvPr id="350" name="Google Shape;350;p8"/>
            <p:cNvSpPr/>
            <p:nvPr/>
          </p:nvSpPr>
          <p:spPr>
            <a:xfrm>
              <a:off x="0" y="0"/>
              <a:ext cx="61760" cy="2167467"/>
            </a:xfrm>
            <a:custGeom>
              <a:avLst/>
              <a:gdLst/>
              <a:ahLst/>
              <a:cxnLst/>
              <a:rect l="l" t="t" r="r" b="b"/>
              <a:pathLst>
                <a:path w="61760" h="2167467" extrusionOk="0">
                  <a:moveTo>
                    <a:pt x="0" y="0"/>
                  </a:moveTo>
                  <a:lnTo>
                    <a:pt x="61760" y="0"/>
                  </a:lnTo>
                  <a:lnTo>
                    <a:pt x="6176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8"/>
            <p:cNvSpPr txBox="1"/>
            <p:nvPr/>
          </p:nvSpPr>
          <p:spPr>
            <a:xfrm>
              <a:off x="0" y="-38100"/>
              <a:ext cx="61760" cy="22055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8"/>
          <p:cNvGrpSpPr/>
          <p:nvPr/>
        </p:nvGrpSpPr>
        <p:grpSpPr>
          <a:xfrm>
            <a:off x="-231633" y="-1921513"/>
            <a:ext cx="3860075" cy="3860075"/>
            <a:chOff x="0" y="0"/>
            <a:chExt cx="812800" cy="812800"/>
          </a:xfrm>
        </p:grpSpPr>
        <p:sp>
          <p:nvSpPr>
            <p:cNvPr id="353" name="Google Shape;353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p8"/>
          <p:cNvGrpSpPr/>
          <p:nvPr/>
        </p:nvGrpSpPr>
        <p:grpSpPr>
          <a:xfrm>
            <a:off x="-450373" y="-348365"/>
            <a:ext cx="2148777" cy="10635365"/>
            <a:chOff x="0" y="-38100"/>
            <a:chExt cx="229394" cy="1135384"/>
          </a:xfrm>
        </p:grpSpPr>
        <p:sp>
          <p:nvSpPr>
            <p:cNvPr id="356" name="Google Shape;356;p8"/>
            <p:cNvSpPr/>
            <p:nvPr/>
          </p:nvSpPr>
          <p:spPr>
            <a:xfrm>
              <a:off x="0" y="0"/>
              <a:ext cx="229394" cy="1097284"/>
            </a:xfrm>
            <a:custGeom>
              <a:avLst/>
              <a:gdLst/>
              <a:ahLst/>
              <a:cxnLst/>
              <a:rect l="l" t="t" r="r" b="b"/>
              <a:pathLst>
                <a:path w="229394" h="1097284" extrusionOk="0">
                  <a:moveTo>
                    <a:pt x="0" y="0"/>
                  </a:moveTo>
                  <a:lnTo>
                    <a:pt x="229394" y="0"/>
                  </a:lnTo>
                  <a:lnTo>
                    <a:pt x="229394" y="1097284"/>
                  </a:lnTo>
                  <a:lnTo>
                    <a:pt x="0" y="1097284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8"/>
            <p:cNvSpPr txBox="1"/>
            <p:nvPr/>
          </p:nvSpPr>
          <p:spPr>
            <a:xfrm>
              <a:off x="0" y="-38100"/>
              <a:ext cx="229394" cy="11353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8"/>
          <p:cNvGrpSpPr/>
          <p:nvPr/>
        </p:nvGrpSpPr>
        <p:grpSpPr>
          <a:xfrm>
            <a:off x="9547785" y="7287542"/>
            <a:ext cx="5386334" cy="5386334"/>
            <a:chOff x="0" y="0"/>
            <a:chExt cx="812800" cy="812800"/>
          </a:xfrm>
        </p:grpSpPr>
        <p:sp>
          <p:nvSpPr>
            <p:cNvPr id="359" name="Google Shape;359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8"/>
          <p:cNvSpPr txBox="1"/>
          <p:nvPr/>
        </p:nvSpPr>
        <p:spPr>
          <a:xfrm>
            <a:off x="2031458" y="511131"/>
            <a:ext cx="5081100" cy="6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99"/>
              <a:buFont typeface="Arial"/>
              <a:buNone/>
            </a:pPr>
            <a:r>
              <a:rPr lang="en-US" sz="94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RF</a:t>
            </a:r>
            <a:r>
              <a:rPr lang="en-US" sz="9499">
                <a:latin typeface="Impact"/>
                <a:ea typeface="Impact"/>
                <a:cs typeface="Impact"/>
                <a:sym typeface="Impact"/>
              </a:rPr>
              <a:t>89</a:t>
            </a:r>
            <a:r>
              <a:rPr lang="en-US" sz="94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 - DIAGRAMACASO DE USO </a:t>
            </a:r>
            <a:r>
              <a:rPr lang="en-US" sz="9499">
                <a:latin typeface="Impact"/>
                <a:ea typeface="Impact"/>
                <a:cs typeface="Impact"/>
                <a:sym typeface="Impact"/>
              </a:rPr>
              <a:t>106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8" title="CU106 - Analizando Ventas del períod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9650" y="295313"/>
            <a:ext cx="4906181" cy="9696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9"/>
          <p:cNvGrpSpPr/>
          <p:nvPr/>
        </p:nvGrpSpPr>
        <p:grpSpPr>
          <a:xfrm>
            <a:off x="-29169" y="8086614"/>
            <a:ext cx="18317385" cy="2200683"/>
            <a:chOff x="0" y="-38100"/>
            <a:chExt cx="4824300" cy="579600"/>
          </a:xfrm>
        </p:grpSpPr>
        <p:sp>
          <p:nvSpPr>
            <p:cNvPr id="372" name="Google Shape;372;p9"/>
            <p:cNvSpPr/>
            <p:nvPr/>
          </p:nvSpPr>
          <p:spPr>
            <a:xfrm>
              <a:off x="0" y="0"/>
              <a:ext cx="4824275" cy="541425"/>
            </a:xfrm>
            <a:custGeom>
              <a:avLst/>
              <a:gdLst/>
              <a:ahLst/>
              <a:cxnLst/>
              <a:rect l="l" t="t" r="r" b="b"/>
              <a:pathLst>
                <a:path w="4824275" h="541425" extrusionOk="0">
                  <a:moveTo>
                    <a:pt x="0" y="0"/>
                  </a:moveTo>
                  <a:lnTo>
                    <a:pt x="4824275" y="0"/>
                  </a:lnTo>
                  <a:lnTo>
                    <a:pt x="4824275" y="541425"/>
                  </a:lnTo>
                  <a:lnTo>
                    <a:pt x="0" y="541425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9"/>
            <p:cNvSpPr txBox="1"/>
            <p:nvPr/>
          </p:nvSpPr>
          <p:spPr>
            <a:xfrm>
              <a:off x="0" y="-38100"/>
              <a:ext cx="4824300" cy="57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9"/>
          <p:cNvGrpSpPr/>
          <p:nvPr/>
        </p:nvGrpSpPr>
        <p:grpSpPr>
          <a:xfrm>
            <a:off x="12565518" y="-2454676"/>
            <a:ext cx="7186290" cy="7186290"/>
            <a:chOff x="0" y="0"/>
            <a:chExt cx="812800" cy="812800"/>
          </a:xfrm>
        </p:grpSpPr>
        <p:sp>
          <p:nvSpPr>
            <p:cNvPr id="375" name="Google Shape;375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9"/>
          <p:cNvSpPr/>
          <p:nvPr/>
        </p:nvSpPr>
        <p:spPr>
          <a:xfrm rot="-5400000">
            <a:off x="1648039" y="-94030"/>
            <a:ext cx="219896" cy="1430217"/>
          </a:xfrm>
          <a:custGeom>
            <a:avLst/>
            <a:gdLst/>
            <a:ahLst/>
            <a:cxnLst/>
            <a:rect l="l" t="t" r="r" b="b"/>
            <a:pathLst>
              <a:path w="219896" h="1430217" extrusionOk="0">
                <a:moveTo>
                  <a:pt x="0" y="0"/>
                </a:moveTo>
                <a:lnTo>
                  <a:pt x="219896" y="0"/>
                </a:lnTo>
                <a:lnTo>
                  <a:pt x="219896" y="1430217"/>
                </a:lnTo>
                <a:lnTo>
                  <a:pt x="0" y="143021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 txBox="1"/>
          <p:nvPr/>
        </p:nvSpPr>
        <p:spPr>
          <a:xfrm>
            <a:off x="277349" y="224025"/>
            <a:ext cx="17967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99"/>
              <a:buFont typeface="Arial"/>
              <a:buNone/>
            </a:pPr>
            <a:r>
              <a:rPr lang="en-US" sz="62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RF</a:t>
            </a:r>
            <a:r>
              <a:rPr lang="en-US" sz="6299">
                <a:latin typeface="Impact"/>
                <a:ea typeface="Impact"/>
                <a:cs typeface="Impact"/>
                <a:sym typeface="Impact"/>
              </a:rPr>
              <a:t>89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9"/>
          <p:cNvSpPr/>
          <p:nvPr/>
        </p:nvSpPr>
        <p:spPr>
          <a:xfrm rot="-5400000">
            <a:off x="1648039" y="-94030"/>
            <a:ext cx="219896" cy="1430217"/>
          </a:xfrm>
          <a:custGeom>
            <a:avLst/>
            <a:gdLst/>
            <a:ahLst/>
            <a:cxnLst/>
            <a:rect l="l" t="t" r="r" b="b"/>
            <a:pathLst>
              <a:path w="219896" h="1430217" extrusionOk="0">
                <a:moveTo>
                  <a:pt x="0" y="0"/>
                </a:moveTo>
                <a:lnTo>
                  <a:pt x="219896" y="0"/>
                </a:lnTo>
                <a:lnTo>
                  <a:pt x="219896" y="1430217"/>
                </a:lnTo>
                <a:lnTo>
                  <a:pt x="0" y="143021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0" name="Google Shape;380;p9"/>
          <p:cNvGrpSpPr/>
          <p:nvPr/>
        </p:nvGrpSpPr>
        <p:grpSpPr>
          <a:xfrm>
            <a:off x="-29168" y="-536711"/>
            <a:ext cx="2052808" cy="2052808"/>
            <a:chOff x="0" y="0"/>
            <a:chExt cx="812800" cy="812800"/>
          </a:xfrm>
        </p:grpSpPr>
        <p:sp>
          <p:nvSpPr>
            <p:cNvPr id="381" name="Google Shape;381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26100" tIns="13075" rIns="26100" bIns="130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4"/>
                <a:buFont typeface="Arial"/>
                <a:buNone/>
              </a:pPr>
              <a:endParaRPr sz="5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500" tIns="14500" rIns="14500" bIns="145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4"/>
                <a:buFont typeface="Arial"/>
                <a:buNone/>
              </a:pPr>
              <a:endParaRPr sz="5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" name="Google Shape;383;p9"/>
          <p:cNvSpPr txBox="1"/>
          <p:nvPr/>
        </p:nvSpPr>
        <p:spPr>
          <a:xfrm>
            <a:off x="2179500" y="679425"/>
            <a:ext cx="139290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99"/>
              <a:buFont typeface="Arial"/>
              <a:buNone/>
            </a:pPr>
            <a:r>
              <a:rPr lang="en-US" sz="94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DIAGRAMA SECUENCIA CU</a:t>
            </a:r>
            <a:r>
              <a:rPr lang="en-US" sz="9499">
                <a:latin typeface="Impact"/>
                <a:ea typeface="Impact"/>
                <a:cs typeface="Impact"/>
                <a:sym typeface="Impact"/>
              </a:rPr>
              <a:t>106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p9" title="CU106-Analizando Ventas del perío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350" y="2014400"/>
            <a:ext cx="16698639" cy="5919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10"/>
          <p:cNvGrpSpPr/>
          <p:nvPr/>
        </p:nvGrpSpPr>
        <p:grpSpPr>
          <a:xfrm>
            <a:off x="-3059651" y="-173897"/>
            <a:ext cx="7613660" cy="7613660"/>
            <a:chOff x="0" y="0"/>
            <a:chExt cx="812800" cy="812800"/>
          </a:xfrm>
        </p:grpSpPr>
        <p:sp>
          <p:nvSpPr>
            <p:cNvPr id="394" name="Google Shape;394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10"/>
          <p:cNvSpPr/>
          <p:nvPr/>
        </p:nvSpPr>
        <p:spPr>
          <a:xfrm>
            <a:off x="874722" y="7796583"/>
            <a:ext cx="6329677" cy="736544"/>
          </a:xfrm>
          <a:custGeom>
            <a:avLst/>
            <a:gdLst/>
            <a:ahLst/>
            <a:cxnLst/>
            <a:rect l="l" t="t" r="r" b="b"/>
            <a:pathLst>
              <a:path w="6329677" h="736544" extrusionOk="0">
                <a:moveTo>
                  <a:pt x="0" y="0"/>
                </a:moveTo>
                <a:lnTo>
                  <a:pt x="6329676" y="0"/>
                </a:lnTo>
                <a:lnTo>
                  <a:pt x="6329676" y="736544"/>
                </a:lnTo>
                <a:lnTo>
                  <a:pt x="0" y="73654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" name="Google Shape;397;p10"/>
          <p:cNvGrpSpPr/>
          <p:nvPr/>
        </p:nvGrpSpPr>
        <p:grpSpPr>
          <a:xfrm>
            <a:off x="15811427" y="4570195"/>
            <a:ext cx="3531409" cy="3531409"/>
            <a:chOff x="0" y="0"/>
            <a:chExt cx="812800" cy="812800"/>
          </a:xfrm>
        </p:grpSpPr>
        <p:sp>
          <p:nvSpPr>
            <p:cNvPr id="398" name="Google Shape;39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10"/>
          <p:cNvSpPr txBox="1"/>
          <p:nvPr/>
        </p:nvSpPr>
        <p:spPr>
          <a:xfrm>
            <a:off x="7935076" y="6567825"/>
            <a:ext cx="9155100" cy="3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lang="en-US" sz="99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DIAGRAMA DE COMPONENTES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721" y="170725"/>
            <a:ext cx="17328952" cy="629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Google Shape;410;p11"/>
          <p:cNvGrpSpPr/>
          <p:nvPr/>
        </p:nvGrpSpPr>
        <p:grpSpPr>
          <a:xfrm>
            <a:off x="1031797" y="6462465"/>
            <a:ext cx="16230600" cy="3578159"/>
            <a:chOff x="0" y="-38100"/>
            <a:chExt cx="1732706" cy="381988"/>
          </a:xfrm>
        </p:grpSpPr>
        <p:sp>
          <p:nvSpPr>
            <p:cNvPr id="411" name="Google Shape;411;p11"/>
            <p:cNvSpPr/>
            <p:nvPr/>
          </p:nvSpPr>
          <p:spPr>
            <a:xfrm>
              <a:off x="0" y="0"/>
              <a:ext cx="1732705" cy="343888"/>
            </a:xfrm>
            <a:custGeom>
              <a:avLst/>
              <a:gdLst/>
              <a:ahLst/>
              <a:cxnLst/>
              <a:rect l="l" t="t" r="r" b="b"/>
              <a:pathLst>
                <a:path w="1732705" h="343888" extrusionOk="0">
                  <a:moveTo>
                    <a:pt x="0" y="0"/>
                  </a:moveTo>
                  <a:lnTo>
                    <a:pt x="1732705" y="0"/>
                  </a:lnTo>
                  <a:lnTo>
                    <a:pt x="1732705" y="343888"/>
                  </a:lnTo>
                  <a:lnTo>
                    <a:pt x="0" y="343888"/>
                  </a:ln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1"/>
            <p:cNvSpPr txBox="1"/>
            <p:nvPr/>
          </p:nvSpPr>
          <p:spPr>
            <a:xfrm>
              <a:off x="0" y="-38100"/>
              <a:ext cx="1732706" cy="3819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3" name="Google Shape;413;p11"/>
          <p:cNvSpPr/>
          <p:nvPr/>
        </p:nvSpPr>
        <p:spPr>
          <a:xfrm>
            <a:off x="1028700" y="3106249"/>
            <a:ext cx="1597381" cy="537785"/>
          </a:xfrm>
          <a:custGeom>
            <a:avLst/>
            <a:gdLst/>
            <a:ahLst/>
            <a:cxnLst/>
            <a:rect l="l" t="t" r="r" b="b"/>
            <a:pathLst>
              <a:path w="1597381" h="537785" extrusionOk="0">
                <a:moveTo>
                  <a:pt x="0" y="0"/>
                </a:moveTo>
                <a:lnTo>
                  <a:pt x="1597381" y="0"/>
                </a:lnTo>
                <a:lnTo>
                  <a:pt x="1597381" y="537785"/>
                </a:lnTo>
                <a:lnTo>
                  <a:pt x="0" y="53778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15665015" y="3106249"/>
            <a:ext cx="1597381" cy="537785"/>
          </a:xfrm>
          <a:custGeom>
            <a:avLst/>
            <a:gdLst/>
            <a:ahLst/>
            <a:cxnLst/>
            <a:rect l="l" t="t" r="r" b="b"/>
            <a:pathLst>
              <a:path w="1597381" h="537785" extrusionOk="0">
                <a:moveTo>
                  <a:pt x="0" y="0"/>
                </a:moveTo>
                <a:lnTo>
                  <a:pt x="1597382" y="0"/>
                </a:lnTo>
                <a:lnTo>
                  <a:pt x="1597382" y="537785"/>
                </a:lnTo>
                <a:lnTo>
                  <a:pt x="0" y="53778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 txBox="1"/>
          <p:nvPr/>
        </p:nvSpPr>
        <p:spPr>
          <a:xfrm>
            <a:off x="805282" y="2268189"/>
            <a:ext cx="5644200" cy="4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99"/>
              <a:buFont typeface="Arial"/>
              <a:buNone/>
            </a:pPr>
            <a:r>
              <a:rPr lang="en-US" sz="94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DIAGRAMA DE DESPLIEGUE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557040" y="3106249"/>
            <a:ext cx="1597381" cy="537785"/>
          </a:xfrm>
          <a:custGeom>
            <a:avLst/>
            <a:gdLst/>
            <a:ahLst/>
            <a:cxnLst/>
            <a:rect l="l" t="t" r="r" b="b"/>
            <a:pathLst>
              <a:path w="1597381" h="537785" extrusionOk="0">
                <a:moveTo>
                  <a:pt x="0" y="0"/>
                </a:moveTo>
                <a:lnTo>
                  <a:pt x="1597381" y="0"/>
                </a:lnTo>
                <a:lnTo>
                  <a:pt x="1597381" y="537785"/>
                </a:lnTo>
                <a:lnTo>
                  <a:pt x="0" y="53778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7176980" y="256192"/>
            <a:ext cx="9710639" cy="9556011"/>
          </a:xfrm>
          <a:custGeom>
            <a:avLst/>
            <a:gdLst/>
            <a:ahLst/>
            <a:cxnLst/>
            <a:rect l="l" t="t" r="r" b="b"/>
            <a:pathLst>
              <a:path w="9710639" h="9556011" extrusionOk="0">
                <a:moveTo>
                  <a:pt x="0" y="0"/>
                </a:moveTo>
                <a:lnTo>
                  <a:pt x="9710639" y="0"/>
                </a:lnTo>
                <a:lnTo>
                  <a:pt x="9710639" y="9556011"/>
                </a:lnTo>
                <a:lnTo>
                  <a:pt x="0" y="95560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12"/>
          <p:cNvGrpSpPr/>
          <p:nvPr/>
        </p:nvGrpSpPr>
        <p:grpSpPr>
          <a:xfrm>
            <a:off x="-1180592" y="2898944"/>
            <a:ext cx="8340954" cy="8340954"/>
            <a:chOff x="0" y="0"/>
            <a:chExt cx="812800" cy="812800"/>
          </a:xfrm>
        </p:grpSpPr>
        <p:sp>
          <p:nvSpPr>
            <p:cNvPr id="427" name="Google Shape;427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12"/>
          <p:cNvGrpSpPr/>
          <p:nvPr/>
        </p:nvGrpSpPr>
        <p:grpSpPr>
          <a:xfrm>
            <a:off x="-522981" y="8815709"/>
            <a:ext cx="8886237" cy="1471291"/>
            <a:chOff x="0" y="-38100"/>
            <a:chExt cx="2340408" cy="387500"/>
          </a:xfrm>
        </p:grpSpPr>
        <p:sp>
          <p:nvSpPr>
            <p:cNvPr id="430" name="Google Shape;430;p12"/>
            <p:cNvSpPr/>
            <p:nvPr/>
          </p:nvSpPr>
          <p:spPr>
            <a:xfrm>
              <a:off x="0" y="0"/>
              <a:ext cx="2340408" cy="349400"/>
            </a:xfrm>
            <a:custGeom>
              <a:avLst/>
              <a:gdLst/>
              <a:ahLst/>
              <a:cxnLst/>
              <a:rect l="l" t="t" r="r" b="b"/>
              <a:pathLst>
                <a:path w="2340408" h="349400" extrusionOk="0">
                  <a:moveTo>
                    <a:pt x="0" y="0"/>
                  </a:moveTo>
                  <a:lnTo>
                    <a:pt x="2340408" y="0"/>
                  </a:lnTo>
                  <a:lnTo>
                    <a:pt x="2340408" y="349400"/>
                  </a:lnTo>
                  <a:lnTo>
                    <a:pt x="0" y="349400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2"/>
            <p:cNvSpPr txBox="1"/>
            <p:nvPr/>
          </p:nvSpPr>
          <p:spPr>
            <a:xfrm>
              <a:off x="0" y="-38100"/>
              <a:ext cx="2340408" cy="38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2" name="Google Shape;432;p12"/>
          <p:cNvSpPr/>
          <p:nvPr/>
        </p:nvSpPr>
        <p:spPr>
          <a:xfrm>
            <a:off x="11296203" y="765889"/>
            <a:ext cx="1577524" cy="773644"/>
          </a:xfrm>
          <a:custGeom>
            <a:avLst/>
            <a:gdLst/>
            <a:ahLst/>
            <a:cxnLst/>
            <a:rect l="l" t="t" r="r" b="b"/>
            <a:pathLst>
              <a:path w="1577524" h="773644" extrusionOk="0">
                <a:moveTo>
                  <a:pt x="0" y="0"/>
                </a:moveTo>
                <a:lnTo>
                  <a:pt x="1577525" y="0"/>
                </a:lnTo>
                <a:lnTo>
                  <a:pt x="1577525" y="773644"/>
                </a:lnTo>
                <a:lnTo>
                  <a:pt x="0" y="77364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3" name="Google Shape;433;p12"/>
          <p:cNvGrpSpPr/>
          <p:nvPr/>
        </p:nvGrpSpPr>
        <p:grpSpPr>
          <a:xfrm>
            <a:off x="15054241" y="3820733"/>
            <a:ext cx="2291432" cy="2291432"/>
            <a:chOff x="0" y="0"/>
            <a:chExt cx="812800" cy="812800"/>
          </a:xfrm>
        </p:grpSpPr>
        <p:sp>
          <p:nvSpPr>
            <p:cNvPr id="434" name="Google Shape;434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" name="Google Shape;436;p12"/>
          <p:cNvSpPr/>
          <p:nvPr/>
        </p:nvSpPr>
        <p:spPr>
          <a:xfrm>
            <a:off x="15599878" y="4365869"/>
            <a:ext cx="1200159" cy="1201160"/>
          </a:xfrm>
          <a:custGeom>
            <a:avLst/>
            <a:gdLst/>
            <a:ahLst/>
            <a:cxnLst/>
            <a:rect l="l" t="t" r="r" b="b"/>
            <a:pathLst>
              <a:path w="1200159" h="1201160" extrusionOk="0">
                <a:moveTo>
                  <a:pt x="0" y="0"/>
                </a:moveTo>
                <a:lnTo>
                  <a:pt x="1200159" y="0"/>
                </a:lnTo>
                <a:lnTo>
                  <a:pt x="1200159" y="1201160"/>
                </a:lnTo>
                <a:lnTo>
                  <a:pt x="0" y="120116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 txBox="1"/>
          <p:nvPr/>
        </p:nvSpPr>
        <p:spPr>
          <a:xfrm>
            <a:off x="14539179" y="9586842"/>
            <a:ext cx="28065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3"/>
              <a:buFont typeface="Arial"/>
              <a:buNone/>
            </a:pPr>
            <a:r>
              <a:rPr lang="en-US" sz="1433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Segmento del modelo de datos utilizado para el incremento </a:t>
            </a:r>
            <a:r>
              <a:rPr lang="en-US" sz="1433"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US" sz="1433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12" title="Modelo_Fisico_Incremento_3_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75" y="1136475"/>
            <a:ext cx="15744026" cy="8340951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2"/>
          <p:cNvSpPr txBox="1"/>
          <p:nvPr/>
        </p:nvSpPr>
        <p:spPr>
          <a:xfrm>
            <a:off x="11931767" y="367154"/>
            <a:ext cx="5841600" cy="28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2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63"/>
              <a:buFont typeface="Arial"/>
              <a:buNone/>
            </a:pPr>
            <a:r>
              <a:rPr lang="en-US" sz="8763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MODELO DE DATOS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p12" title="Leyenda_Modelo_Fisi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70962" y="7841707"/>
            <a:ext cx="1846399" cy="1519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13"/>
          <p:cNvGrpSpPr/>
          <p:nvPr/>
        </p:nvGrpSpPr>
        <p:grpSpPr>
          <a:xfrm>
            <a:off x="2941084" y="1606448"/>
            <a:ext cx="234493" cy="8374261"/>
            <a:chOff x="0" y="-38100"/>
            <a:chExt cx="61760" cy="2205567"/>
          </a:xfrm>
        </p:grpSpPr>
        <p:sp>
          <p:nvSpPr>
            <p:cNvPr id="450" name="Google Shape;450;p13"/>
            <p:cNvSpPr/>
            <p:nvPr/>
          </p:nvSpPr>
          <p:spPr>
            <a:xfrm>
              <a:off x="0" y="0"/>
              <a:ext cx="61760" cy="2167467"/>
            </a:xfrm>
            <a:custGeom>
              <a:avLst/>
              <a:gdLst/>
              <a:ahLst/>
              <a:cxnLst/>
              <a:rect l="l" t="t" r="r" b="b"/>
              <a:pathLst>
                <a:path w="61760" h="2167467" extrusionOk="0">
                  <a:moveTo>
                    <a:pt x="0" y="0"/>
                  </a:moveTo>
                  <a:lnTo>
                    <a:pt x="61760" y="0"/>
                  </a:lnTo>
                  <a:lnTo>
                    <a:pt x="6176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3"/>
            <p:cNvSpPr txBox="1"/>
            <p:nvPr/>
          </p:nvSpPr>
          <p:spPr>
            <a:xfrm>
              <a:off x="0" y="-38100"/>
              <a:ext cx="61760" cy="22055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p13"/>
          <p:cNvGrpSpPr/>
          <p:nvPr/>
        </p:nvGrpSpPr>
        <p:grpSpPr>
          <a:xfrm>
            <a:off x="-231633" y="-1921513"/>
            <a:ext cx="3860075" cy="3860075"/>
            <a:chOff x="0" y="0"/>
            <a:chExt cx="812800" cy="812800"/>
          </a:xfrm>
        </p:grpSpPr>
        <p:sp>
          <p:nvSpPr>
            <p:cNvPr id="453" name="Google Shape;453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5" name="Google Shape;455;p13"/>
          <p:cNvGrpSpPr/>
          <p:nvPr/>
        </p:nvGrpSpPr>
        <p:grpSpPr>
          <a:xfrm>
            <a:off x="-450373" y="-348365"/>
            <a:ext cx="2148777" cy="10635365"/>
            <a:chOff x="0" y="-38100"/>
            <a:chExt cx="229394" cy="1135384"/>
          </a:xfrm>
        </p:grpSpPr>
        <p:sp>
          <p:nvSpPr>
            <p:cNvPr id="456" name="Google Shape;456;p13"/>
            <p:cNvSpPr/>
            <p:nvPr/>
          </p:nvSpPr>
          <p:spPr>
            <a:xfrm>
              <a:off x="0" y="0"/>
              <a:ext cx="229394" cy="1097284"/>
            </a:xfrm>
            <a:custGeom>
              <a:avLst/>
              <a:gdLst/>
              <a:ahLst/>
              <a:cxnLst/>
              <a:rect l="l" t="t" r="r" b="b"/>
              <a:pathLst>
                <a:path w="229394" h="1097284" extrusionOk="0">
                  <a:moveTo>
                    <a:pt x="0" y="0"/>
                  </a:moveTo>
                  <a:lnTo>
                    <a:pt x="229394" y="0"/>
                  </a:lnTo>
                  <a:lnTo>
                    <a:pt x="229394" y="1097284"/>
                  </a:lnTo>
                  <a:lnTo>
                    <a:pt x="0" y="1097284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3"/>
            <p:cNvSpPr txBox="1"/>
            <p:nvPr/>
          </p:nvSpPr>
          <p:spPr>
            <a:xfrm>
              <a:off x="0" y="-38100"/>
              <a:ext cx="229394" cy="11353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8" name="Google Shape;458;p13"/>
          <p:cNvGrpSpPr/>
          <p:nvPr/>
        </p:nvGrpSpPr>
        <p:grpSpPr>
          <a:xfrm>
            <a:off x="9547785" y="7287542"/>
            <a:ext cx="5386334" cy="5386334"/>
            <a:chOff x="0" y="0"/>
            <a:chExt cx="812800" cy="812800"/>
          </a:xfrm>
        </p:grpSpPr>
        <p:sp>
          <p:nvSpPr>
            <p:cNvPr id="459" name="Google Shape;459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1" name="Google Shape;461;p13"/>
          <p:cNvSpPr txBox="1"/>
          <p:nvPr/>
        </p:nvSpPr>
        <p:spPr>
          <a:xfrm>
            <a:off x="4418258" y="313578"/>
            <a:ext cx="12841042" cy="189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2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57"/>
              <a:buFont typeface="Arial"/>
              <a:buNone/>
            </a:pPr>
            <a:r>
              <a:rPr lang="en-US" sz="11457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ÁRBOL DE NAVEGACIÓN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2" name="Google Shape;462;p13" title="Arbol_Navegacion_Incremento_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1625" y="2723555"/>
            <a:ext cx="18288000" cy="4839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h72088bf70636b300_0_0"/>
          <p:cNvGrpSpPr/>
          <p:nvPr/>
        </p:nvGrpSpPr>
        <p:grpSpPr>
          <a:xfrm>
            <a:off x="2941084" y="1606447"/>
            <a:ext cx="234642" cy="8374443"/>
            <a:chOff x="0" y="-38100"/>
            <a:chExt cx="61800" cy="2205600"/>
          </a:xfrm>
        </p:grpSpPr>
        <p:sp>
          <p:nvSpPr>
            <p:cNvPr id="472" name="Google Shape;472;h72088bf70636b300_0_0"/>
            <p:cNvSpPr/>
            <p:nvPr/>
          </p:nvSpPr>
          <p:spPr>
            <a:xfrm>
              <a:off x="0" y="0"/>
              <a:ext cx="61760" cy="2167467"/>
            </a:xfrm>
            <a:custGeom>
              <a:avLst/>
              <a:gdLst/>
              <a:ahLst/>
              <a:cxnLst/>
              <a:rect l="l" t="t" r="r" b="b"/>
              <a:pathLst>
                <a:path w="61760" h="2167467" extrusionOk="0">
                  <a:moveTo>
                    <a:pt x="0" y="0"/>
                  </a:moveTo>
                  <a:lnTo>
                    <a:pt x="61760" y="0"/>
                  </a:lnTo>
                  <a:lnTo>
                    <a:pt x="6176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h72088bf70636b300_0_0"/>
            <p:cNvSpPr txBox="1"/>
            <p:nvPr/>
          </p:nvSpPr>
          <p:spPr>
            <a:xfrm>
              <a:off x="0" y="-38100"/>
              <a:ext cx="61800" cy="220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h72088bf70636b300_0_0"/>
          <p:cNvGrpSpPr/>
          <p:nvPr/>
        </p:nvGrpSpPr>
        <p:grpSpPr>
          <a:xfrm>
            <a:off x="-231633" y="-1921513"/>
            <a:ext cx="3860068" cy="3860068"/>
            <a:chOff x="0" y="0"/>
            <a:chExt cx="812800" cy="812800"/>
          </a:xfrm>
        </p:grpSpPr>
        <p:sp>
          <p:nvSpPr>
            <p:cNvPr id="475" name="Google Shape;475;h72088bf70636b300_0_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h72088bf70636b300_0_0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7" name="Google Shape;477;h72088bf70636b300_0_0"/>
          <p:cNvGrpSpPr/>
          <p:nvPr/>
        </p:nvGrpSpPr>
        <p:grpSpPr>
          <a:xfrm>
            <a:off x="-450373" y="-348365"/>
            <a:ext cx="2149772" cy="10636456"/>
            <a:chOff x="0" y="-38100"/>
            <a:chExt cx="229500" cy="1135500"/>
          </a:xfrm>
        </p:grpSpPr>
        <p:sp>
          <p:nvSpPr>
            <p:cNvPr id="478" name="Google Shape;478;h72088bf70636b300_0_0"/>
            <p:cNvSpPr/>
            <p:nvPr/>
          </p:nvSpPr>
          <p:spPr>
            <a:xfrm>
              <a:off x="0" y="0"/>
              <a:ext cx="229394" cy="1097284"/>
            </a:xfrm>
            <a:custGeom>
              <a:avLst/>
              <a:gdLst/>
              <a:ahLst/>
              <a:cxnLst/>
              <a:rect l="l" t="t" r="r" b="b"/>
              <a:pathLst>
                <a:path w="229394" h="1097284" extrusionOk="0">
                  <a:moveTo>
                    <a:pt x="0" y="0"/>
                  </a:moveTo>
                  <a:lnTo>
                    <a:pt x="229394" y="0"/>
                  </a:lnTo>
                  <a:lnTo>
                    <a:pt x="229394" y="1097284"/>
                  </a:lnTo>
                  <a:lnTo>
                    <a:pt x="0" y="1097284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h72088bf70636b300_0_0"/>
            <p:cNvSpPr txBox="1"/>
            <p:nvPr/>
          </p:nvSpPr>
          <p:spPr>
            <a:xfrm>
              <a:off x="0" y="-38100"/>
              <a:ext cx="229500" cy="113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" name="Google Shape;480;h72088bf70636b300_0_0"/>
          <p:cNvGrpSpPr/>
          <p:nvPr/>
        </p:nvGrpSpPr>
        <p:grpSpPr>
          <a:xfrm>
            <a:off x="9547785" y="7287542"/>
            <a:ext cx="5386344" cy="5386344"/>
            <a:chOff x="0" y="0"/>
            <a:chExt cx="812800" cy="812800"/>
          </a:xfrm>
        </p:grpSpPr>
        <p:sp>
          <p:nvSpPr>
            <p:cNvPr id="481" name="Google Shape;481;h72088bf70636b300_0_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h72088bf70636b300_0_0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3" name="Google Shape;483;h72088bf70636b300_0_0"/>
          <p:cNvSpPr txBox="1"/>
          <p:nvPr/>
        </p:nvSpPr>
        <p:spPr>
          <a:xfrm>
            <a:off x="7884316" y="293825"/>
            <a:ext cx="6840300" cy="1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57"/>
              <a:buFont typeface="Arial"/>
              <a:buNone/>
            </a:pPr>
            <a:r>
              <a:rPr lang="en-US" sz="11457">
                <a:latin typeface="Impact"/>
                <a:ea typeface="Impact"/>
                <a:cs typeface="Impact"/>
                <a:sym typeface="Impact"/>
              </a:rPr>
              <a:t>TESTEO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h72088bf70636b300_0_0" title="WhatsApp Image 2026-10-04 at 11.08.47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126" y="2209625"/>
            <a:ext cx="14807472" cy="2535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h72088bf70636b300_0_0" title="WhatsApp Image 2026-10-04 at 11.08.48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8125" y="4897800"/>
            <a:ext cx="14695474" cy="451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oogle Shape;494;p14"/>
          <p:cNvGrpSpPr/>
          <p:nvPr/>
        </p:nvGrpSpPr>
        <p:grpSpPr>
          <a:xfrm>
            <a:off x="3244373" y="841107"/>
            <a:ext cx="3706184" cy="9445893"/>
            <a:chOff x="0" y="-38100"/>
            <a:chExt cx="752722" cy="1918450"/>
          </a:xfrm>
        </p:grpSpPr>
        <p:sp>
          <p:nvSpPr>
            <p:cNvPr id="495" name="Google Shape;495;p14"/>
            <p:cNvSpPr/>
            <p:nvPr/>
          </p:nvSpPr>
          <p:spPr>
            <a:xfrm>
              <a:off x="0" y="0"/>
              <a:ext cx="752722" cy="1880350"/>
            </a:xfrm>
            <a:custGeom>
              <a:avLst/>
              <a:gdLst/>
              <a:ahLst/>
              <a:cxnLst/>
              <a:rect l="l" t="t" r="r" b="b"/>
              <a:pathLst>
                <a:path w="752722" h="1880350" extrusionOk="0">
                  <a:moveTo>
                    <a:pt x="0" y="0"/>
                  </a:moveTo>
                  <a:lnTo>
                    <a:pt x="752722" y="0"/>
                  </a:lnTo>
                  <a:lnTo>
                    <a:pt x="752722" y="1880350"/>
                  </a:lnTo>
                  <a:lnTo>
                    <a:pt x="0" y="1880350"/>
                  </a:ln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4"/>
            <p:cNvSpPr txBox="1"/>
            <p:nvPr/>
          </p:nvSpPr>
          <p:spPr>
            <a:xfrm>
              <a:off x="0" y="-38100"/>
              <a:ext cx="752722" cy="1918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14"/>
          <p:cNvGrpSpPr/>
          <p:nvPr/>
        </p:nvGrpSpPr>
        <p:grpSpPr>
          <a:xfrm>
            <a:off x="2257425" y="1685925"/>
            <a:ext cx="13232549" cy="7633610"/>
            <a:chOff x="0" y="-38100"/>
            <a:chExt cx="3368518" cy="2010485"/>
          </a:xfrm>
        </p:grpSpPr>
        <p:sp>
          <p:nvSpPr>
            <p:cNvPr id="498" name="Google Shape;498;p14"/>
            <p:cNvSpPr/>
            <p:nvPr/>
          </p:nvSpPr>
          <p:spPr>
            <a:xfrm>
              <a:off x="0" y="0"/>
              <a:ext cx="3368518" cy="1972385"/>
            </a:xfrm>
            <a:custGeom>
              <a:avLst/>
              <a:gdLst/>
              <a:ahLst/>
              <a:cxnLst/>
              <a:rect l="l" t="t" r="r" b="b"/>
              <a:pathLst>
                <a:path w="3368518" h="1972385" extrusionOk="0">
                  <a:moveTo>
                    <a:pt x="0" y="0"/>
                  </a:moveTo>
                  <a:lnTo>
                    <a:pt x="3368518" y="0"/>
                  </a:lnTo>
                  <a:lnTo>
                    <a:pt x="3368518" y="1972385"/>
                  </a:lnTo>
                  <a:lnTo>
                    <a:pt x="0" y="1972385"/>
                  </a:ln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4"/>
            <p:cNvSpPr txBox="1"/>
            <p:nvPr/>
          </p:nvSpPr>
          <p:spPr>
            <a:xfrm>
              <a:off x="0" y="-38100"/>
              <a:ext cx="3368518" cy="20104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0" name="Google Shape;500;p14"/>
          <p:cNvGrpSpPr/>
          <p:nvPr/>
        </p:nvGrpSpPr>
        <p:grpSpPr>
          <a:xfrm>
            <a:off x="16021065" y="8467047"/>
            <a:ext cx="4001993" cy="4001993"/>
            <a:chOff x="0" y="0"/>
            <a:chExt cx="812800" cy="812800"/>
          </a:xfrm>
        </p:grpSpPr>
        <p:sp>
          <p:nvSpPr>
            <p:cNvPr id="501" name="Google Shape;50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3" name="Google Shape;503;p14"/>
          <p:cNvSpPr/>
          <p:nvPr/>
        </p:nvSpPr>
        <p:spPr>
          <a:xfrm rot="-5400000">
            <a:off x="16434244" y="8604381"/>
            <a:ext cx="219896" cy="1430217"/>
          </a:xfrm>
          <a:custGeom>
            <a:avLst/>
            <a:gdLst/>
            <a:ahLst/>
            <a:cxnLst/>
            <a:rect l="l" t="t" r="r" b="b"/>
            <a:pathLst>
              <a:path w="219896" h="1430217" extrusionOk="0">
                <a:moveTo>
                  <a:pt x="0" y="0"/>
                </a:moveTo>
                <a:lnTo>
                  <a:pt x="219895" y="0"/>
                </a:lnTo>
                <a:lnTo>
                  <a:pt x="219895" y="1430217"/>
                </a:lnTo>
                <a:lnTo>
                  <a:pt x="0" y="143021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1028700" y="1028700"/>
            <a:ext cx="1088196" cy="1088196"/>
          </a:xfrm>
          <a:custGeom>
            <a:avLst/>
            <a:gdLst/>
            <a:ahLst/>
            <a:cxnLst/>
            <a:rect l="l" t="t" r="r" b="b"/>
            <a:pathLst>
              <a:path w="1088196" h="1088196" extrusionOk="0">
                <a:moveTo>
                  <a:pt x="0" y="0"/>
                </a:moveTo>
                <a:lnTo>
                  <a:pt x="1088196" y="0"/>
                </a:lnTo>
                <a:lnTo>
                  <a:pt x="1088196" y="1088196"/>
                </a:lnTo>
                <a:lnTo>
                  <a:pt x="0" y="108819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 txBox="1"/>
          <p:nvPr/>
        </p:nvSpPr>
        <p:spPr>
          <a:xfrm>
            <a:off x="9601201" y="260240"/>
            <a:ext cx="7930406" cy="1372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3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99"/>
              <a:buFont typeface="Arial"/>
              <a:buNone/>
            </a:pPr>
            <a:r>
              <a:rPr lang="en-US" sz="94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DEMOSTRACIÓN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6" name="Google Shape;506;p14" title="Demostrac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9250" y="2104200"/>
            <a:ext cx="12576875" cy="69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15"/>
          <p:cNvGrpSpPr/>
          <p:nvPr/>
        </p:nvGrpSpPr>
        <p:grpSpPr>
          <a:xfrm>
            <a:off x="-4432416" y="4521897"/>
            <a:ext cx="7613660" cy="7613660"/>
            <a:chOff x="0" y="0"/>
            <a:chExt cx="812800" cy="812800"/>
          </a:xfrm>
        </p:grpSpPr>
        <p:sp>
          <p:nvSpPr>
            <p:cNvPr id="516" name="Google Shape;516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" name="Google Shape;518;p15"/>
          <p:cNvGrpSpPr/>
          <p:nvPr/>
        </p:nvGrpSpPr>
        <p:grpSpPr>
          <a:xfrm>
            <a:off x="-106638" y="8075353"/>
            <a:ext cx="18501914" cy="2443903"/>
            <a:chOff x="0" y="-38100"/>
            <a:chExt cx="4872900" cy="709200"/>
          </a:xfrm>
        </p:grpSpPr>
        <p:sp>
          <p:nvSpPr>
            <p:cNvPr id="519" name="Google Shape;519;p15"/>
            <p:cNvSpPr/>
            <p:nvPr/>
          </p:nvSpPr>
          <p:spPr>
            <a:xfrm>
              <a:off x="0" y="0"/>
              <a:ext cx="4872764" cy="671065"/>
            </a:xfrm>
            <a:custGeom>
              <a:avLst/>
              <a:gdLst/>
              <a:ahLst/>
              <a:cxnLst/>
              <a:rect l="l" t="t" r="r" b="b"/>
              <a:pathLst>
                <a:path w="4872764" h="671065" extrusionOk="0">
                  <a:moveTo>
                    <a:pt x="0" y="0"/>
                  </a:moveTo>
                  <a:lnTo>
                    <a:pt x="4872764" y="0"/>
                  </a:lnTo>
                  <a:lnTo>
                    <a:pt x="4872764" y="671065"/>
                  </a:lnTo>
                  <a:lnTo>
                    <a:pt x="0" y="671065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5"/>
            <p:cNvSpPr txBox="1"/>
            <p:nvPr/>
          </p:nvSpPr>
          <p:spPr>
            <a:xfrm>
              <a:off x="0" y="-38100"/>
              <a:ext cx="4872900" cy="70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1" name="Google Shape;521;p15"/>
          <p:cNvGrpSpPr/>
          <p:nvPr/>
        </p:nvGrpSpPr>
        <p:grpSpPr>
          <a:xfrm>
            <a:off x="13172228" y="5377078"/>
            <a:ext cx="2291446" cy="2291446"/>
            <a:chOff x="0" y="0"/>
            <a:chExt cx="812800" cy="812800"/>
          </a:xfrm>
        </p:grpSpPr>
        <p:sp>
          <p:nvSpPr>
            <p:cNvPr id="522" name="Google Shape;522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" name="Google Shape;524;p15"/>
          <p:cNvSpPr/>
          <p:nvPr/>
        </p:nvSpPr>
        <p:spPr>
          <a:xfrm flipH="1">
            <a:off x="10749198" y="6312597"/>
            <a:ext cx="4714462" cy="420373"/>
          </a:xfrm>
          <a:custGeom>
            <a:avLst/>
            <a:gdLst/>
            <a:ahLst/>
            <a:cxnLst/>
            <a:rect l="l" t="t" r="r" b="b"/>
            <a:pathLst>
              <a:path w="4714462" h="420373" extrusionOk="0">
                <a:moveTo>
                  <a:pt x="4714463" y="0"/>
                </a:moveTo>
                <a:lnTo>
                  <a:pt x="0" y="0"/>
                </a:lnTo>
                <a:lnTo>
                  <a:pt x="0" y="420373"/>
                </a:lnTo>
                <a:lnTo>
                  <a:pt x="4714463" y="420373"/>
                </a:lnTo>
                <a:lnTo>
                  <a:pt x="4714463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5" name="Google Shape;525;p15"/>
          <p:cNvGrpSpPr/>
          <p:nvPr/>
        </p:nvGrpSpPr>
        <p:grpSpPr>
          <a:xfrm>
            <a:off x="-2609694" y="5597423"/>
            <a:ext cx="4689612" cy="4689612"/>
            <a:chOff x="0" y="0"/>
            <a:chExt cx="812800" cy="812800"/>
          </a:xfrm>
        </p:grpSpPr>
        <p:sp>
          <p:nvSpPr>
            <p:cNvPr id="526" name="Google Shape;526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8" name="Google Shape;528;p15"/>
          <p:cNvGrpSpPr/>
          <p:nvPr/>
        </p:nvGrpSpPr>
        <p:grpSpPr>
          <a:xfrm>
            <a:off x="14740038" y="-3443680"/>
            <a:ext cx="6669756" cy="6669756"/>
            <a:chOff x="0" y="0"/>
            <a:chExt cx="812800" cy="812800"/>
          </a:xfrm>
        </p:grpSpPr>
        <p:sp>
          <p:nvSpPr>
            <p:cNvPr id="529" name="Google Shape;529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73D">
                <a:alpha val="1882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1" name="Google Shape;531;p15"/>
          <p:cNvSpPr/>
          <p:nvPr/>
        </p:nvSpPr>
        <p:spPr>
          <a:xfrm>
            <a:off x="14317944" y="8835817"/>
            <a:ext cx="1145716" cy="422483"/>
          </a:xfrm>
          <a:custGeom>
            <a:avLst/>
            <a:gdLst/>
            <a:ahLst/>
            <a:cxnLst/>
            <a:rect l="l" t="t" r="r" b="b"/>
            <a:pathLst>
              <a:path w="1145716" h="422483" extrusionOk="0">
                <a:moveTo>
                  <a:pt x="0" y="0"/>
                </a:moveTo>
                <a:lnTo>
                  <a:pt x="1145717" y="0"/>
                </a:lnTo>
                <a:lnTo>
                  <a:pt x="1145717" y="422483"/>
                </a:lnTo>
                <a:lnTo>
                  <a:pt x="0" y="42248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 txBox="1"/>
          <p:nvPr/>
        </p:nvSpPr>
        <p:spPr>
          <a:xfrm>
            <a:off x="1261789" y="2528950"/>
            <a:ext cx="157644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lang="en-US" sz="9999" b="0" i="0" u="none" strike="noStrike" cap="non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GRUPO 18: PUERTAS BLINDADAS - MODULO FINANCIERO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5"/>
          <p:cNvSpPr txBox="1"/>
          <p:nvPr/>
        </p:nvSpPr>
        <p:spPr>
          <a:xfrm>
            <a:off x="3330300" y="5597424"/>
            <a:ext cx="5851800" cy="30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7C7C"/>
                </a:solidFill>
                <a:latin typeface="Inter Medium"/>
                <a:ea typeface="Inter Medium"/>
                <a:cs typeface="Inter Medium"/>
                <a:sym typeface="Inter Medium"/>
              </a:rPr>
              <a:t>Angella Sanchez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7C7C"/>
                </a:solidFill>
                <a:latin typeface="Inter Medium"/>
                <a:ea typeface="Inter Medium"/>
                <a:cs typeface="Inter Medium"/>
                <a:sym typeface="Inter Medium"/>
              </a:rPr>
              <a:t>Daniella Lecanda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7C7C"/>
                </a:solidFill>
                <a:latin typeface="Inter Medium"/>
                <a:ea typeface="Inter Medium"/>
                <a:cs typeface="Inter Medium"/>
                <a:sym typeface="Inter Medium"/>
              </a:rPr>
              <a:t>Gianella Catalán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7C7C"/>
                </a:solidFill>
                <a:latin typeface="Inter Medium"/>
                <a:ea typeface="Inter Medium"/>
                <a:cs typeface="Inter Medium"/>
                <a:sym typeface="Inter Medium"/>
              </a:rPr>
              <a:t>Sebastian Bravo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7C7C"/>
                </a:solidFill>
                <a:latin typeface="Inter Medium"/>
                <a:ea typeface="Inter Medium"/>
                <a:cs typeface="Inter Medium"/>
                <a:sym typeface="Inter Medium"/>
              </a:rPr>
              <a:t>Valentin Garcia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7D7C7C"/>
                </a:solidFill>
                <a:latin typeface="Inter Medium"/>
                <a:ea typeface="Inter Medium"/>
                <a:cs typeface="Inter Medium"/>
                <a:sym typeface="Inter Medium"/>
              </a:rPr>
              <a:t>Vicente Hernandez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7D7C7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285085" y="176461"/>
            <a:ext cx="5519290" cy="2028339"/>
          </a:xfrm>
          <a:custGeom>
            <a:avLst/>
            <a:gdLst/>
            <a:ahLst/>
            <a:cxnLst/>
            <a:rect l="l" t="t" r="r" b="b"/>
            <a:pathLst>
              <a:path w="5519290" h="2028339" extrusionOk="0">
                <a:moveTo>
                  <a:pt x="0" y="0"/>
                </a:moveTo>
                <a:lnTo>
                  <a:pt x="5519289" y="0"/>
                </a:lnTo>
                <a:lnTo>
                  <a:pt x="5519289" y="2028339"/>
                </a:lnTo>
                <a:lnTo>
                  <a:pt x="0" y="2028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Microsoft Office PowerPoint</Application>
  <PresentationFormat>Personalizado</PresentationFormat>
  <Paragraphs>139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Inter Medium</vt:lpstr>
      <vt:lpstr>Inter</vt:lpstr>
      <vt:lpstr>Impact</vt:lpstr>
      <vt:lpstr>Poppins Black</vt:lpstr>
      <vt:lpstr>Open Sans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vicente hernández</dc:creator>
  <cp:lastModifiedBy>vicente hernández</cp:lastModifiedBy>
  <cp:revision>1</cp:revision>
  <dcterms:modified xsi:type="dcterms:W3CDTF">2026-10-05T11:13:29Z</dcterms:modified>
</cp:coreProperties>
</file>