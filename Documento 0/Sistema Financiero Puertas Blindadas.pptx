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Google Sans"/>
      <p:regular r:id="rId25"/>
      <p:bold r:id="rId26"/>
      <p:italic r:id="rId27"/>
      <p:boldItalic r:id="rId28"/>
    </p:embeddedFont>
    <p:embeddedFont>
      <p:font typeface="Quattrocento Sans"/>
      <p:regular r:id="rId29"/>
      <p:bold r:id="rId30"/>
      <p:italic r:id="rId31"/>
      <p:boldItalic r:id="rId32"/>
    </p:embeddedFont>
    <p:embeddedFont>
      <p:font typeface="Helvetica Neue"/>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gNWqBFnsLoWnsnylBeiyq26JWF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0F54E0-6BF4-430B-8CA0-859B497E65E5}">
  <a:tblStyle styleId="{640F54E0-6BF4-430B-8CA0-859B497E65E5}" styleName="Table_0">
    <a:wholeTbl>
      <a:tcTxStyle b="off" i="off">
        <a:font>
          <a:latin typeface="Calibri"/>
          <a:ea typeface="Calibri"/>
          <a:cs typeface="Calibri"/>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FCECE7"/>
          </a:solidFill>
        </a:fill>
      </a:tcStyle>
    </a:band1H>
    <a:band2H>
      <a:tcTxStyle/>
    </a:band2H>
    <a:band1V>
      <a:tcTxStyle/>
      <a:tcStyle>
        <a:fill>
          <a:solidFill>
            <a:srgbClr val="FCECE7"/>
          </a:solidFill>
        </a:fill>
      </a:tcStyle>
    </a:band1V>
    <a:band2V>
      <a:tcTx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Calibri"/>
          <a:ea typeface="Calibri"/>
          <a:cs typeface="Calibri"/>
        </a:font>
        <a:schemeClr val="lt1"/>
      </a:tcTxStyle>
      <a:tcStyle>
        <a:fill>
          <a:solidFill>
            <a:schemeClr val="accent2"/>
          </a:solidFill>
        </a:fill>
      </a:tcStyle>
    </a:firstRow>
    <a:neCell>
      <a:tcTxStyle/>
    </a:neCell>
    <a:nwCell>
      <a:tcTxStyle/>
    </a:nwCell>
  </a:tblStyle>
  <a:tblStyle styleId="{39707AB3-4987-4FA7-B673-73C21380EDED}"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bold.fntdata"/><Relationship Id="rId25" Type="http://schemas.openxmlformats.org/officeDocument/2006/relationships/font" Target="fonts/GoogleSans-regular.fntdata"/><Relationship Id="rId28" Type="http://schemas.openxmlformats.org/officeDocument/2006/relationships/font" Target="fonts/GoogleSans-boldItalic.fntdata"/><Relationship Id="rId27" Type="http://schemas.openxmlformats.org/officeDocument/2006/relationships/font" Target="fonts/Google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QuattrocentoSans-italic.fntdata"/><Relationship Id="rId30" Type="http://schemas.openxmlformats.org/officeDocument/2006/relationships/font" Target="fonts/QuattrocentoSans-bold.fntdata"/><Relationship Id="rId11" Type="http://schemas.openxmlformats.org/officeDocument/2006/relationships/slide" Target="slides/slide6.xml"/><Relationship Id="rId33" Type="http://schemas.openxmlformats.org/officeDocument/2006/relationships/font" Target="fonts/HelveticaNeue-regular.fntdata"/><Relationship Id="rId10" Type="http://schemas.openxmlformats.org/officeDocument/2006/relationships/slide" Target="slides/slide5.xml"/><Relationship Id="rId32" Type="http://schemas.openxmlformats.org/officeDocument/2006/relationships/font" Target="fonts/QuattrocentoSans-boldItalic.fntdata"/><Relationship Id="rId13" Type="http://schemas.openxmlformats.org/officeDocument/2006/relationships/slide" Target="slides/slide8.xml"/><Relationship Id="rId35" Type="http://schemas.openxmlformats.org/officeDocument/2006/relationships/font" Target="fonts/HelveticaNeue-italic.fntdata"/><Relationship Id="rId12" Type="http://schemas.openxmlformats.org/officeDocument/2006/relationships/slide" Target="slides/slide7.xml"/><Relationship Id="rId34" Type="http://schemas.openxmlformats.org/officeDocument/2006/relationships/font" Target="fonts/HelveticaNeue-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HelveticaNeue-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E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8fbba6427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d8fbba6427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3"/>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4"/>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4"/>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4"/>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7"/>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3887391" y="987426"/>
            <a:ext cx="4629150" cy="4873625"/>
          </a:xfrm>
          <a:prstGeom prst="rect">
            <a:avLst/>
          </a:prstGeom>
          <a:noFill/>
          <a:ln>
            <a:noFill/>
          </a:ln>
        </p:spPr>
      </p:sp>
      <p:sp>
        <p:nvSpPr>
          <p:cNvPr id="68" name="Google Shape;68;p2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1.jp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1.png"/><Relationship Id="rId10" Type="http://schemas.openxmlformats.org/officeDocument/2006/relationships/image" Target="../media/image16.png"/><Relationship Id="rId9" Type="http://schemas.openxmlformats.org/officeDocument/2006/relationships/image" Target="../media/image14.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11.jp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cxnSp>
        <p:nvCxnSpPr>
          <p:cNvPr id="88" name="Google Shape;88;p1"/>
          <p:cNvCxnSpPr/>
          <p:nvPr/>
        </p:nvCxnSpPr>
        <p:spPr>
          <a:xfrm>
            <a:off x="492141" y="3591697"/>
            <a:ext cx="7778648" cy="0"/>
          </a:xfrm>
          <a:prstGeom prst="straightConnector1">
            <a:avLst/>
          </a:prstGeom>
          <a:noFill/>
          <a:ln cap="flat" cmpd="sng" w="28575">
            <a:solidFill>
              <a:schemeClr val="lt1"/>
            </a:solidFill>
            <a:prstDash val="solid"/>
            <a:miter lim="800000"/>
            <a:headEnd len="sm" w="sm" type="none"/>
            <a:tailEnd len="sm" w="sm" type="none"/>
          </a:ln>
        </p:spPr>
      </p:cxnSp>
      <p:cxnSp>
        <p:nvCxnSpPr>
          <p:cNvPr id="89" name="Google Shape;89;p1"/>
          <p:cNvCxnSpPr/>
          <p:nvPr/>
        </p:nvCxnSpPr>
        <p:spPr>
          <a:xfrm flipH="1">
            <a:off x="2186081" y="2158313"/>
            <a:ext cx="1" cy="1273156"/>
          </a:xfrm>
          <a:prstGeom prst="straightConnector1">
            <a:avLst/>
          </a:prstGeom>
          <a:noFill/>
          <a:ln cap="flat" cmpd="sng" w="9525">
            <a:solidFill>
              <a:schemeClr val="lt1"/>
            </a:solidFill>
            <a:prstDash val="solid"/>
            <a:miter lim="800000"/>
            <a:headEnd len="sm" w="sm" type="none"/>
            <a:tailEnd len="sm" w="sm" type="none"/>
          </a:ln>
        </p:spPr>
      </p:cxnSp>
      <p:sp>
        <p:nvSpPr>
          <p:cNvPr id="90" name="Google Shape;90;p1"/>
          <p:cNvSpPr txBox="1"/>
          <p:nvPr/>
        </p:nvSpPr>
        <p:spPr>
          <a:xfrm>
            <a:off x="2002377" y="1405292"/>
            <a:ext cx="6287521"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600" u="none" cap="none" strike="noStrike">
                <a:solidFill>
                  <a:schemeClr val="lt1"/>
                </a:solidFill>
                <a:latin typeface="Calibri"/>
                <a:ea typeface="Calibri"/>
                <a:cs typeface="Calibri"/>
                <a:sym typeface="Calibri"/>
              </a:rPr>
              <a:t>Puertas Blindadas: Sistema de Finanzas</a:t>
            </a:r>
            <a:endParaRPr/>
          </a:p>
          <a:p>
            <a:pPr indent="0" lvl="0" marL="0" marR="0" rtl="0" algn="ctr">
              <a:spcBef>
                <a:spcPts val="0"/>
              </a:spcBef>
              <a:spcAft>
                <a:spcPts val="0"/>
              </a:spcAft>
              <a:buNone/>
            </a:pPr>
            <a:r>
              <a:rPr b="1" i="0" lang="es-ES" sz="3600" u="none" cap="none" strike="noStrike">
                <a:solidFill>
                  <a:schemeClr val="lt1"/>
                </a:solidFill>
                <a:latin typeface="Calibri"/>
                <a:ea typeface="Calibri"/>
                <a:cs typeface="Calibri"/>
                <a:sym typeface="Calibri"/>
              </a:rPr>
              <a:t>Desarrollo de Software I: Documento 0</a:t>
            </a:r>
            <a:endParaRPr b="1" i="0" sz="3600" u="none" cap="none" strike="noStrike">
              <a:solidFill>
                <a:schemeClr val="lt1"/>
              </a:solidFill>
              <a:latin typeface="Calibri"/>
              <a:ea typeface="Calibri"/>
              <a:cs typeface="Calibri"/>
              <a:sym typeface="Calibri"/>
            </a:endParaRPr>
          </a:p>
        </p:txBody>
      </p:sp>
      <p:sp>
        <p:nvSpPr>
          <p:cNvPr id="91" name="Google Shape;91;p1"/>
          <p:cNvSpPr txBox="1"/>
          <p:nvPr/>
        </p:nvSpPr>
        <p:spPr>
          <a:xfrm>
            <a:off x="1852705" y="3768770"/>
            <a:ext cx="5438590" cy="2031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Integrantes:</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Sebastián Benjamín Bravo Núñez</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Gianella Belén Catalán Canales </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Vicente Andrés Hernández Olea</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Daniella Rosa Catalina Lecanda Garnham </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Angella Javiera Sánchez Lopéz</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2" name="Google Shape;92;p1"/>
          <p:cNvPicPr preferRelativeResize="0"/>
          <p:nvPr/>
        </p:nvPicPr>
        <p:blipFill rotWithShape="1">
          <a:blip r:embed="rId4">
            <a:alphaModFix/>
          </a:blip>
          <a:srcRect b="24764" l="0" r="0" t="25505"/>
          <a:stretch/>
        </p:blipFill>
        <p:spPr>
          <a:xfrm>
            <a:off x="0" y="0"/>
            <a:ext cx="9158013" cy="1435697"/>
          </a:xfrm>
          <a:prstGeom prst="rect">
            <a:avLst/>
          </a:prstGeom>
          <a:noFill/>
          <a:ln>
            <a:noFill/>
          </a:ln>
        </p:spPr>
      </p:pic>
      <p:pic>
        <p:nvPicPr>
          <p:cNvPr id="93" name="Google Shape;93;p1"/>
          <p:cNvPicPr preferRelativeResize="0"/>
          <p:nvPr/>
        </p:nvPicPr>
        <p:blipFill rotWithShape="1">
          <a:blip r:embed="rId4">
            <a:alphaModFix/>
          </a:blip>
          <a:srcRect b="5990" l="-153" r="153" t="46510"/>
          <a:stretch/>
        </p:blipFill>
        <p:spPr>
          <a:xfrm>
            <a:off x="-14013" y="5486719"/>
            <a:ext cx="9172026" cy="1371281"/>
          </a:xfrm>
          <a:prstGeom prst="rect">
            <a:avLst/>
          </a:prstGeom>
          <a:noFill/>
          <a:ln>
            <a:noFill/>
          </a:ln>
        </p:spPr>
      </p:pic>
      <p:pic>
        <p:nvPicPr>
          <p:cNvPr id="94" name="Google Shape;94;p1"/>
          <p:cNvPicPr preferRelativeResize="0"/>
          <p:nvPr/>
        </p:nvPicPr>
        <p:blipFill rotWithShape="1">
          <a:blip r:embed="rId5">
            <a:alphaModFix/>
          </a:blip>
          <a:srcRect b="0" l="0" r="0" t="0"/>
          <a:stretch/>
        </p:blipFill>
        <p:spPr>
          <a:xfrm>
            <a:off x="686349" y="2158313"/>
            <a:ext cx="1279083" cy="1189591"/>
          </a:xfrm>
          <a:prstGeom prst="rect">
            <a:avLst/>
          </a:prstGeom>
          <a:noFill/>
          <a:ln>
            <a:noFill/>
          </a:ln>
        </p:spPr>
      </p:pic>
      <p:sp>
        <p:nvSpPr>
          <p:cNvPr id="95" name="Google Shape;95;p1"/>
          <p:cNvSpPr txBox="1"/>
          <p:nvPr/>
        </p:nvSpPr>
        <p:spPr>
          <a:xfrm>
            <a:off x="346841" y="1818290"/>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
          <p:cNvSpPr txBox="1"/>
          <p:nvPr/>
        </p:nvSpPr>
        <p:spPr>
          <a:xfrm>
            <a:off x="4381465" y="5460886"/>
            <a:ext cx="5438590"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Curso: Ingeniería de Software I</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Profesor: Paulo Quinsacara Jofré.</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NRC:7979</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Fecha:19/04/202</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03" name="Google Shape;103;p2"/>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04" name="Google Shape;104;p2"/>
          <p:cNvSpPr txBox="1"/>
          <p:nvPr/>
        </p:nvSpPr>
        <p:spPr>
          <a:xfrm>
            <a:off x="108722" y="170611"/>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Introducción</a:t>
            </a:r>
            <a:endParaRPr b="1" i="0" sz="1200" u="none" cap="none" strike="noStrike">
              <a:solidFill>
                <a:srgbClr val="FFFFFF"/>
              </a:solidFill>
              <a:latin typeface="Helvetica Neue"/>
              <a:ea typeface="Helvetica Neue"/>
              <a:cs typeface="Helvetica Neue"/>
              <a:sym typeface="Helvetica Neue"/>
            </a:endParaRPr>
          </a:p>
        </p:txBody>
      </p:sp>
      <p:sp>
        <p:nvSpPr>
          <p:cNvPr id="105" name="Google Shape;105;p2"/>
          <p:cNvSpPr txBox="1"/>
          <p:nvPr/>
        </p:nvSpPr>
        <p:spPr>
          <a:xfrm>
            <a:off x="438150" y="1997839"/>
            <a:ext cx="79629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Este proyecto de Software aborda el desarrollo de un sistema de gestión financiera para una pequeña empresa familiar chilena con vasta experiencia en el sector de seguridad estructural. El sistema propuesto responde a la necesidad de automatizar y profesionalizar la administración financiera en un entorno de alta personalización de productos y servicios.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Mediante el uso de tecnologías como React para una interfaz dinámica y PostgreSQL para la presencia de datos bajo los estándares ACID, se ha diseñado una herramienta capaz de gestionar desde la elaboración de cotizaciones para los clientes hasta la liquidación final de haberes garantizando la trazabilidad, seguridad y cumplimiento normativo en cada etapa del ciclo operativo.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3"/>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12" name="Google Shape;112;p3"/>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13" name="Google Shape;113;p3"/>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i="0" lang="es-ES" sz="2400" u="none" cap="none" strike="noStrike">
                <a:solidFill>
                  <a:srgbClr val="FFFFFF"/>
                </a:solidFill>
                <a:latin typeface="Helvetica Neue"/>
                <a:ea typeface="Helvetica Neue"/>
                <a:cs typeface="Helvetica Neue"/>
                <a:sym typeface="Helvetica Neue"/>
              </a:rPr>
              <a:t>Contexto Organizacional</a:t>
            </a:r>
            <a:endParaRPr b="1" i="0" sz="1200" u="none" cap="none" strike="noStrike">
              <a:solidFill>
                <a:srgbClr val="FFFFFF"/>
              </a:solidFill>
              <a:latin typeface="Helvetica Neue"/>
              <a:ea typeface="Helvetica Neue"/>
              <a:cs typeface="Helvetica Neue"/>
              <a:sym typeface="Helvetica Neue"/>
            </a:endParaRPr>
          </a:p>
        </p:txBody>
      </p:sp>
      <p:sp>
        <p:nvSpPr>
          <p:cNvPr id="114" name="Google Shape;114;p3"/>
          <p:cNvSpPr txBox="1"/>
          <p:nvPr/>
        </p:nvSpPr>
        <p:spPr>
          <a:xfrm>
            <a:off x="523874" y="1654716"/>
            <a:ext cx="8267701" cy="2105705"/>
          </a:xfrm>
          <a:prstGeom prst="rect">
            <a:avLst/>
          </a:prstGeom>
          <a:noFill/>
          <a:ln>
            <a:noFill/>
          </a:ln>
        </p:spPr>
        <p:txBody>
          <a:bodyPr anchorCtr="0" anchor="t" bIns="45700" lIns="91425" spcFirstLastPara="1" rIns="91425" wrap="square" tIns="45700">
            <a:spAutoFit/>
          </a:bodyPr>
          <a:lstStyle/>
          <a:p>
            <a:pPr indent="0" lvl="0" marL="0" marR="0" rtl="0" algn="just">
              <a:lnSpc>
                <a:spcPct val="112500"/>
              </a:lnSpc>
              <a:spcBef>
                <a:spcPts val="0"/>
              </a:spcBef>
              <a:spcAft>
                <a:spcPts val="0"/>
              </a:spcAft>
              <a:buClr>
                <a:srgbClr val="000000"/>
              </a:buClr>
              <a:buSzPts val="1800"/>
              <a:buFont typeface="Arial"/>
              <a:buNone/>
            </a:pPr>
            <a:r>
              <a:rPr b="0" i="0" lang="es-ES" sz="1800">
                <a:solidFill>
                  <a:srgbClr val="000000"/>
                </a:solidFill>
                <a:latin typeface="Arial"/>
                <a:ea typeface="Arial"/>
                <a:cs typeface="Arial"/>
                <a:sym typeface="Arial"/>
              </a:rPr>
              <a:t>Misión:</a:t>
            </a:r>
            <a:endParaRPr b="0" i="0" sz="1800">
              <a:solidFill>
                <a:srgbClr val="000000"/>
              </a:solidFill>
              <a:latin typeface="Quattrocento Sans"/>
              <a:ea typeface="Quattrocento Sans"/>
              <a:cs typeface="Quattrocento Sans"/>
              <a:sym typeface="Quattrocento Sans"/>
            </a:endParaRPr>
          </a:p>
          <a:p>
            <a:pPr indent="0" lvl="0" marL="0" marR="0" rtl="0" algn="just">
              <a:lnSpc>
                <a:spcPct val="112500"/>
              </a:lnSpc>
              <a:spcBef>
                <a:spcPts val="0"/>
              </a:spcBef>
              <a:spcAft>
                <a:spcPts val="0"/>
              </a:spcAft>
              <a:buClr>
                <a:srgbClr val="19202E"/>
              </a:buClr>
              <a:buSzPts val="1800"/>
              <a:buFont typeface="Arial"/>
              <a:buNone/>
            </a:pPr>
            <a:r>
              <a:rPr b="0" i="0" lang="es-ES" sz="1800">
                <a:solidFill>
                  <a:srgbClr val="19202E"/>
                </a:solidFill>
                <a:latin typeface="Arial"/>
                <a:ea typeface="Arial"/>
                <a:cs typeface="Arial"/>
                <a:sym typeface="Arial"/>
              </a:rPr>
              <a:t>Proteger lo que más importa, entregando puertas de seguridad de alta calidad, diseñadas para brindar tranquilidad, confianza y durabilidad en cada proyecto. </a:t>
            </a:r>
            <a:endParaRPr b="0" i="0" sz="1800">
              <a:solidFill>
                <a:srgbClr val="000000"/>
              </a:solidFill>
              <a:latin typeface="Quattrocento Sans"/>
              <a:ea typeface="Quattrocento Sans"/>
              <a:cs typeface="Quattrocento Sans"/>
              <a:sym typeface="Quattrocento Sans"/>
            </a:endParaRPr>
          </a:p>
          <a:p>
            <a:pPr indent="0" lvl="0" marL="0" marR="0" rtl="0" algn="just">
              <a:lnSpc>
                <a:spcPct val="112500"/>
              </a:lnSpc>
              <a:spcBef>
                <a:spcPts val="1700"/>
              </a:spcBef>
              <a:spcAft>
                <a:spcPts val="0"/>
              </a:spcAft>
              <a:buClr>
                <a:srgbClr val="000000"/>
              </a:buClr>
              <a:buSzPts val="1800"/>
              <a:buFont typeface="Arial"/>
              <a:buNone/>
            </a:pPr>
            <a:r>
              <a:rPr b="0" i="0" lang="es-ES" sz="1800">
                <a:solidFill>
                  <a:srgbClr val="000000"/>
                </a:solidFill>
                <a:latin typeface="Arial"/>
                <a:ea typeface="Arial"/>
                <a:cs typeface="Arial"/>
                <a:sym typeface="Arial"/>
              </a:rPr>
              <a:t>Visión:</a:t>
            </a:r>
            <a:endParaRPr b="0" i="0" sz="1800">
              <a:solidFill>
                <a:srgbClr val="000000"/>
              </a:solidFill>
              <a:latin typeface="Quattrocento Sans"/>
              <a:ea typeface="Quattrocento Sans"/>
              <a:cs typeface="Quattrocento Sans"/>
              <a:sym typeface="Quattrocento Sans"/>
            </a:endParaRPr>
          </a:p>
          <a:p>
            <a:pPr indent="0" lvl="0" marL="0" marR="0" rtl="0" algn="just">
              <a:lnSpc>
                <a:spcPct val="112500"/>
              </a:lnSpc>
              <a:spcBef>
                <a:spcPts val="0"/>
              </a:spcBef>
              <a:spcAft>
                <a:spcPts val="0"/>
              </a:spcAft>
              <a:buClr>
                <a:srgbClr val="19202E"/>
              </a:buClr>
              <a:buSzPts val="1800"/>
              <a:buFont typeface="Arial"/>
              <a:buNone/>
            </a:pPr>
            <a:r>
              <a:rPr b="0" i="0" lang="es-ES" sz="1800">
                <a:solidFill>
                  <a:srgbClr val="19202E"/>
                </a:solidFill>
                <a:latin typeface="Arial"/>
                <a:ea typeface="Arial"/>
                <a:cs typeface="Arial"/>
                <a:sym typeface="Arial"/>
              </a:rPr>
              <a:t>Convertirnos en la marca de referencia en seguridad para hogares y proyectos en Latinoamérica, reconocida por nuestra innovación, diseño y compromiso con nuestros clientes. </a:t>
            </a:r>
            <a:endParaRPr b="0" i="0" sz="1800">
              <a:solidFill>
                <a:srgbClr val="000000"/>
              </a:solidFill>
              <a:latin typeface="Quattrocento Sans"/>
              <a:ea typeface="Quattrocento Sans"/>
              <a:cs typeface="Quattrocento Sans"/>
              <a:sym typeface="Quattrocento Sans"/>
            </a:endParaRPr>
          </a:p>
        </p:txBody>
      </p:sp>
      <p:pic>
        <p:nvPicPr>
          <p:cNvPr id="115" name="Google Shape;115;p3"/>
          <p:cNvPicPr preferRelativeResize="0"/>
          <p:nvPr/>
        </p:nvPicPr>
        <p:blipFill rotWithShape="1">
          <a:blip r:embed="rId5">
            <a:alphaModFix/>
          </a:blip>
          <a:srcRect b="0" l="0" r="0" t="0"/>
          <a:stretch/>
        </p:blipFill>
        <p:spPr>
          <a:xfrm>
            <a:off x="5510912" y="837055"/>
            <a:ext cx="2805112" cy="928966"/>
          </a:xfrm>
          <a:prstGeom prst="rect">
            <a:avLst/>
          </a:prstGeom>
          <a:noFill/>
          <a:ln>
            <a:noFill/>
          </a:ln>
        </p:spPr>
      </p:pic>
      <p:sp>
        <p:nvSpPr>
          <p:cNvPr id="116" name="Google Shape;116;p3"/>
          <p:cNvSpPr/>
          <p:nvPr/>
        </p:nvSpPr>
        <p:spPr>
          <a:xfrm>
            <a:off x="4419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7" name="Google Shape;117;p3"/>
          <p:cNvPicPr preferRelativeResize="0"/>
          <p:nvPr/>
        </p:nvPicPr>
        <p:blipFill rotWithShape="1">
          <a:blip r:embed="rId6">
            <a:alphaModFix/>
          </a:blip>
          <a:srcRect b="0" l="0" r="0" t="0"/>
          <a:stretch/>
        </p:blipFill>
        <p:spPr>
          <a:xfrm>
            <a:off x="523875" y="4015803"/>
            <a:ext cx="3962400" cy="2109458"/>
          </a:xfrm>
          <a:prstGeom prst="rect">
            <a:avLst/>
          </a:prstGeom>
          <a:noFill/>
          <a:ln>
            <a:noFill/>
          </a:ln>
        </p:spPr>
      </p:pic>
      <p:pic>
        <p:nvPicPr>
          <p:cNvPr id="118" name="Google Shape;118;p3"/>
          <p:cNvPicPr preferRelativeResize="0"/>
          <p:nvPr/>
        </p:nvPicPr>
        <p:blipFill rotWithShape="1">
          <a:blip r:embed="rId7">
            <a:alphaModFix/>
          </a:blip>
          <a:srcRect b="0" l="0" r="0" t="0"/>
          <a:stretch/>
        </p:blipFill>
        <p:spPr>
          <a:xfrm>
            <a:off x="4829176" y="4015803"/>
            <a:ext cx="3962400" cy="21073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4"/>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25" name="Google Shape;125;p4"/>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26" name="Google Shape;126;p4"/>
          <p:cNvSpPr txBox="1"/>
          <p:nvPr/>
        </p:nvSpPr>
        <p:spPr>
          <a:xfrm>
            <a:off x="422757" y="158734"/>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Pestel</a:t>
            </a:r>
            <a:endParaRPr b="1" i="0" sz="1200" u="none" cap="none" strike="noStrike">
              <a:solidFill>
                <a:srgbClr val="FFFFFF"/>
              </a:solidFill>
              <a:latin typeface="Helvetica Neue"/>
              <a:ea typeface="Helvetica Neue"/>
              <a:cs typeface="Helvetica Neue"/>
              <a:sym typeface="Helvetica Neue"/>
            </a:endParaRPr>
          </a:p>
        </p:txBody>
      </p:sp>
      <p:pic>
        <p:nvPicPr>
          <p:cNvPr id="127" name="Google Shape;127;p4"/>
          <p:cNvPicPr preferRelativeResize="0"/>
          <p:nvPr/>
        </p:nvPicPr>
        <p:blipFill rotWithShape="1">
          <a:blip r:embed="rId5">
            <a:alphaModFix/>
          </a:blip>
          <a:srcRect b="0" l="0" r="0" t="0"/>
          <a:stretch/>
        </p:blipFill>
        <p:spPr>
          <a:xfrm>
            <a:off x="999546" y="1057275"/>
            <a:ext cx="7144907" cy="53673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5"/>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34" name="Google Shape;134;p5"/>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35" name="Google Shape;135;p5"/>
          <p:cNvSpPr txBox="1"/>
          <p:nvPr/>
        </p:nvSpPr>
        <p:spPr>
          <a:xfrm>
            <a:off x="108721" y="89553"/>
            <a:ext cx="820730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Las 5 Fuerzas de Porter</a:t>
            </a:r>
            <a:endParaRPr b="1" i="0" sz="1200" u="none" cap="none" strike="noStrike">
              <a:solidFill>
                <a:srgbClr val="FFFFFF"/>
              </a:solidFill>
              <a:latin typeface="Helvetica Neue"/>
              <a:ea typeface="Helvetica Neue"/>
              <a:cs typeface="Helvetica Neue"/>
              <a:sym typeface="Helvetica Neue"/>
            </a:endParaRPr>
          </a:p>
        </p:txBody>
      </p:sp>
      <p:pic>
        <p:nvPicPr>
          <p:cNvPr id="136" name="Google Shape;136;p5"/>
          <p:cNvPicPr preferRelativeResize="0"/>
          <p:nvPr/>
        </p:nvPicPr>
        <p:blipFill rotWithShape="1">
          <a:blip r:embed="rId5">
            <a:alphaModFix/>
          </a:blip>
          <a:srcRect b="0" l="0" r="0" t="0"/>
          <a:stretch/>
        </p:blipFill>
        <p:spPr>
          <a:xfrm>
            <a:off x="970134" y="1133476"/>
            <a:ext cx="7011816" cy="52530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6"/>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43" name="Google Shape;143;p6"/>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44" name="Google Shape;144;p6"/>
          <p:cNvSpPr txBox="1"/>
          <p:nvPr/>
        </p:nvSpPr>
        <p:spPr>
          <a:xfrm>
            <a:off x="108721" y="89553"/>
            <a:ext cx="820730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Cadena de Valor</a:t>
            </a:r>
            <a:endParaRPr b="1" i="0" sz="1200" u="none" cap="none" strike="noStrike">
              <a:solidFill>
                <a:srgbClr val="FFFFFF"/>
              </a:solidFill>
              <a:latin typeface="Helvetica Neue"/>
              <a:ea typeface="Helvetica Neue"/>
              <a:cs typeface="Helvetica Neue"/>
              <a:sym typeface="Helvetica Neue"/>
            </a:endParaRPr>
          </a:p>
        </p:txBody>
      </p:sp>
      <p:pic>
        <p:nvPicPr>
          <p:cNvPr id="145" name="Google Shape;145;p6"/>
          <p:cNvPicPr preferRelativeResize="0"/>
          <p:nvPr/>
        </p:nvPicPr>
        <p:blipFill rotWithShape="1">
          <a:blip r:embed="rId5">
            <a:alphaModFix/>
          </a:blip>
          <a:srcRect b="14745" l="15116" r="12127" t="24944"/>
          <a:stretch/>
        </p:blipFill>
        <p:spPr>
          <a:xfrm>
            <a:off x="1367883" y="1476376"/>
            <a:ext cx="6948141" cy="43148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7"/>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52" name="Google Shape;152;p7"/>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53" name="Google Shape;153;p7"/>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i="0" lang="es-ES" sz="2400" u="none" cap="none" strike="noStrike">
                <a:solidFill>
                  <a:srgbClr val="FFFFFF"/>
                </a:solidFill>
                <a:latin typeface="Helvetica Neue"/>
                <a:ea typeface="Helvetica Neue"/>
                <a:cs typeface="Helvetica Neue"/>
                <a:sym typeface="Helvetica Neue"/>
              </a:rPr>
              <a:t>FODA</a:t>
            </a:r>
            <a:endParaRPr b="1" i="0" sz="1200" u="none" cap="none" strike="noStrike">
              <a:solidFill>
                <a:srgbClr val="FFFFFF"/>
              </a:solidFill>
              <a:latin typeface="Helvetica Neue"/>
              <a:ea typeface="Helvetica Neue"/>
              <a:cs typeface="Helvetica Neue"/>
              <a:sym typeface="Helvetica Neue"/>
            </a:endParaRPr>
          </a:p>
        </p:txBody>
      </p:sp>
      <p:pic>
        <p:nvPicPr>
          <p:cNvPr id="154" name="Google Shape;154;p7"/>
          <p:cNvPicPr preferRelativeResize="0"/>
          <p:nvPr/>
        </p:nvPicPr>
        <p:blipFill rotWithShape="1">
          <a:blip r:embed="rId5">
            <a:alphaModFix/>
          </a:blip>
          <a:srcRect b="8401" l="0" r="0" t="5481"/>
          <a:stretch/>
        </p:blipFill>
        <p:spPr>
          <a:xfrm>
            <a:off x="241391" y="892439"/>
            <a:ext cx="8661218" cy="55940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8"/>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61" name="Google Shape;161;p8"/>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62" name="Google Shape;162;p8"/>
          <p:cNvSpPr txBox="1"/>
          <p:nvPr/>
        </p:nvSpPr>
        <p:spPr>
          <a:xfrm>
            <a:off x="108721" y="89553"/>
            <a:ext cx="7804500" cy="45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Análisis Cuantitativo</a:t>
            </a:r>
            <a:endParaRPr b="1" i="0" sz="1200" u="none" cap="none" strike="noStrike">
              <a:solidFill>
                <a:srgbClr val="FFFFFF"/>
              </a:solidFill>
              <a:latin typeface="Helvetica Neue"/>
              <a:ea typeface="Helvetica Neue"/>
              <a:cs typeface="Helvetica Neue"/>
              <a:sym typeface="Helvetica Neue"/>
            </a:endParaRPr>
          </a:p>
        </p:txBody>
      </p:sp>
      <p:pic>
        <p:nvPicPr>
          <p:cNvPr id="163" name="Google Shape;163;p8"/>
          <p:cNvPicPr preferRelativeResize="0"/>
          <p:nvPr/>
        </p:nvPicPr>
        <p:blipFill rotWithShape="1">
          <a:blip r:embed="rId5">
            <a:alphaModFix/>
          </a:blip>
          <a:srcRect b="0" l="0" r="0" t="0"/>
          <a:stretch/>
        </p:blipFill>
        <p:spPr>
          <a:xfrm>
            <a:off x="2014537" y="2305050"/>
            <a:ext cx="5114925" cy="3143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9"/>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70" name="Google Shape;170;p9"/>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71" name="Google Shape;171;p9"/>
          <p:cNvSpPr txBox="1"/>
          <p:nvPr/>
        </p:nvSpPr>
        <p:spPr>
          <a:xfrm>
            <a:off x="108721" y="89553"/>
            <a:ext cx="7804500" cy="45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Análisis Cuantitativo</a:t>
            </a:r>
            <a:endParaRPr b="1" i="0" sz="1200" u="none" cap="none" strike="noStrike">
              <a:solidFill>
                <a:srgbClr val="FFFFFF"/>
              </a:solidFill>
              <a:latin typeface="Helvetica Neue"/>
              <a:ea typeface="Helvetica Neue"/>
              <a:cs typeface="Helvetica Neue"/>
              <a:sym typeface="Helvetica Neue"/>
            </a:endParaRPr>
          </a:p>
        </p:txBody>
      </p:sp>
      <p:pic>
        <p:nvPicPr>
          <p:cNvPr id="172" name="Google Shape;172;p9"/>
          <p:cNvPicPr preferRelativeResize="0"/>
          <p:nvPr/>
        </p:nvPicPr>
        <p:blipFill rotWithShape="1">
          <a:blip r:embed="rId5">
            <a:alphaModFix/>
          </a:blip>
          <a:srcRect b="0" l="0" r="0" t="0"/>
          <a:stretch/>
        </p:blipFill>
        <p:spPr>
          <a:xfrm>
            <a:off x="508653" y="2417770"/>
            <a:ext cx="3909775" cy="2366963"/>
          </a:xfrm>
          <a:prstGeom prst="rect">
            <a:avLst/>
          </a:prstGeom>
          <a:noFill/>
          <a:ln>
            <a:noFill/>
          </a:ln>
        </p:spPr>
      </p:pic>
      <p:pic>
        <p:nvPicPr>
          <p:cNvPr id="173" name="Google Shape;173;p9"/>
          <p:cNvPicPr preferRelativeResize="0"/>
          <p:nvPr/>
        </p:nvPicPr>
        <p:blipFill rotWithShape="1">
          <a:blip r:embed="rId6">
            <a:alphaModFix/>
          </a:blip>
          <a:srcRect b="0" l="0" r="0" t="0"/>
          <a:stretch/>
        </p:blipFill>
        <p:spPr>
          <a:xfrm>
            <a:off x="4698258" y="2445832"/>
            <a:ext cx="3735469" cy="231083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10"/>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80" name="Google Shape;180;p10"/>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81" name="Google Shape;181;p10"/>
          <p:cNvSpPr txBox="1"/>
          <p:nvPr/>
        </p:nvSpPr>
        <p:spPr>
          <a:xfrm>
            <a:off x="108721" y="89553"/>
            <a:ext cx="7804500" cy="45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Ishikawa</a:t>
            </a:r>
            <a:endParaRPr b="1" sz="2400">
              <a:solidFill>
                <a:srgbClr val="FFFFFF"/>
              </a:solidFill>
              <a:latin typeface="Helvetica Neue"/>
              <a:ea typeface="Helvetica Neue"/>
              <a:cs typeface="Helvetica Neue"/>
              <a:sym typeface="Helvetica Neue"/>
            </a:endParaRPr>
          </a:p>
        </p:txBody>
      </p:sp>
      <p:pic>
        <p:nvPicPr>
          <p:cNvPr id="182" name="Google Shape;182;p10"/>
          <p:cNvPicPr preferRelativeResize="0"/>
          <p:nvPr/>
        </p:nvPicPr>
        <p:blipFill rotWithShape="1">
          <a:blip r:embed="rId5">
            <a:alphaModFix/>
          </a:blip>
          <a:srcRect b="0" l="0" r="0" t="0"/>
          <a:stretch/>
        </p:blipFill>
        <p:spPr>
          <a:xfrm>
            <a:off x="762699" y="1538287"/>
            <a:ext cx="7553325" cy="4200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11"/>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189" name="Google Shape;189;p11"/>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190" name="Google Shape;190;p11"/>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i="0" lang="es-ES" sz="2400" u="none" cap="none" strike="noStrike">
                <a:solidFill>
                  <a:srgbClr val="FFFFFF"/>
                </a:solidFill>
                <a:latin typeface="Helvetica Neue"/>
                <a:ea typeface="Helvetica Neue"/>
                <a:cs typeface="Helvetica Neue"/>
                <a:sym typeface="Helvetica Neue"/>
              </a:rPr>
              <a:t>Definición del problema</a:t>
            </a:r>
            <a:endParaRPr b="1" i="0" sz="1200" u="none" cap="none" strike="noStrike">
              <a:solidFill>
                <a:srgbClr val="FFFFFF"/>
              </a:solidFill>
              <a:latin typeface="Helvetica Neue"/>
              <a:ea typeface="Helvetica Neue"/>
              <a:cs typeface="Helvetica Neue"/>
              <a:sym typeface="Helvetica Neue"/>
            </a:endParaRPr>
          </a:p>
        </p:txBody>
      </p:sp>
      <p:sp>
        <p:nvSpPr>
          <p:cNvPr id="191" name="Google Shape;191;p11"/>
          <p:cNvSpPr txBox="1"/>
          <p:nvPr/>
        </p:nvSpPr>
        <p:spPr>
          <a:xfrm>
            <a:off x="381000" y="1171575"/>
            <a:ext cx="817245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La existencia de un desorden operativo y financiero derivado de la ausencia de un sistema integrado de gestión lo que impacta negativamente en la eficiencia de los procesos, la rentabilidad del negocio y la calidad del servicio entregado al cliente.</a:t>
            </a:r>
            <a:endParaRPr/>
          </a:p>
        </p:txBody>
      </p:sp>
      <p:sp>
        <p:nvSpPr>
          <p:cNvPr id="192" name="Google Shape;192;p11"/>
          <p:cNvSpPr txBox="1"/>
          <p:nvPr/>
        </p:nvSpPr>
        <p:spPr>
          <a:xfrm>
            <a:off x="381000" y="2228166"/>
            <a:ext cx="817245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 En el ámbito de inventario, se identifican pérdidas por mermas, productos obsoletos y una gestión deficiente del stock, lo que genera compras urgentes y pérdidas de ventas.</a:t>
            </a:r>
            <a:endParaRPr/>
          </a:p>
        </p:txBody>
      </p:sp>
      <p:sp>
        <p:nvSpPr>
          <p:cNvPr id="193" name="Google Shape;193;p11"/>
          <p:cNvSpPr txBox="1"/>
          <p:nvPr/>
        </p:nvSpPr>
        <p:spPr>
          <a:xfrm>
            <a:off x="381000" y="3284757"/>
            <a:ext cx="793502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En el área financiera, además de los altos costos fijos, se evidencian problemas en la gestión de cobranza, con plazos extensos y retrasos en los pagos por parte de los clientes, lo que impacta directamente en la liquidez de la empresa</a:t>
            </a:r>
            <a:endParaRPr/>
          </a:p>
        </p:txBody>
      </p:sp>
      <p:sp>
        <p:nvSpPr>
          <p:cNvPr id="194" name="Google Shape;194;p11"/>
          <p:cNvSpPr txBox="1"/>
          <p:nvPr/>
        </p:nvSpPr>
        <p:spPr>
          <a:xfrm>
            <a:off x="381000" y="4341348"/>
            <a:ext cx="793502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En las operaciones en terreno, se presentan dificultades como la falta de insumos, errores en instalaciones y devoluciones, lo que repercute en la experiencia del cliente y en la eficiencia del servicio.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2"/>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01" name="Google Shape;201;p12"/>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02" name="Google Shape;202;p12"/>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Objetivos General del Proyecto</a:t>
            </a:r>
            <a:endParaRPr b="1" i="0" sz="1200" u="none" cap="none" strike="noStrike">
              <a:solidFill>
                <a:srgbClr val="FFFFFF"/>
              </a:solidFill>
              <a:latin typeface="Helvetica Neue"/>
              <a:ea typeface="Helvetica Neue"/>
              <a:cs typeface="Helvetica Neue"/>
              <a:sym typeface="Helvetica Neue"/>
            </a:endParaRPr>
          </a:p>
        </p:txBody>
      </p:sp>
      <p:sp>
        <p:nvSpPr>
          <p:cNvPr id="203" name="Google Shape;203;p12"/>
          <p:cNvSpPr txBox="1"/>
          <p:nvPr/>
        </p:nvSpPr>
        <p:spPr>
          <a:xfrm>
            <a:off x="1124762" y="3038862"/>
            <a:ext cx="68944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Desarrollar un sistema informático de gestión financiera y operativa con el propósito de centralizar la trazabilidad de los flujos de caja, ventas y remuneraciones variables en la empresa Puertas Blindadas.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13"/>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10" name="Google Shape;210;p13"/>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11" name="Google Shape;211;p13"/>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Objetivos </a:t>
            </a:r>
            <a:r>
              <a:rPr b="1" lang="es-ES" sz="2400">
                <a:solidFill>
                  <a:srgbClr val="FFFFFF"/>
                </a:solidFill>
                <a:latin typeface="Helvetica Neue"/>
                <a:ea typeface="Helvetica Neue"/>
                <a:cs typeface="Helvetica Neue"/>
                <a:sym typeface="Helvetica Neue"/>
              </a:rPr>
              <a:t>Específicos</a:t>
            </a:r>
            <a:r>
              <a:rPr b="1" lang="es-ES" sz="2400">
                <a:solidFill>
                  <a:srgbClr val="FFFFFF"/>
                </a:solidFill>
                <a:latin typeface="Helvetica Neue"/>
                <a:ea typeface="Helvetica Neue"/>
                <a:cs typeface="Helvetica Neue"/>
                <a:sym typeface="Helvetica Neue"/>
              </a:rPr>
              <a:t> del Proyecto</a:t>
            </a:r>
            <a:endParaRPr b="1" i="0" sz="1200" u="none" cap="none" strike="noStrike">
              <a:solidFill>
                <a:srgbClr val="FFFFFF"/>
              </a:solidFill>
              <a:latin typeface="Helvetica Neue"/>
              <a:ea typeface="Helvetica Neue"/>
              <a:cs typeface="Helvetica Neue"/>
              <a:sym typeface="Helvetica Neue"/>
            </a:endParaRPr>
          </a:p>
        </p:txBody>
      </p:sp>
      <p:sp>
        <p:nvSpPr>
          <p:cNvPr id="212" name="Google Shape;212;p13"/>
          <p:cNvSpPr txBox="1"/>
          <p:nvPr/>
        </p:nvSpPr>
        <p:spPr>
          <a:xfrm>
            <a:off x="312701" y="1067187"/>
            <a:ext cx="8362950"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1.- Realizar el análisis interno y externo de la organización, con el propósito de establecer su funcionamiento y contexto.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2.- Construir el levantamiento de procesos inicial con el propósito de determinar el funcionamiento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3.- Analizar cuantitativamente los procesos con el fin de explicar el funcionamiento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4.- Establecer el análisis cualitativo basado en los datos con el fin de explicar las problemáticas causales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5.- Definir los requisitos del sistema para satisfacer las necesidades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6.- Generar requerimientos funcionales y no funcionales del sistema con el propósito que respondan a las necesidades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7.- Plantear los requerimientos de usuario con el fin de representar las necesidades y expectativas de los distintos perfiles de usuarios del sistema.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14"/>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19" name="Google Shape;219;p14"/>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20" name="Google Shape;220;p14"/>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Objetivos </a:t>
            </a:r>
            <a:r>
              <a:rPr b="1" lang="es-ES" sz="2400">
                <a:solidFill>
                  <a:srgbClr val="FFFFFF"/>
                </a:solidFill>
                <a:latin typeface="Helvetica Neue"/>
                <a:ea typeface="Helvetica Neue"/>
                <a:cs typeface="Helvetica Neue"/>
                <a:sym typeface="Helvetica Neue"/>
              </a:rPr>
              <a:t>Específicos</a:t>
            </a:r>
            <a:r>
              <a:rPr b="1" lang="es-ES" sz="2400">
                <a:solidFill>
                  <a:srgbClr val="FFFFFF"/>
                </a:solidFill>
                <a:latin typeface="Helvetica Neue"/>
                <a:ea typeface="Helvetica Neue"/>
                <a:cs typeface="Helvetica Neue"/>
                <a:sym typeface="Helvetica Neue"/>
              </a:rPr>
              <a:t> del Proyecto</a:t>
            </a:r>
            <a:endParaRPr b="1" i="0" sz="1200" u="none" cap="none" strike="noStrike">
              <a:solidFill>
                <a:srgbClr val="FFFFFF"/>
              </a:solidFill>
              <a:latin typeface="Helvetica Neue"/>
              <a:ea typeface="Helvetica Neue"/>
              <a:cs typeface="Helvetica Neue"/>
              <a:sym typeface="Helvetica Neue"/>
            </a:endParaRPr>
          </a:p>
        </p:txBody>
      </p:sp>
      <p:sp>
        <p:nvSpPr>
          <p:cNvPr id="221" name="Google Shape;221;p14"/>
          <p:cNvSpPr txBox="1"/>
          <p:nvPr/>
        </p:nvSpPr>
        <p:spPr>
          <a:xfrm>
            <a:off x="312701" y="1067187"/>
            <a:ext cx="8362950"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8.- Elaborar los casos de uso extendido para representar las interacciones entre el usuario y el sistema.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9.- Diseñar la solución basado en la metodología scrum++ con el propósito de asegurar trazabilidad del sistema.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10.- Desarrollar el sistema con el objeto de satisfacer las necesidades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11.- Verificar el sistema con el propósito de demostrar la trazabilidad basada en ISO25001.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12.- Validar el sistema con el propósito de demostrar la satisfacción de la organización.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13.- Establecer la evaluación de costos y beneficio con el propósito de establecer el aporte de la solución.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14.-Construir el levantamiento de procesos final con el propósito de determinar el aporte de la solución a la organización.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15"/>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28" name="Google Shape;228;p15"/>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29" name="Google Shape;229;p15"/>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Catálogo</a:t>
            </a:r>
            <a:r>
              <a:rPr b="1" lang="es-ES" sz="2400">
                <a:solidFill>
                  <a:srgbClr val="FFFFFF"/>
                </a:solidFill>
                <a:latin typeface="Helvetica Neue"/>
                <a:ea typeface="Helvetica Neue"/>
                <a:cs typeface="Helvetica Neue"/>
                <a:sym typeface="Helvetica Neue"/>
              </a:rPr>
              <a:t> de Requerimientos</a:t>
            </a:r>
            <a:endParaRPr b="1" i="0" sz="1200" u="none" cap="none" strike="noStrike">
              <a:solidFill>
                <a:srgbClr val="FFFFFF"/>
              </a:solidFill>
              <a:latin typeface="Helvetica Neue"/>
              <a:ea typeface="Helvetica Neue"/>
              <a:cs typeface="Helvetica Neue"/>
              <a:sym typeface="Helvetica Neue"/>
            </a:endParaRPr>
          </a:p>
        </p:txBody>
      </p:sp>
      <p:graphicFrame>
        <p:nvGraphicFramePr>
          <p:cNvPr id="230" name="Google Shape;230;p15"/>
          <p:cNvGraphicFramePr/>
          <p:nvPr/>
        </p:nvGraphicFramePr>
        <p:xfrm>
          <a:off x="876300" y="1569729"/>
          <a:ext cx="3000000" cy="3000000"/>
        </p:xfrm>
        <a:graphic>
          <a:graphicData uri="http://schemas.openxmlformats.org/drawingml/2006/table">
            <a:tbl>
              <a:tblPr>
                <a:noFill/>
                <a:tableStyleId>{640F54E0-6BF4-430B-8CA0-859B497E65E5}</a:tableStyleId>
              </a:tblPr>
              <a:tblGrid>
                <a:gridCol w="2455875"/>
                <a:gridCol w="2455875"/>
                <a:gridCol w="2212975"/>
              </a:tblGrid>
              <a:tr h="468600">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Descripción</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Cantidad de Requerimientos (RF)</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9225">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 A: Clientes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Extracción, búsqueda y ficha financiera de clientes activos.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4</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9225">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 B: Ventas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Cotizaciones, cálculo de márgenes, divisas y facturación.</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19</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9225">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 C: Recaudación</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Registro de pagos, conciliación bancaria y morosidad.</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10</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600">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 D: Egresos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Proveedores, facturas de compra y caja chica.</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12</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600">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 E: Remuneraciones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Cálculo de bonos por destajo y liquidaciones.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11</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9225">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Módulo F: Dashboards y Seguridad</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Tableros de rentabilidad, exportación analítica y seguridad de roles.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lang="es-ES" sz="1000" u="none" cap="none" strike="noStrike">
                          <a:solidFill>
                            <a:srgbClr val="1F1F1F"/>
                          </a:solidFill>
                        </a:rPr>
                        <a:t>13</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8600">
                <a:tc>
                  <a:txBody>
                    <a:bodyPr/>
                    <a:lstStyle/>
                    <a:p>
                      <a:pPr indent="0" lvl="0" marL="0" marR="0" rtl="0" algn="l">
                        <a:spcBef>
                          <a:spcPts val="0"/>
                        </a:spcBef>
                        <a:spcAft>
                          <a:spcPts val="0"/>
                        </a:spcAft>
                        <a:buClr>
                          <a:schemeClr val="dk1"/>
                        </a:buClr>
                        <a:buSzPts val="1000"/>
                        <a:buFont typeface="Calibri"/>
                        <a:buNone/>
                      </a:pPr>
                      <a:r>
                        <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Total de Requerimientos Funcionales</a:t>
                      </a:r>
                      <a:endParaRPr sz="1000" u="none" cap="none" strike="noStrike">
                        <a:solidFill>
                          <a:srgbClr val="1F1F1F"/>
                        </a:solidFill>
                        <a:latin typeface="Google Sans"/>
                        <a:ea typeface="Google Sans"/>
                        <a:cs typeface="Google Sans"/>
                        <a:sym typeface="Google Sans"/>
                      </a:endParaRPr>
                    </a:p>
                  </a:txBody>
                  <a:tcPr marT="83675" marB="83675" marR="6275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Calibri"/>
                        <a:buNone/>
                      </a:pPr>
                      <a:r>
                        <a:rPr b="1" lang="es-ES" sz="1000" u="none" cap="none" strike="noStrike">
                          <a:solidFill>
                            <a:srgbClr val="1F1F1F"/>
                          </a:solidFill>
                        </a:rPr>
                        <a:t>69</a:t>
                      </a:r>
                      <a:endParaRPr sz="1000" u="none" cap="none" strike="noStrike">
                        <a:solidFill>
                          <a:srgbClr val="1F1F1F"/>
                        </a:solidFill>
                        <a:latin typeface="Google Sans"/>
                        <a:ea typeface="Google Sans"/>
                        <a:cs typeface="Google Sans"/>
                        <a:sym typeface="Google Sans"/>
                      </a:endParaRPr>
                    </a:p>
                  </a:txBody>
                  <a:tcPr marT="83675" marB="83675" marR="50200" marL="502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16"/>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37" name="Google Shape;237;p16"/>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38" name="Google Shape;238;p16"/>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i="0" lang="es-ES" sz="2400" u="none" cap="none" strike="noStrike">
                <a:solidFill>
                  <a:srgbClr val="FFFFFF"/>
                </a:solidFill>
                <a:latin typeface="Helvetica Neue"/>
                <a:ea typeface="Helvetica Neue"/>
                <a:cs typeface="Helvetica Neue"/>
                <a:sym typeface="Helvetica Neue"/>
              </a:rPr>
              <a:t>Plan de Incrementos</a:t>
            </a:r>
            <a:endParaRPr b="1" i="0" sz="1200" u="none" cap="none" strike="noStrike">
              <a:solidFill>
                <a:srgbClr val="FFFFFF"/>
              </a:solidFill>
              <a:latin typeface="Helvetica Neue"/>
              <a:ea typeface="Helvetica Neue"/>
              <a:cs typeface="Helvetica Neue"/>
              <a:sym typeface="Helvetica Neue"/>
            </a:endParaRPr>
          </a:p>
        </p:txBody>
      </p:sp>
      <p:graphicFrame>
        <p:nvGraphicFramePr>
          <p:cNvPr id="239" name="Google Shape;239;p16"/>
          <p:cNvGraphicFramePr/>
          <p:nvPr/>
        </p:nvGraphicFramePr>
        <p:xfrm>
          <a:off x="1533525" y="892439"/>
          <a:ext cx="3000000" cy="3000000"/>
        </p:xfrm>
        <a:graphic>
          <a:graphicData uri="http://schemas.openxmlformats.org/drawingml/2006/table">
            <a:tbl>
              <a:tblPr>
                <a:noFill/>
                <a:tableStyleId>{39707AB3-4987-4FA7-B673-73C21380EDED}</a:tableStyleId>
              </a:tblPr>
              <a:tblGrid>
                <a:gridCol w="1421025"/>
                <a:gridCol w="1421025"/>
                <a:gridCol w="1421025"/>
                <a:gridCol w="1280475"/>
              </a:tblGrid>
              <a:tr h="592850">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Incremento</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Descripción del Hito / Alcance</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Cantidad de RFs</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 de Avance (Acumulado)</a:t>
                      </a:r>
                      <a:endParaRPr sz="1000" u="none" cap="none" strike="noStrike">
                        <a:solidFill>
                          <a:srgbClr val="1F1F1F"/>
                        </a:solidFill>
                        <a:latin typeface="Google Sans"/>
                        <a:ea typeface="Google Sans"/>
                        <a:cs typeface="Google Sans"/>
                        <a:sym typeface="Google Sans"/>
                      </a:endParaRPr>
                    </a:p>
                  </a:txBody>
                  <a:tcPr marT="84650" marB="84650" marR="508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64550">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Incremento 1</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Núcleo Comercial (MVP):</a:t>
                      </a:r>
                      <a:r>
                        <a:rPr lang="es-ES" sz="1000" u="none" cap="none" strike="noStrike">
                          <a:solidFill>
                            <a:srgbClr val="1F1F1F"/>
                          </a:solidFill>
                          <a:latin typeface="Google Sans"/>
                          <a:ea typeface="Google Sans"/>
                          <a:cs typeface="Google Sans"/>
                          <a:sym typeface="Google Sans"/>
                        </a:rPr>
                        <a:t> Clientes, Cotizaciones, Ventas Básicas y Facturación.</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lang="es-ES" sz="1000" u="none" cap="none" strike="noStrike">
                          <a:solidFill>
                            <a:srgbClr val="1F1F1F"/>
                          </a:solidFill>
                          <a:latin typeface="Google Sans"/>
                          <a:ea typeface="Google Sans"/>
                          <a:cs typeface="Google Sans"/>
                          <a:sym typeface="Google Sans"/>
                        </a:rPr>
                        <a:t>23</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33%</a:t>
                      </a:r>
                      <a:endParaRPr sz="1000" u="none" cap="none" strike="noStrike">
                        <a:solidFill>
                          <a:srgbClr val="1F1F1F"/>
                        </a:solidFill>
                        <a:latin typeface="Google Sans"/>
                        <a:ea typeface="Google Sans"/>
                        <a:cs typeface="Google Sans"/>
                        <a:sym typeface="Google Sans"/>
                      </a:endParaRPr>
                    </a:p>
                  </a:txBody>
                  <a:tcPr marT="84650" marB="84650" marR="508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55125">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Incremento 2</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Tesorería y Flujo de Caja:</a:t>
                      </a:r>
                      <a:r>
                        <a:rPr lang="es-ES" sz="1000" u="none" cap="none" strike="noStrike">
                          <a:solidFill>
                            <a:srgbClr val="1F1F1F"/>
                          </a:solidFill>
                          <a:latin typeface="Google Sans"/>
                          <a:ea typeface="Google Sans"/>
                          <a:cs typeface="Google Sans"/>
                          <a:sym typeface="Google Sans"/>
                        </a:rPr>
                        <a:t> Recaudación, Proveedores, Pagos y Conciliación.</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lang="es-ES" sz="1000" u="none" cap="none" strike="noStrike">
                          <a:solidFill>
                            <a:srgbClr val="1F1F1F"/>
                          </a:solidFill>
                          <a:latin typeface="Google Sans"/>
                          <a:ea typeface="Google Sans"/>
                          <a:cs typeface="Google Sans"/>
                          <a:sym typeface="Google Sans"/>
                        </a:rPr>
                        <a:t>25</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70%</a:t>
                      </a:r>
                      <a:endParaRPr sz="1000" u="none" cap="none" strike="noStrike">
                        <a:solidFill>
                          <a:srgbClr val="1F1F1F"/>
                        </a:solidFill>
                        <a:latin typeface="Google Sans"/>
                        <a:ea typeface="Google Sans"/>
                        <a:cs typeface="Google Sans"/>
                        <a:sym typeface="Google Sans"/>
                      </a:endParaRPr>
                    </a:p>
                  </a:txBody>
                  <a:tcPr marT="84650" marB="84650" marR="508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55125">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Incremento 3</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Operaciones y Rentabilidad:</a:t>
                      </a:r>
                      <a:r>
                        <a:rPr lang="es-ES" sz="1000" u="none" cap="none" strike="noStrike">
                          <a:solidFill>
                            <a:srgbClr val="1F1F1F"/>
                          </a:solidFill>
                          <a:latin typeface="Google Sans"/>
                          <a:ea typeface="Google Sans"/>
                          <a:cs typeface="Google Sans"/>
                          <a:sym typeface="Google Sans"/>
                        </a:rPr>
                        <a:t> Sueldos, Bonos por Destajo y Dashboards Analíticos.</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lang="es-ES" sz="1000" u="none" cap="none" strike="noStrike">
                          <a:solidFill>
                            <a:srgbClr val="1F1F1F"/>
                          </a:solidFill>
                          <a:latin typeface="Google Sans"/>
                          <a:ea typeface="Google Sans"/>
                          <a:cs typeface="Google Sans"/>
                          <a:sym typeface="Google Sans"/>
                        </a:rPr>
                        <a:t>18</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95%</a:t>
                      </a:r>
                      <a:endParaRPr sz="1000" u="none" cap="none" strike="noStrike">
                        <a:solidFill>
                          <a:srgbClr val="1F1F1F"/>
                        </a:solidFill>
                        <a:latin typeface="Google Sans"/>
                        <a:ea typeface="Google Sans"/>
                        <a:cs typeface="Google Sans"/>
                        <a:sym typeface="Google Sans"/>
                      </a:endParaRPr>
                    </a:p>
                  </a:txBody>
                  <a:tcPr marT="84650" marB="84650" marR="508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64550">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Incremento 4</a:t>
                      </a:r>
                      <a:endParaRPr sz="1000" u="none" cap="none" strike="noStrike">
                        <a:solidFill>
                          <a:srgbClr val="1F1F1F"/>
                        </a:solidFill>
                        <a:latin typeface="Google Sans"/>
                        <a:ea typeface="Google Sans"/>
                        <a:cs typeface="Google Sans"/>
                        <a:sym typeface="Google Sans"/>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Auditoría y Seguridad:</a:t>
                      </a:r>
                      <a:r>
                        <a:rPr lang="es-ES" sz="1000" u="none" cap="none" strike="noStrike">
                          <a:solidFill>
                            <a:srgbClr val="1F1F1F"/>
                          </a:solidFill>
                          <a:latin typeface="Google Sans"/>
                          <a:ea typeface="Google Sans"/>
                          <a:cs typeface="Google Sans"/>
                          <a:sym typeface="Google Sans"/>
                        </a:rPr>
                        <a:t> Roles de usuario, Bloqueos y Log de Auditoría.</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lang="es-ES" sz="1000" u="none" cap="none" strike="noStrike">
                          <a:solidFill>
                            <a:srgbClr val="1F1F1F"/>
                          </a:solidFill>
                          <a:latin typeface="Google Sans"/>
                          <a:ea typeface="Google Sans"/>
                          <a:cs typeface="Google Sans"/>
                          <a:sym typeface="Google Sans"/>
                        </a:rPr>
                        <a:t>3</a:t>
                      </a:r>
                      <a:endParaRPr/>
                    </a:p>
                  </a:txBody>
                  <a:tcPr marT="84650" marB="84650" marR="635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000"/>
                        <a:buFont typeface="Google Sans"/>
                        <a:buNone/>
                      </a:pPr>
                      <a:r>
                        <a:rPr b="1" lang="es-ES" sz="1000" u="none" cap="none" strike="noStrike">
                          <a:solidFill>
                            <a:srgbClr val="1F1F1F"/>
                          </a:solidFill>
                          <a:latin typeface="Google Sans"/>
                          <a:ea typeface="Google Sans"/>
                          <a:cs typeface="Google Sans"/>
                          <a:sym typeface="Google Sans"/>
                        </a:rPr>
                        <a:t>100%</a:t>
                      </a:r>
                      <a:endParaRPr sz="1000" u="none" cap="none" strike="noStrike">
                        <a:solidFill>
                          <a:srgbClr val="1F1F1F"/>
                        </a:solidFill>
                        <a:latin typeface="Google Sans"/>
                        <a:ea typeface="Google Sans"/>
                        <a:cs typeface="Google Sans"/>
                        <a:sym typeface="Google Sans"/>
                      </a:endParaRPr>
                    </a:p>
                  </a:txBody>
                  <a:tcPr marT="84650" marB="84650" marR="50800" marL="508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17"/>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46" name="Google Shape;246;p17"/>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47" name="Google Shape;247;p17"/>
          <p:cNvSpPr txBox="1"/>
          <p:nvPr/>
        </p:nvSpPr>
        <p:spPr>
          <a:xfrm>
            <a:off x="108721" y="89553"/>
            <a:ext cx="780435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Factibilidad </a:t>
            </a:r>
            <a:r>
              <a:rPr b="1" lang="es-ES" sz="2400">
                <a:solidFill>
                  <a:srgbClr val="FFFFFF"/>
                </a:solidFill>
                <a:latin typeface="Helvetica Neue"/>
                <a:ea typeface="Helvetica Neue"/>
                <a:cs typeface="Helvetica Neue"/>
                <a:sym typeface="Helvetica Neue"/>
              </a:rPr>
              <a:t>Económica</a:t>
            </a:r>
            <a:endParaRPr b="1" i="0" sz="1200" u="none" cap="none" strike="noStrike">
              <a:solidFill>
                <a:srgbClr val="FFFFFF"/>
              </a:solidFill>
              <a:latin typeface="Helvetica Neue"/>
              <a:ea typeface="Helvetica Neue"/>
              <a:cs typeface="Helvetica Neue"/>
              <a:sym typeface="Helvetica Neue"/>
            </a:endParaRPr>
          </a:p>
        </p:txBody>
      </p:sp>
      <p:sp>
        <p:nvSpPr>
          <p:cNvPr id="248" name="Google Shape;248;p17"/>
          <p:cNvSpPr txBox="1"/>
          <p:nvPr/>
        </p:nvSpPr>
        <p:spPr>
          <a:xfrm>
            <a:off x="400050" y="1276350"/>
            <a:ext cx="6462600" cy="203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Proyección a 12 meses: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Tasa interna de retorno (TIR): 24%</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El proyecto presenta un VAN positivo de $12.542.422.</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Esto significa que: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	- Recuperación de inversión en el primer año.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	- Ganancia proyectada anual: $51.322.700.</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	- Relación Beneficio/Costo: 1,40.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18"/>
          <p:cNvPicPr preferRelativeResize="0"/>
          <p:nvPr/>
        </p:nvPicPr>
        <p:blipFill rotWithShape="1">
          <a:blip r:embed="rId3">
            <a:alphaModFix/>
          </a:blip>
          <a:srcRect b="51651" l="-153" r="153" t="20538"/>
          <a:stretch/>
        </p:blipFill>
        <p:spPr>
          <a:xfrm>
            <a:off x="-14013" y="1"/>
            <a:ext cx="9172026" cy="802886"/>
          </a:xfrm>
          <a:prstGeom prst="rect">
            <a:avLst/>
          </a:prstGeom>
          <a:noFill/>
          <a:ln>
            <a:noFill/>
          </a:ln>
        </p:spPr>
      </p:pic>
      <p:pic>
        <p:nvPicPr>
          <p:cNvPr id="255" name="Google Shape;255;p18"/>
          <p:cNvPicPr preferRelativeResize="0"/>
          <p:nvPr/>
        </p:nvPicPr>
        <p:blipFill rotWithShape="1">
          <a:blip r:embed="rId4">
            <a:alphaModFix/>
          </a:blip>
          <a:srcRect b="0" l="0" r="0" t="0"/>
          <a:stretch/>
        </p:blipFill>
        <p:spPr>
          <a:xfrm>
            <a:off x="8316024" y="89553"/>
            <a:ext cx="719254" cy="600029"/>
          </a:xfrm>
          <a:prstGeom prst="rect">
            <a:avLst/>
          </a:prstGeom>
          <a:noFill/>
          <a:ln>
            <a:noFill/>
          </a:ln>
        </p:spPr>
      </p:pic>
      <p:sp>
        <p:nvSpPr>
          <p:cNvPr id="256" name="Google Shape;256;p18"/>
          <p:cNvSpPr txBox="1"/>
          <p:nvPr/>
        </p:nvSpPr>
        <p:spPr>
          <a:xfrm>
            <a:off x="108721" y="89553"/>
            <a:ext cx="7804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Helvetica Neue"/>
              <a:buNone/>
            </a:pPr>
            <a:r>
              <a:rPr b="1" lang="es-ES" sz="2400">
                <a:solidFill>
                  <a:srgbClr val="FFFFFF"/>
                </a:solidFill>
                <a:latin typeface="Helvetica Neue"/>
                <a:ea typeface="Helvetica Neue"/>
                <a:cs typeface="Helvetica Neue"/>
                <a:sym typeface="Helvetica Neue"/>
              </a:rPr>
              <a:t>Dimensión técnica</a:t>
            </a:r>
            <a:endParaRPr b="1" i="0" sz="1200" u="none" cap="none" strike="noStrike">
              <a:solidFill>
                <a:srgbClr val="FFFFFF"/>
              </a:solidFill>
              <a:latin typeface="Helvetica Neue"/>
              <a:ea typeface="Helvetica Neue"/>
              <a:cs typeface="Helvetica Neue"/>
              <a:sym typeface="Helvetica Neue"/>
            </a:endParaRPr>
          </a:p>
        </p:txBody>
      </p:sp>
      <p:pic>
        <p:nvPicPr>
          <p:cNvPr id="257" name="Google Shape;257;p18"/>
          <p:cNvPicPr preferRelativeResize="0"/>
          <p:nvPr/>
        </p:nvPicPr>
        <p:blipFill rotWithShape="1">
          <a:blip r:embed="rId5">
            <a:alphaModFix/>
          </a:blip>
          <a:srcRect b="4769" l="16193" r="16869" t="10821"/>
          <a:stretch/>
        </p:blipFill>
        <p:spPr>
          <a:xfrm>
            <a:off x="383625" y="1083350"/>
            <a:ext cx="1183874" cy="1120550"/>
          </a:xfrm>
          <a:prstGeom prst="rect">
            <a:avLst/>
          </a:prstGeom>
          <a:noFill/>
          <a:ln>
            <a:noFill/>
          </a:ln>
        </p:spPr>
      </p:pic>
      <p:sp>
        <p:nvSpPr>
          <p:cNvPr id="258" name="Google Shape;258;p18"/>
          <p:cNvSpPr txBox="1"/>
          <p:nvPr/>
        </p:nvSpPr>
        <p:spPr>
          <a:xfrm>
            <a:off x="1860175" y="1377975"/>
            <a:ext cx="2749800" cy="695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JavaScript (ES6+)</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Lenguaje base del sistema</a:t>
            </a:r>
            <a:endParaRPr sz="1800">
              <a:solidFill>
                <a:schemeClr val="dk1"/>
              </a:solidFill>
              <a:latin typeface="Calibri"/>
              <a:ea typeface="Calibri"/>
              <a:cs typeface="Calibri"/>
              <a:sym typeface="Calibri"/>
            </a:endParaRPr>
          </a:p>
        </p:txBody>
      </p:sp>
      <p:pic>
        <p:nvPicPr>
          <p:cNvPr id="259" name="Google Shape;259;p18"/>
          <p:cNvPicPr preferRelativeResize="0"/>
          <p:nvPr/>
        </p:nvPicPr>
        <p:blipFill>
          <a:blip r:embed="rId6">
            <a:alphaModFix/>
          </a:blip>
          <a:stretch>
            <a:fillRect/>
          </a:stretch>
        </p:blipFill>
        <p:spPr>
          <a:xfrm>
            <a:off x="383625" y="2781924"/>
            <a:ext cx="1183875" cy="1057200"/>
          </a:xfrm>
          <a:prstGeom prst="rect">
            <a:avLst/>
          </a:prstGeom>
          <a:noFill/>
          <a:ln>
            <a:noFill/>
          </a:ln>
        </p:spPr>
      </p:pic>
      <p:sp>
        <p:nvSpPr>
          <p:cNvPr id="260" name="Google Shape;260;p18"/>
          <p:cNvSpPr txBox="1"/>
          <p:nvPr/>
        </p:nvSpPr>
        <p:spPr>
          <a:xfrm>
            <a:off x="1909825" y="2718625"/>
            <a:ext cx="2650500" cy="118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Node.js (Backend)</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Manejo de múltiples transacciones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Procesamiento eficiente</a:t>
            </a:r>
            <a:endParaRPr sz="1800">
              <a:solidFill>
                <a:schemeClr val="dk1"/>
              </a:solidFill>
              <a:latin typeface="Calibri"/>
              <a:ea typeface="Calibri"/>
              <a:cs typeface="Calibri"/>
              <a:sym typeface="Calibri"/>
            </a:endParaRPr>
          </a:p>
        </p:txBody>
      </p:sp>
      <p:pic>
        <p:nvPicPr>
          <p:cNvPr id="261" name="Google Shape;261;p18"/>
          <p:cNvPicPr preferRelativeResize="0"/>
          <p:nvPr/>
        </p:nvPicPr>
        <p:blipFill>
          <a:blip r:embed="rId7">
            <a:alphaModFix/>
          </a:blip>
          <a:stretch>
            <a:fillRect/>
          </a:stretch>
        </p:blipFill>
        <p:spPr>
          <a:xfrm>
            <a:off x="383625" y="4417150"/>
            <a:ext cx="1183875" cy="1183875"/>
          </a:xfrm>
          <a:prstGeom prst="rect">
            <a:avLst/>
          </a:prstGeom>
          <a:noFill/>
          <a:ln>
            <a:noFill/>
          </a:ln>
        </p:spPr>
      </p:pic>
      <p:sp>
        <p:nvSpPr>
          <p:cNvPr id="262" name="Google Shape;262;p18"/>
          <p:cNvSpPr txBox="1"/>
          <p:nvPr/>
        </p:nvSpPr>
        <p:spPr>
          <a:xfrm>
            <a:off x="1799425" y="4661254"/>
            <a:ext cx="2871300" cy="939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React (Frontend)</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Interfaz dinámica</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Visualización en tiempo real </a:t>
            </a:r>
            <a:endParaRPr sz="1800">
              <a:solidFill>
                <a:schemeClr val="dk1"/>
              </a:solidFill>
              <a:latin typeface="Calibri"/>
              <a:ea typeface="Calibri"/>
              <a:cs typeface="Calibri"/>
              <a:sym typeface="Calibri"/>
            </a:endParaRPr>
          </a:p>
        </p:txBody>
      </p:sp>
      <p:pic>
        <p:nvPicPr>
          <p:cNvPr id="263" name="Google Shape;263;p18"/>
          <p:cNvPicPr preferRelativeResize="0"/>
          <p:nvPr/>
        </p:nvPicPr>
        <p:blipFill>
          <a:blip r:embed="rId8">
            <a:alphaModFix/>
          </a:blip>
          <a:stretch>
            <a:fillRect/>
          </a:stretch>
        </p:blipFill>
        <p:spPr>
          <a:xfrm>
            <a:off x="4670725" y="1165550"/>
            <a:ext cx="1183875" cy="1120550"/>
          </a:xfrm>
          <a:prstGeom prst="rect">
            <a:avLst/>
          </a:prstGeom>
          <a:noFill/>
          <a:ln>
            <a:noFill/>
          </a:ln>
        </p:spPr>
      </p:pic>
      <p:sp>
        <p:nvSpPr>
          <p:cNvPr id="264" name="Google Shape;264;p18"/>
          <p:cNvSpPr txBox="1"/>
          <p:nvPr/>
        </p:nvSpPr>
        <p:spPr>
          <a:xfrm>
            <a:off x="5733100" y="1165550"/>
            <a:ext cx="2979600" cy="1446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PostgreSQL (Base de Datos)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Integridad de datos (ACID)</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 Alta confiabilidad </a:t>
            </a:r>
            <a:endParaRPr sz="1800">
              <a:solidFill>
                <a:schemeClr val="dk1"/>
              </a:solidFill>
              <a:latin typeface="Calibri"/>
              <a:ea typeface="Calibri"/>
              <a:cs typeface="Calibri"/>
              <a:sym typeface="Calibri"/>
            </a:endParaRPr>
          </a:p>
        </p:txBody>
      </p:sp>
      <p:pic>
        <p:nvPicPr>
          <p:cNvPr id="265" name="Google Shape;265;p18"/>
          <p:cNvPicPr preferRelativeResize="0"/>
          <p:nvPr/>
        </p:nvPicPr>
        <p:blipFill>
          <a:blip r:embed="rId9">
            <a:alphaModFix/>
          </a:blip>
          <a:stretch>
            <a:fillRect/>
          </a:stretch>
        </p:blipFill>
        <p:spPr>
          <a:xfrm>
            <a:off x="4609975" y="2750250"/>
            <a:ext cx="1123125" cy="1120550"/>
          </a:xfrm>
          <a:prstGeom prst="rect">
            <a:avLst/>
          </a:prstGeom>
          <a:noFill/>
          <a:ln>
            <a:noFill/>
          </a:ln>
        </p:spPr>
      </p:pic>
      <p:sp>
        <p:nvSpPr>
          <p:cNvPr id="266" name="Google Shape;266;p18"/>
          <p:cNvSpPr txBox="1"/>
          <p:nvPr/>
        </p:nvSpPr>
        <p:spPr>
          <a:xfrm>
            <a:off x="5733100" y="2900388"/>
            <a:ext cx="2650500" cy="105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AWS (Infraestructura)</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Alta disponibilidad</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Seguridad y escalabilidad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7" name="Google Shape;267;p18"/>
          <p:cNvPicPr preferRelativeResize="0"/>
          <p:nvPr/>
        </p:nvPicPr>
        <p:blipFill>
          <a:blip r:embed="rId10">
            <a:alphaModFix/>
          </a:blip>
          <a:stretch>
            <a:fillRect/>
          </a:stretch>
        </p:blipFill>
        <p:spPr>
          <a:xfrm>
            <a:off x="4579588" y="4496025"/>
            <a:ext cx="1183875" cy="1026125"/>
          </a:xfrm>
          <a:prstGeom prst="rect">
            <a:avLst/>
          </a:prstGeom>
          <a:noFill/>
          <a:ln>
            <a:noFill/>
          </a:ln>
        </p:spPr>
      </p:pic>
      <p:sp>
        <p:nvSpPr>
          <p:cNvPr id="268" name="Google Shape;268;p18"/>
          <p:cNvSpPr txBox="1"/>
          <p:nvPr/>
        </p:nvSpPr>
        <p:spPr>
          <a:xfrm>
            <a:off x="5733100" y="4408047"/>
            <a:ext cx="2979600" cy="1446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APIs REST</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Integración de componentes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ES" sz="1800">
                <a:solidFill>
                  <a:schemeClr val="dk1"/>
                </a:solidFill>
                <a:latin typeface="Calibri"/>
                <a:ea typeface="Calibri"/>
                <a:cs typeface="Calibri"/>
                <a:sym typeface="Calibri"/>
              </a:rPr>
              <a:t>Comunicación del sistema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cxnSp>
        <p:nvCxnSpPr>
          <p:cNvPr id="273" name="Google Shape;273;g3d8fbba6427_1_0"/>
          <p:cNvCxnSpPr/>
          <p:nvPr/>
        </p:nvCxnSpPr>
        <p:spPr>
          <a:xfrm>
            <a:off x="492141" y="3591697"/>
            <a:ext cx="7778700" cy="0"/>
          </a:xfrm>
          <a:prstGeom prst="straightConnector1">
            <a:avLst/>
          </a:prstGeom>
          <a:noFill/>
          <a:ln cap="flat" cmpd="sng" w="28575">
            <a:solidFill>
              <a:schemeClr val="lt1"/>
            </a:solidFill>
            <a:prstDash val="solid"/>
            <a:miter lim="800000"/>
            <a:headEnd len="sm" w="sm" type="none"/>
            <a:tailEnd len="sm" w="sm" type="none"/>
          </a:ln>
        </p:spPr>
      </p:cxnSp>
      <p:cxnSp>
        <p:nvCxnSpPr>
          <p:cNvPr id="274" name="Google Shape;274;g3d8fbba6427_1_0"/>
          <p:cNvCxnSpPr/>
          <p:nvPr/>
        </p:nvCxnSpPr>
        <p:spPr>
          <a:xfrm>
            <a:off x="2186082" y="2158313"/>
            <a:ext cx="0" cy="1273200"/>
          </a:xfrm>
          <a:prstGeom prst="straightConnector1">
            <a:avLst/>
          </a:prstGeom>
          <a:noFill/>
          <a:ln cap="flat" cmpd="sng" w="9525">
            <a:solidFill>
              <a:schemeClr val="lt1"/>
            </a:solidFill>
            <a:prstDash val="solid"/>
            <a:miter lim="800000"/>
            <a:headEnd len="sm" w="sm" type="none"/>
            <a:tailEnd len="sm" w="sm" type="none"/>
          </a:ln>
        </p:spPr>
      </p:cxnSp>
      <p:sp>
        <p:nvSpPr>
          <p:cNvPr id="275" name="Google Shape;275;g3d8fbba6427_1_0"/>
          <p:cNvSpPr txBox="1"/>
          <p:nvPr/>
        </p:nvSpPr>
        <p:spPr>
          <a:xfrm>
            <a:off x="2002377" y="1405292"/>
            <a:ext cx="6287400" cy="230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3600" u="none" cap="none" strike="noStrike">
                <a:solidFill>
                  <a:schemeClr val="lt1"/>
                </a:solidFill>
                <a:latin typeface="Calibri"/>
                <a:ea typeface="Calibri"/>
                <a:cs typeface="Calibri"/>
                <a:sym typeface="Calibri"/>
              </a:rPr>
              <a:t>Puertas Blindadas: Sistema de Finanzas</a:t>
            </a:r>
            <a:endParaRPr/>
          </a:p>
          <a:p>
            <a:pPr indent="0" lvl="0" marL="0" marR="0" rtl="0" algn="ctr">
              <a:spcBef>
                <a:spcPts val="0"/>
              </a:spcBef>
              <a:spcAft>
                <a:spcPts val="0"/>
              </a:spcAft>
              <a:buNone/>
            </a:pPr>
            <a:r>
              <a:rPr b="1" i="0" lang="es-ES" sz="3600" u="none" cap="none" strike="noStrike">
                <a:solidFill>
                  <a:schemeClr val="lt1"/>
                </a:solidFill>
                <a:latin typeface="Calibri"/>
                <a:ea typeface="Calibri"/>
                <a:cs typeface="Calibri"/>
                <a:sym typeface="Calibri"/>
              </a:rPr>
              <a:t>Desarrollo de Software I: Documento 0</a:t>
            </a:r>
            <a:endParaRPr b="1" i="0" sz="3600" u="none" cap="none" strike="noStrike">
              <a:solidFill>
                <a:schemeClr val="lt1"/>
              </a:solidFill>
              <a:latin typeface="Calibri"/>
              <a:ea typeface="Calibri"/>
              <a:cs typeface="Calibri"/>
              <a:sym typeface="Calibri"/>
            </a:endParaRPr>
          </a:p>
        </p:txBody>
      </p:sp>
      <p:sp>
        <p:nvSpPr>
          <p:cNvPr id="276" name="Google Shape;276;g3d8fbba6427_1_0"/>
          <p:cNvSpPr txBox="1"/>
          <p:nvPr/>
        </p:nvSpPr>
        <p:spPr>
          <a:xfrm>
            <a:off x="1852705" y="3768770"/>
            <a:ext cx="5438700" cy="2031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Integrantes:</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Sebastián Benjamín Bravo Núñez</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Gianella Belén Catalán Canales </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Vicente Andrés Hernández Olea</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Daniella Rosa Catalina Lecanda Garnham </a:t>
            </a:r>
            <a:endParaRPr/>
          </a:p>
          <a:p>
            <a:pPr indent="0" lvl="0" marL="0" marR="0" rtl="0" algn="ctr">
              <a:spcBef>
                <a:spcPts val="0"/>
              </a:spcBef>
              <a:spcAft>
                <a:spcPts val="0"/>
              </a:spcAft>
              <a:buNone/>
            </a:pPr>
            <a:r>
              <a:rPr b="0" i="0" lang="es-ES" sz="1800" u="none" cap="none" strike="noStrike">
                <a:solidFill>
                  <a:schemeClr val="lt1"/>
                </a:solidFill>
                <a:latin typeface="Calibri"/>
                <a:ea typeface="Calibri"/>
                <a:cs typeface="Calibri"/>
                <a:sym typeface="Calibri"/>
              </a:rPr>
              <a:t>Angella Javiera Sánchez Lopéz</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77" name="Google Shape;277;g3d8fbba6427_1_0"/>
          <p:cNvPicPr preferRelativeResize="0"/>
          <p:nvPr/>
        </p:nvPicPr>
        <p:blipFill rotWithShape="1">
          <a:blip r:embed="rId4">
            <a:alphaModFix/>
          </a:blip>
          <a:srcRect b="24761" l="0" r="0" t="25507"/>
          <a:stretch/>
        </p:blipFill>
        <p:spPr>
          <a:xfrm>
            <a:off x="0" y="0"/>
            <a:ext cx="9158014" cy="1435697"/>
          </a:xfrm>
          <a:prstGeom prst="rect">
            <a:avLst/>
          </a:prstGeom>
          <a:noFill/>
          <a:ln>
            <a:noFill/>
          </a:ln>
        </p:spPr>
      </p:pic>
      <p:pic>
        <p:nvPicPr>
          <p:cNvPr id="278" name="Google Shape;278;g3d8fbba6427_1_0"/>
          <p:cNvPicPr preferRelativeResize="0"/>
          <p:nvPr/>
        </p:nvPicPr>
        <p:blipFill rotWithShape="1">
          <a:blip r:embed="rId4">
            <a:alphaModFix/>
          </a:blip>
          <a:srcRect b="5990" l="-150" r="150" t="46511"/>
          <a:stretch/>
        </p:blipFill>
        <p:spPr>
          <a:xfrm>
            <a:off x="-14013" y="5486719"/>
            <a:ext cx="9172027" cy="1371280"/>
          </a:xfrm>
          <a:prstGeom prst="rect">
            <a:avLst/>
          </a:prstGeom>
          <a:noFill/>
          <a:ln>
            <a:noFill/>
          </a:ln>
        </p:spPr>
      </p:pic>
      <p:pic>
        <p:nvPicPr>
          <p:cNvPr id="279" name="Google Shape;279;g3d8fbba6427_1_0"/>
          <p:cNvPicPr preferRelativeResize="0"/>
          <p:nvPr/>
        </p:nvPicPr>
        <p:blipFill rotWithShape="1">
          <a:blip r:embed="rId5">
            <a:alphaModFix/>
          </a:blip>
          <a:srcRect b="0" l="0" r="0" t="0"/>
          <a:stretch/>
        </p:blipFill>
        <p:spPr>
          <a:xfrm>
            <a:off x="686349" y="2158313"/>
            <a:ext cx="1279083" cy="1189591"/>
          </a:xfrm>
          <a:prstGeom prst="rect">
            <a:avLst/>
          </a:prstGeom>
          <a:noFill/>
          <a:ln>
            <a:noFill/>
          </a:ln>
        </p:spPr>
      </p:pic>
      <p:sp>
        <p:nvSpPr>
          <p:cNvPr id="280" name="Google Shape;280;g3d8fbba6427_1_0"/>
          <p:cNvSpPr txBox="1"/>
          <p:nvPr/>
        </p:nvSpPr>
        <p:spPr>
          <a:xfrm>
            <a:off x="346841" y="1818290"/>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g3d8fbba6427_1_0"/>
          <p:cNvSpPr txBox="1"/>
          <p:nvPr/>
        </p:nvSpPr>
        <p:spPr>
          <a:xfrm>
            <a:off x="4381465" y="5460886"/>
            <a:ext cx="5438700" cy="1477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Curso: Ingeniería de Software I</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Profesor: Paulo Quinsacara Jofré.</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NRC:7979</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Fecha:19/04/202</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2018-06-26T20:44:09Z</dcterms:created>
  <dc:creator>Usuario de Microsoft Office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0x01010023E636E5ADFFDD4593589394D25615CE</vt:lpwstr>
  </property>
</Properties>
</file>