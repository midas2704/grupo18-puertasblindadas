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embeddedFontLst>
    <p:embeddedFont>
      <p:font typeface="Calibri" panose="020F0502020204030204" pitchFamily="34" charset="0"/>
      <p:regular r:id="rId21"/>
      <p:bold r:id="rId22"/>
      <p:italic r:id="rId23"/>
      <p:boldItalic r:id="rId24"/>
    </p:embeddedFont>
    <p:embeddedFont>
      <p:font typeface="Impact" panose="020B0806030902050204" pitchFamily="34" charset="0"/>
      <p:regular r:id="rId25"/>
    </p:embeddedFont>
    <p:embeddedFont>
      <p:font typeface="Inter" panose="020B0604020202020204" charset="0"/>
      <p:regular r:id="rId26"/>
    </p:embeddedFont>
    <p:embeddedFont>
      <p:font typeface="Inter Bold" panose="020B0604020202020204" charset="0"/>
      <p:regular r:id="rId27"/>
    </p:embeddedFont>
    <p:embeddedFont>
      <p:font typeface="Inter Medium" panose="020B0604020202020204" charset="0"/>
      <p:regular r:id="rId28"/>
    </p:embeddedFont>
    <p:embeddedFont>
      <p:font typeface="Open Sans" panose="020B0606030504020204" pitchFamily="34" charset="0"/>
      <p:regular r:id="rId29"/>
      <p:bold r:id="rId30"/>
      <p:italic r:id="rId31"/>
      <p:boldItalic r:id="rId32"/>
    </p:embeddedFont>
    <p:embeddedFont>
      <p:font typeface="Open Sans Bold" panose="020B0806030504020204" charset="0"/>
      <p:regular r:id="rId33"/>
    </p:embeddedFont>
    <p:embeddedFont>
      <p:font typeface="Poppins Ultra-Bold" panose="020B0604020202020204" charset="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3" d="100"/>
          <a:sy n="43" d="100"/>
        </p:scale>
        <p:origin x="1002"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21" Type="http://schemas.openxmlformats.org/officeDocument/2006/relationships/font" Target="fonts/font1.fntdata"/><Relationship Id="rId34" Type="http://schemas.openxmlformats.org/officeDocument/2006/relationships/font" Target="fonts/font1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‹Nº›</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Somos el equipo del Modulo Financiero para Puertas Blindadas. En esta presentación mostraremos el Incremento 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presentación se organiza en una visión general del incremento, luego una revisión de la modologia utilizada y finalmente dos requerimientos representativos del negocio.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Para este primer incremento se consideran 23 requerimientos funcionales, equivalentes aproximadamente al 32% del proyecto total.</a:t>
            </a:r>
          </a:p>
          <a:p>
            <a:r>
              <a:rPr lang="en-US"/>
              <a:t>Este incremento cubre principalmente dos áreas: la integración y ficha de clientes, y las cotizaciones y notas de venta.</a:t>
            </a:r>
          </a:p>
          <a:p>
            <a:r>
              <a:rPr lang="en-US"/>
              <a:t>Por eso, este incremento permite construir la primera capa funcional sobre la que se apoyarán los siguientes módulos.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diagrama de componentes muestra la separación lógica del sistema.</a:t>
            </a:r>
          </a:p>
          <a:p>
            <a:r>
              <a:rPr lang="en-US"/>
              <a:t>Tenemos una capa de presentación, donde interactúa el usuario; una capa de control o lógica de aplicación, donde se procesan las solicitudes; y una capa de datos, donde se consulta o actualiza la información en PostgreSQL.</a:t>
            </a:r>
          </a:p>
          <a:p>
            <a:r>
              <a:rPr lang="en-US"/>
              <a:t>Esta división permite que cada parte tenga una responsabilidad clara y facilita el mantenimiento del sistema.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 el diagrama de despliegue se muestra cómo se distribuye el sistema a nivel de infraestructura.</a:t>
            </a:r>
          </a:p>
          <a:p>
            <a:r>
              <a:rPr lang="en-US"/>
              <a:t>La aplicación se comunica con una base de datos centralizada, lo que permite reemplazar registros dispersos o manuales por información persistente, ordenada y disponible para los distintos procesos financieros.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Aqui se puede ver el segmento del modelo de datos que representa cómo se estructura la información necesaria para este incremento.</a:t>
            </a:r>
          </a:p>
          <a:p>
            <a:r>
              <a:rPr lang="en-US"/>
              <a:t>Lo importante es que las entidades no quedan aisladas: el cliente se relaciona con su ficha financiera, sus cotizaciones, sus notas de venta y, posteriormente, con pagos y documentos asociados.</a:t>
            </a:r>
          </a:p>
          <a:p>
            <a:r>
              <a:rPr lang="en-US"/>
              <a:t>Esto permite mantener trazabilidad entre lo que se cotiza, lo que se vende y lo que después podrá cobrarse o reportarse.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Para este incremento se consideran las siguientes vistas: Catálogo de Clientes, Ficha Financiera, Gestión de Cotizaciones, Nota de Venta Directa y Gestión de Nota de Venta.</a:t>
            </a:r>
          </a:p>
          <a:p>
            <a:endParaRPr lang="en-US"/>
          </a:p>
          <a:p>
            <a:r>
              <a:rPr lang="en-US"/>
              <a:t>Cada una agrupa las funcionalidades asociadas a los requerimientos del incremento. Por ejemplo, el catálogo permite cargar, buscar y filtrar clientes; la ficha financiera permite consultar el historial del cliente; la gestión de cotizaciones concentra el cálculo y aprobación de cotizaciones; y las vistas de nota de venta permiten crear ventas directas, aplicar descuentos, manejar divisas, impuestos, folios y anulaciones.</a:t>
            </a:r>
          </a:p>
          <a:p>
            <a:endParaRPr lang="en-US"/>
          </a:p>
          <a:p>
            <a:r>
              <a:rPr lang="en-US"/>
              <a:t>De esta forma, el árbol permite visualizar cómo los 23 requerimientos funcionales del incremento se traducen en navegación concreta dentro del sistema.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primer requerimiento representativo de este incremento es el requerimiento RF02, el cuál permite al usuario visualizar la información financiera del cliente, sin modificarla. La Ficha financiera del cliente almacena los datos de contacto, el historial de notas de venta y los pagos asociados a este.</a:t>
            </a:r>
          </a:p>
          <a:p>
            <a:endParaRPr lang="en-US"/>
          </a:p>
          <a:p>
            <a:r>
              <a:rPr lang="en-US"/>
              <a:t>Permitiendo una rápida evaluación del comportamiento de pago, el historial comercial y el estado de deudas del cliente.</a:t>
            </a:r>
          </a:p>
          <a:p>
            <a:endParaRPr lang="en-US"/>
          </a:p>
          <a:p>
            <a:r>
              <a:rPr lang="en-US"/>
              <a:t>Este requerimiento pasa al UR 1.2, y se visualiza en el Caso de Uso 02, manteniendo el mismo procedimiento.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Tanto en el caso de uso como en el diagrama de caso de uso se muestra la interacción del usuario con la consulta de la ficha financiera, donde el usuario solicita esta información del cliente, y estas solicitudes se dirigen a la Base de Datos para obtener los datos del cliente, las notas de venta y pagos asociados.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 el diagrama de secuencia se muestra el comportamiento interno del sistema ante estas consultas del usuario. Por tanto el usuario consulta en la vista Ficha Cliente, la ficha del cliente seleccionado, esta consulta pasa por el controlador del modulo de finanzas, luego por los controladores pertinentes para los datos, las notas de venta y los pagos asociados. Para después devolver la ficha completa con esta información financiera.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excepción de este diagrama, es cuando el cliente no tiene registros de Nota de ventas o pagos asociados, por tanto el sistema informa que el cliente seleccionado no posee un historial comercial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segundo requerimiento destacado es el RF19, correspondiente a la aplicación manual de descuentos monetarios al valor total de venta.</a:t>
            </a:r>
          </a:p>
          <a:p>
            <a:endParaRPr lang="en-US"/>
          </a:p>
          <a:p>
            <a:r>
              <a:rPr lang="en-US"/>
              <a:t>Este requerimiento permite aplicar una rebaja comercial sobre una nota de venta, ya sea como monto fijo o como porcentaje.</a:t>
            </a:r>
          </a:p>
          <a:p>
            <a:endParaRPr lang="en-US"/>
          </a:p>
          <a:p>
            <a:r>
              <a:rPr lang="en-US"/>
              <a:t>Su importancia está en que entrega flexibilidad comercial, pero mantiene el cálculo dentro del sistema. Así se evita modificar valores manualmente o perder trazabilidad sobre el monto original, el descuento aplicado y el total final.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 este caso de uso, el usuario de finanzas aplica un descuento sobre una venta.</a:t>
            </a:r>
          </a:p>
          <a:p>
            <a:endParaRPr lang="en-US"/>
          </a:p>
          <a:p>
            <a:r>
              <a:rPr lang="en-US"/>
              <a:t>El sistema recibe el tipo de descuento, calcula el nuevo total y actualiza la información de la nota de venta.</a:t>
            </a:r>
          </a:p>
          <a:p>
            <a:endParaRPr lang="en-US"/>
          </a:p>
          <a:p>
            <a:r>
              <a:rPr lang="en-US"/>
              <a:t>Esta funcionalidad es útil cuando existen acuerdos comerciales, promociones o ajustes autorizados sobre el precio final.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diagrama de secuencia muestra el proceso completo: el usuario selecciona aplicar descuento, ingresa el valor, el sistema calcula el descuento y obtiene el nuevo saldo.</a:t>
            </a:r>
          </a:p>
          <a:p>
            <a:endParaRPr lang="en-US"/>
          </a:p>
          <a:p>
            <a:r>
              <a:rPr lang="en-US"/>
              <a:t>Luego, antes de guardar, se valida la operación y se actualiza la nota de venta en la base de datos.</a:t>
            </a:r>
          </a:p>
          <a:p>
            <a:endParaRPr lang="en-US"/>
          </a:p>
          <a:p>
            <a:r>
              <a:rPr lang="en-US"/>
              <a:t>Esto asegura que el descuento no quede solo como un cálculo visual, sino como una modificación persistente y trazable.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 los escenarios de excepción se consideran casos como un descuento inválido, un porcentaje fuera de rango o un monto mayor al total de la venta.</a:t>
            </a:r>
          </a:p>
          <a:p>
            <a:endParaRPr lang="en-US"/>
          </a:p>
          <a:p>
            <a:r>
              <a:rPr lang="en-US"/>
              <a:t>En esos casos, el sistema debe bloquear la operación y mostrar un mensaje de error.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También se consideran errores al momento de guardar o validar la operación.</a:t>
            </a:r>
          </a:p>
          <a:p>
            <a:endParaRPr lang="en-US"/>
          </a:p>
          <a:p>
            <a:r>
              <a:rPr lang="en-US"/>
              <a:t>La idea es evitar que una nota de venta quede en un estado inconsistente si ocurre un problema durante el proceso.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 esto terminamos la explicación del incremento y pasamos a la demostración, donde se evidenciará cómo estos requerimientos se reflejan en el funcionamiento del sistema.</a:t>
            </a:r>
          </a:p>
          <a:p>
            <a:endParaRPr lang="en-US"/>
          </a:p>
          <a:p>
            <a:r>
              <a:rPr lang="en-US"/>
              <a:t>Desde este punto comienza la demo, que tiene duración aparte.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Somos el equipo del Modulo Financiero para Puertas Blindadas. En esta presentación mostraremos el Incremento 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sv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sv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12.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3.svg"/><Relationship Id="rId9" Type="http://schemas.openxmlformats.org/officeDocument/2006/relationships/image" Target="../media/image24.jpe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5.jpe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3.sv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6.jpe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3.sv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7.jpe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3.svg"/></Relationships>
</file>

<file path=ppt/slides/_rels/slide1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12.png"/><Relationship Id="rId7"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3.svg"/><Relationship Id="rId9" Type="http://schemas.openxmlformats.org/officeDocument/2006/relationships/image" Target="../media/image28.jpe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9.jpe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3.sv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3.sv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3.sv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3.svg"/></Relationships>
</file>

<file path=ppt/slides/_rels/slide17.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slideLayout" Target="../slideLayouts/slideLayout7.xml"/><Relationship Id="rId7" Type="http://schemas.openxmlformats.org/officeDocument/2006/relationships/image" Target="../media/image35.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notesSlide" Target="../notesSlides/notesSlide17.xml"/><Relationship Id="rId9" Type="http://schemas.openxmlformats.org/officeDocument/2006/relationships/image" Target="../media/image37.jpe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4432416" y="4521897"/>
            <a:ext cx="7613660" cy="761366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grpSp>
        <p:nvGrpSpPr>
          <p:cNvPr id="5" name="Group 5"/>
          <p:cNvGrpSpPr/>
          <p:nvPr/>
        </p:nvGrpSpPr>
        <p:grpSpPr>
          <a:xfrm>
            <a:off x="-106638" y="7971220"/>
            <a:ext cx="18501275" cy="2547950"/>
            <a:chOff x="0" y="0"/>
            <a:chExt cx="4872764" cy="671065"/>
          </a:xfrm>
        </p:grpSpPr>
        <p:sp>
          <p:nvSpPr>
            <p:cNvPr id="6" name="Freeform 6"/>
            <p:cNvSpPr/>
            <p:nvPr/>
          </p:nvSpPr>
          <p:spPr>
            <a:xfrm>
              <a:off x="0" y="0"/>
              <a:ext cx="4872764" cy="671065"/>
            </a:xfrm>
            <a:custGeom>
              <a:avLst/>
              <a:gdLst/>
              <a:ahLst/>
              <a:cxnLst/>
              <a:rect l="l" t="t" r="r" b="b"/>
              <a:pathLst>
                <a:path w="4872764" h="671065">
                  <a:moveTo>
                    <a:pt x="0" y="0"/>
                  </a:moveTo>
                  <a:lnTo>
                    <a:pt x="4872764" y="0"/>
                  </a:lnTo>
                  <a:lnTo>
                    <a:pt x="4872764" y="671065"/>
                  </a:lnTo>
                  <a:lnTo>
                    <a:pt x="0" y="671065"/>
                  </a:lnTo>
                  <a:close/>
                </a:path>
              </a:pathLst>
            </a:custGeom>
            <a:solidFill>
              <a:srgbClr val="545454"/>
            </a:solidFill>
          </p:spPr>
        </p:sp>
        <p:sp>
          <p:nvSpPr>
            <p:cNvPr id="7" name="TextBox 7"/>
            <p:cNvSpPr txBox="1"/>
            <p:nvPr/>
          </p:nvSpPr>
          <p:spPr>
            <a:xfrm>
              <a:off x="0" y="-38100"/>
              <a:ext cx="4872764" cy="709165"/>
            </a:xfrm>
            <a:prstGeom prst="rect">
              <a:avLst/>
            </a:prstGeom>
          </p:spPr>
          <p:txBody>
            <a:bodyPr lIns="50800" tIns="50800" rIns="50800" bIns="50800" rtlCol="0" anchor="ctr"/>
            <a:lstStyle/>
            <a:p>
              <a:pPr algn="ctr">
                <a:lnSpc>
                  <a:spcPts val="2380"/>
                </a:lnSpc>
              </a:pPr>
              <a:endParaRPr/>
            </a:p>
          </p:txBody>
        </p:sp>
      </p:grpSp>
      <p:grpSp>
        <p:nvGrpSpPr>
          <p:cNvPr id="8" name="Group 8"/>
          <p:cNvGrpSpPr/>
          <p:nvPr/>
        </p:nvGrpSpPr>
        <p:grpSpPr>
          <a:xfrm>
            <a:off x="13172228" y="2080353"/>
            <a:ext cx="2291432" cy="229143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sp>
        <p:nvSpPr>
          <p:cNvPr id="11" name="Freeform 11"/>
          <p:cNvSpPr/>
          <p:nvPr/>
        </p:nvSpPr>
        <p:spPr>
          <a:xfrm flipH="1">
            <a:off x="10749198" y="6312597"/>
            <a:ext cx="4714462" cy="420373"/>
          </a:xfrm>
          <a:custGeom>
            <a:avLst/>
            <a:gdLst/>
            <a:ahLst/>
            <a:cxnLst/>
            <a:rect l="l" t="t" r="r" b="b"/>
            <a:pathLst>
              <a:path w="4714462" h="420373">
                <a:moveTo>
                  <a:pt x="4714463" y="0"/>
                </a:moveTo>
                <a:lnTo>
                  <a:pt x="0" y="0"/>
                </a:lnTo>
                <a:lnTo>
                  <a:pt x="0" y="420373"/>
                </a:lnTo>
                <a:lnTo>
                  <a:pt x="4714463" y="420373"/>
                </a:lnTo>
                <a:lnTo>
                  <a:pt x="4714463"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2" name="Group 12"/>
          <p:cNvGrpSpPr/>
          <p:nvPr/>
        </p:nvGrpSpPr>
        <p:grpSpPr>
          <a:xfrm>
            <a:off x="-2609694" y="5597423"/>
            <a:ext cx="4689577" cy="4689577"/>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soli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grpSp>
        <p:nvGrpSpPr>
          <p:cNvPr id="15" name="Group 15"/>
          <p:cNvGrpSpPr/>
          <p:nvPr/>
        </p:nvGrpSpPr>
        <p:grpSpPr>
          <a:xfrm>
            <a:off x="14740038" y="-3443680"/>
            <a:ext cx="6669748" cy="6669748"/>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p:spPr>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sp>
        <p:nvSpPr>
          <p:cNvPr id="18" name="Freeform 18"/>
          <p:cNvSpPr/>
          <p:nvPr/>
        </p:nvSpPr>
        <p:spPr>
          <a:xfrm>
            <a:off x="14317944" y="8835817"/>
            <a:ext cx="1145716" cy="422483"/>
          </a:xfrm>
          <a:custGeom>
            <a:avLst/>
            <a:gdLst/>
            <a:ahLst/>
            <a:cxnLst/>
            <a:rect l="l" t="t" r="r" b="b"/>
            <a:pathLst>
              <a:path w="1145716" h="422483">
                <a:moveTo>
                  <a:pt x="0" y="0"/>
                </a:moveTo>
                <a:lnTo>
                  <a:pt x="1145717" y="0"/>
                </a:lnTo>
                <a:lnTo>
                  <a:pt x="1145717" y="422483"/>
                </a:lnTo>
                <a:lnTo>
                  <a:pt x="0" y="42248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9" name="TextBox 19"/>
          <p:cNvSpPr txBox="1"/>
          <p:nvPr/>
        </p:nvSpPr>
        <p:spPr>
          <a:xfrm>
            <a:off x="2523541" y="2461975"/>
            <a:ext cx="13797808" cy="2854324"/>
          </a:xfrm>
          <a:prstGeom prst="rect">
            <a:avLst/>
          </a:prstGeom>
        </p:spPr>
        <p:txBody>
          <a:bodyPr lIns="0" tIns="0" rIns="0" bIns="0" rtlCol="0" anchor="t">
            <a:spAutoFit/>
          </a:bodyPr>
          <a:lstStyle/>
          <a:p>
            <a:pPr algn="ctr">
              <a:lnSpc>
                <a:spcPts val="10299"/>
              </a:lnSpc>
            </a:pPr>
            <a:r>
              <a:rPr lang="en-US" sz="9999">
                <a:solidFill>
                  <a:srgbClr val="000000"/>
                </a:solidFill>
                <a:latin typeface="Impact"/>
                <a:ea typeface="Impact"/>
                <a:cs typeface="Impact"/>
                <a:sym typeface="Impact"/>
              </a:rPr>
              <a:t>GRUPO 18:PUERTAS BLINDADAS - MODULO FINANCIERO</a:t>
            </a:r>
          </a:p>
        </p:txBody>
      </p:sp>
      <p:sp>
        <p:nvSpPr>
          <p:cNvPr id="20" name="TextBox 20"/>
          <p:cNvSpPr txBox="1"/>
          <p:nvPr/>
        </p:nvSpPr>
        <p:spPr>
          <a:xfrm>
            <a:off x="4349834" y="5678872"/>
            <a:ext cx="5851822" cy="1758948"/>
          </a:xfrm>
          <a:prstGeom prst="rect">
            <a:avLst/>
          </a:prstGeom>
        </p:spPr>
        <p:txBody>
          <a:bodyPr lIns="0" tIns="0" rIns="0" bIns="0" rtlCol="0" anchor="t">
            <a:spAutoFit/>
          </a:bodyPr>
          <a:lstStyle/>
          <a:p>
            <a:pPr algn="just">
              <a:lnSpc>
                <a:spcPts val="2800"/>
              </a:lnSpc>
            </a:pPr>
            <a:r>
              <a:rPr lang="en-US" sz="2000" b="1">
                <a:solidFill>
                  <a:srgbClr val="7D7C7C"/>
                </a:solidFill>
                <a:latin typeface="Inter Medium"/>
                <a:ea typeface="Inter Medium"/>
                <a:cs typeface="Inter Medium"/>
                <a:sym typeface="Inter Medium"/>
              </a:rPr>
              <a:t>Angella Sanchez</a:t>
            </a:r>
          </a:p>
          <a:p>
            <a:pPr algn="just">
              <a:lnSpc>
                <a:spcPts val="2800"/>
              </a:lnSpc>
            </a:pPr>
            <a:r>
              <a:rPr lang="en-US" sz="2000" b="1">
                <a:solidFill>
                  <a:srgbClr val="7D7C7C"/>
                </a:solidFill>
                <a:latin typeface="Inter Medium"/>
                <a:ea typeface="Inter Medium"/>
                <a:cs typeface="Inter Medium"/>
                <a:sym typeface="Inter Medium"/>
              </a:rPr>
              <a:t>Daniella Lecanda</a:t>
            </a:r>
          </a:p>
          <a:p>
            <a:pPr algn="just">
              <a:lnSpc>
                <a:spcPts val="2800"/>
              </a:lnSpc>
            </a:pPr>
            <a:r>
              <a:rPr lang="en-US" sz="2000" b="1">
                <a:solidFill>
                  <a:srgbClr val="7D7C7C"/>
                </a:solidFill>
                <a:latin typeface="Inter Medium"/>
                <a:ea typeface="Inter Medium"/>
                <a:cs typeface="Inter Medium"/>
                <a:sym typeface="Inter Medium"/>
              </a:rPr>
              <a:t>Gianella Catalán</a:t>
            </a:r>
          </a:p>
          <a:p>
            <a:pPr algn="just">
              <a:lnSpc>
                <a:spcPts val="2800"/>
              </a:lnSpc>
            </a:pPr>
            <a:r>
              <a:rPr lang="en-US" sz="2000" b="1">
                <a:solidFill>
                  <a:srgbClr val="7D7C7C"/>
                </a:solidFill>
                <a:latin typeface="Inter Medium"/>
                <a:ea typeface="Inter Medium"/>
                <a:cs typeface="Inter Medium"/>
                <a:sym typeface="Inter Medium"/>
              </a:rPr>
              <a:t>Sebastian Bravo</a:t>
            </a:r>
          </a:p>
          <a:p>
            <a:pPr algn="just">
              <a:lnSpc>
                <a:spcPts val="2800"/>
              </a:lnSpc>
            </a:pPr>
            <a:r>
              <a:rPr lang="en-US" sz="2000" b="1">
                <a:solidFill>
                  <a:srgbClr val="7D7C7C"/>
                </a:solidFill>
                <a:latin typeface="Inter Medium"/>
                <a:ea typeface="Inter Medium"/>
                <a:cs typeface="Inter Medium"/>
                <a:sym typeface="Inter Medium"/>
              </a:rPr>
              <a:t>Vicente Hernandez</a:t>
            </a:r>
          </a:p>
        </p:txBody>
      </p:sp>
      <p:sp>
        <p:nvSpPr>
          <p:cNvPr id="21" name="Freeform 21"/>
          <p:cNvSpPr/>
          <p:nvPr/>
        </p:nvSpPr>
        <p:spPr>
          <a:xfrm>
            <a:off x="285085" y="176461"/>
            <a:ext cx="5519290" cy="2028339"/>
          </a:xfrm>
          <a:custGeom>
            <a:avLst/>
            <a:gdLst/>
            <a:ahLst/>
            <a:cxnLst/>
            <a:rect l="l" t="t" r="r" b="b"/>
            <a:pathLst>
              <a:path w="5519290" h="2028339">
                <a:moveTo>
                  <a:pt x="0" y="0"/>
                </a:moveTo>
                <a:lnTo>
                  <a:pt x="5519289" y="0"/>
                </a:lnTo>
                <a:lnTo>
                  <a:pt x="5519289" y="2028339"/>
                </a:lnTo>
                <a:lnTo>
                  <a:pt x="0" y="2028339"/>
                </a:lnTo>
                <a:lnTo>
                  <a:pt x="0" y="0"/>
                </a:lnTo>
                <a:close/>
              </a:path>
            </a:pathLst>
          </a:custGeom>
          <a:blipFill>
            <a:blip r:embed="rId7"/>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3788828" y="1384925"/>
            <a:ext cx="3479997" cy="6695343"/>
            <a:chOff x="0" y="0"/>
            <a:chExt cx="916542" cy="1763383"/>
          </a:xfrm>
        </p:grpSpPr>
        <p:sp>
          <p:nvSpPr>
            <p:cNvPr id="3" name="Freeform 3"/>
            <p:cNvSpPr/>
            <p:nvPr/>
          </p:nvSpPr>
          <p:spPr>
            <a:xfrm>
              <a:off x="0" y="0"/>
              <a:ext cx="916542" cy="1763382"/>
            </a:xfrm>
            <a:custGeom>
              <a:avLst/>
              <a:gdLst/>
              <a:ahLst/>
              <a:cxnLst/>
              <a:rect l="l" t="t" r="r" b="b"/>
              <a:pathLst>
                <a:path w="916542" h="1763382">
                  <a:moveTo>
                    <a:pt x="0" y="0"/>
                  </a:moveTo>
                  <a:lnTo>
                    <a:pt x="916542" y="0"/>
                  </a:lnTo>
                  <a:lnTo>
                    <a:pt x="916542" y="1763382"/>
                  </a:lnTo>
                  <a:lnTo>
                    <a:pt x="0" y="1763382"/>
                  </a:lnTo>
                  <a:close/>
                </a:path>
              </a:pathLst>
            </a:custGeom>
            <a:solidFill>
              <a:srgbClr val="545454"/>
            </a:solidFill>
          </p:spPr>
        </p:sp>
        <p:sp>
          <p:nvSpPr>
            <p:cNvPr id="4" name="TextBox 4"/>
            <p:cNvSpPr txBox="1"/>
            <p:nvPr/>
          </p:nvSpPr>
          <p:spPr>
            <a:xfrm>
              <a:off x="0" y="-38100"/>
              <a:ext cx="916542" cy="1801483"/>
            </a:xfrm>
            <a:prstGeom prst="rect">
              <a:avLst/>
            </a:prstGeom>
          </p:spPr>
          <p:txBody>
            <a:bodyPr lIns="50800" tIns="50800" rIns="50800" bIns="50800" rtlCol="0" anchor="ctr"/>
            <a:lstStyle/>
            <a:p>
              <a:pPr algn="ctr">
                <a:lnSpc>
                  <a:spcPts val="2380"/>
                </a:lnSpc>
              </a:pPr>
              <a:endParaRPr/>
            </a:p>
          </p:txBody>
        </p:sp>
      </p:grpSp>
      <p:grpSp>
        <p:nvGrpSpPr>
          <p:cNvPr id="5" name="Group 5"/>
          <p:cNvGrpSpPr/>
          <p:nvPr/>
        </p:nvGrpSpPr>
        <p:grpSpPr>
          <a:xfrm>
            <a:off x="5893153" y="5058091"/>
            <a:ext cx="7613660" cy="761366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grpSp>
        <p:nvGrpSpPr>
          <p:cNvPr id="8" name="Group 8"/>
          <p:cNvGrpSpPr/>
          <p:nvPr/>
        </p:nvGrpSpPr>
        <p:grpSpPr>
          <a:xfrm>
            <a:off x="9699983" y="2081059"/>
            <a:ext cx="6409508" cy="8985176"/>
            <a:chOff x="0" y="0"/>
            <a:chExt cx="1688101" cy="2366466"/>
          </a:xfrm>
        </p:grpSpPr>
        <p:sp>
          <p:nvSpPr>
            <p:cNvPr id="9" name="Freeform 9"/>
            <p:cNvSpPr/>
            <p:nvPr/>
          </p:nvSpPr>
          <p:spPr>
            <a:xfrm>
              <a:off x="0" y="0"/>
              <a:ext cx="1688101" cy="2366466"/>
            </a:xfrm>
            <a:custGeom>
              <a:avLst/>
              <a:gdLst/>
              <a:ahLst/>
              <a:cxnLst/>
              <a:rect l="l" t="t" r="r" b="b"/>
              <a:pathLst>
                <a:path w="1688101" h="2366466">
                  <a:moveTo>
                    <a:pt x="0" y="0"/>
                  </a:moveTo>
                  <a:lnTo>
                    <a:pt x="1688101" y="0"/>
                  </a:lnTo>
                  <a:lnTo>
                    <a:pt x="1688101" y="2366466"/>
                  </a:lnTo>
                  <a:lnTo>
                    <a:pt x="0" y="2366466"/>
                  </a:lnTo>
                  <a:close/>
                </a:path>
              </a:pathLst>
            </a:custGeom>
            <a:solidFill>
              <a:srgbClr val="FF873D"/>
            </a:solidFill>
          </p:spPr>
        </p:sp>
        <p:sp>
          <p:nvSpPr>
            <p:cNvPr id="10" name="TextBox 10"/>
            <p:cNvSpPr txBox="1"/>
            <p:nvPr/>
          </p:nvSpPr>
          <p:spPr>
            <a:xfrm>
              <a:off x="0" y="-38100"/>
              <a:ext cx="1688101" cy="2404566"/>
            </a:xfrm>
            <a:prstGeom prst="rect">
              <a:avLst/>
            </a:prstGeom>
          </p:spPr>
          <p:txBody>
            <a:bodyPr lIns="50800" tIns="50800" rIns="50800" bIns="50800" rtlCol="0" anchor="ctr"/>
            <a:lstStyle/>
            <a:p>
              <a:pPr algn="ctr">
                <a:lnSpc>
                  <a:spcPts val="2380"/>
                </a:lnSpc>
              </a:pPr>
              <a:endParaRPr/>
            </a:p>
          </p:txBody>
        </p:sp>
      </p:grpSp>
      <p:grpSp>
        <p:nvGrpSpPr>
          <p:cNvPr id="11" name="Group 11"/>
          <p:cNvGrpSpPr/>
          <p:nvPr/>
        </p:nvGrpSpPr>
        <p:grpSpPr>
          <a:xfrm>
            <a:off x="10502453" y="2507329"/>
            <a:ext cx="709030" cy="70903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3220"/>
                </a:lnSpc>
              </a:pPr>
              <a:r>
                <a:rPr lang="en-US" sz="2300" b="1">
                  <a:solidFill>
                    <a:srgbClr val="FFFFFF"/>
                  </a:solidFill>
                  <a:latin typeface="Inter Medium"/>
                  <a:ea typeface="Inter Medium"/>
                  <a:cs typeface="Inter Medium"/>
                  <a:sym typeface="Inter Medium"/>
                </a:rPr>
                <a:t>1</a:t>
              </a:r>
            </a:p>
          </p:txBody>
        </p:sp>
      </p:grpSp>
      <p:grpSp>
        <p:nvGrpSpPr>
          <p:cNvPr id="14" name="Group 14"/>
          <p:cNvGrpSpPr/>
          <p:nvPr/>
        </p:nvGrpSpPr>
        <p:grpSpPr>
          <a:xfrm>
            <a:off x="10502453" y="3463308"/>
            <a:ext cx="709030" cy="709030"/>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220"/>
                </a:lnSpc>
              </a:pPr>
              <a:r>
                <a:rPr lang="en-US" sz="2300" b="1">
                  <a:solidFill>
                    <a:srgbClr val="FFFFFF"/>
                  </a:solidFill>
                  <a:latin typeface="Inter Medium"/>
                  <a:ea typeface="Inter Medium"/>
                  <a:cs typeface="Inter Medium"/>
                  <a:sym typeface="Inter Medium"/>
                </a:rPr>
                <a:t>2</a:t>
              </a:r>
            </a:p>
          </p:txBody>
        </p:sp>
      </p:grpSp>
      <p:grpSp>
        <p:nvGrpSpPr>
          <p:cNvPr id="17" name="Group 17"/>
          <p:cNvGrpSpPr/>
          <p:nvPr/>
        </p:nvGrpSpPr>
        <p:grpSpPr>
          <a:xfrm>
            <a:off x="10502453" y="4419989"/>
            <a:ext cx="709030" cy="709030"/>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3220"/>
                </a:lnSpc>
              </a:pPr>
              <a:r>
                <a:rPr lang="en-US" sz="2300" b="1">
                  <a:solidFill>
                    <a:srgbClr val="FFFFFF"/>
                  </a:solidFill>
                  <a:latin typeface="Inter Medium"/>
                  <a:ea typeface="Inter Medium"/>
                  <a:cs typeface="Inter Medium"/>
                  <a:sym typeface="Inter Medium"/>
                </a:rPr>
                <a:t>3</a:t>
              </a:r>
            </a:p>
          </p:txBody>
        </p:sp>
      </p:grpSp>
      <p:grpSp>
        <p:nvGrpSpPr>
          <p:cNvPr id="20" name="Group 20"/>
          <p:cNvGrpSpPr/>
          <p:nvPr/>
        </p:nvGrpSpPr>
        <p:grpSpPr>
          <a:xfrm>
            <a:off x="10502453" y="5376669"/>
            <a:ext cx="709030" cy="709030"/>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3220"/>
                </a:lnSpc>
              </a:pPr>
              <a:r>
                <a:rPr lang="en-US" sz="2300" b="1">
                  <a:solidFill>
                    <a:srgbClr val="FFFFFF"/>
                  </a:solidFill>
                  <a:latin typeface="Inter Medium"/>
                  <a:ea typeface="Inter Medium"/>
                  <a:cs typeface="Inter Medium"/>
                  <a:sym typeface="Inter Medium"/>
                </a:rPr>
                <a:t>4</a:t>
              </a:r>
            </a:p>
          </p:txBody>
        </p:sp>
      </p:grpSp>
      <p:grpSp>
        <p:nvGrpSpPr>
          <p:cNvPr id="23" name="Group 23"/>
          <p:cNvGrpSpPr/>
          <p:nvPr/>
        </p:nvGrpSpPr>
        <p:grpSpPr>
          <a:xfrm>
            <a:off x="10502453" y="6333349"/>
            <a:ext cx="709030" cy="709030"/>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5" name="TextBox 25"/>
            <p:cNvSpPr txBox="1"/>
            <p:nvPr/>
          </p:nvSpPr>
          <p:spPr>
            <a:xfrm>
              <a:off x="76200" y="28575"/>
              <a:ext cx="660400" cy="708025"/>
            </a:xfrm>
            <a:prstGeom prst="rect">
              <a:avLst/>
            </a:prstGeom>
          </p:spPr>
          <p:txBody>
            <a:bodyPr lIns="50800" tIns="50800" rIns="50800" bIns="50800" rtlCol="0" anchor="ctr"/>
            <a:lstStyle/>
            <a:p>
              <a:pPr algn="ctr">
                <a:lnSpc>
                  <a:spcPts val="3220"/>
                </a:lnSpc>
              </a:pPr>
              <a:r>
                <a:rPr lang="en-US" sz="2300" b="1">
                  <a:solidFill>
                    <a:srgbClr val="FFFFFF"/>
                  </a:solidFill>
                  <a:latin typeface="Inter Medium"/>
                  <a:ea typeface="Inter Medium"/>
                  <a:cs typeface="Inter Medium"/>
                  <a:sym typeface="Inter Medium"/>
                </a:rPr>
                <a:t>5</a:t>
              </a:r>
            </a:p>
          </p:txBody>
        </p:sp>
      </p:grpSp>
      <p:grpSp>
        <p:nvGrpSpPr>
          <p:cNvPr id="26" name="Group 26"/>
          <p:cNvGrpSpPr/>
          <p:nvPr/>
        </p:nvGrpSpPr>
        <p:grpSpPr>
          <a:xfrm>
            <a:off x="10502453" y="7290029"/>
            <a:ext cx="709030" cy="709030"/>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8" name="TextBox 28"/>
            <p:cNvSpPr txBox="1"/>
            <p:nvPr/>
          </p:nvSpPr>
          <p:spPr>
            <a:xfrm>
              <a:off x="76200" y="28575"/>
              <a:ext cx="660400" cy="708025"/>
            </a:xfrm>
            <a:prstGeom prst="rect">
              <a:avLst/>
            </a:prstGeom>
          </p:spPr>
          <p:txBody>
            <a:bodyPr lIns="50800" tIns="50800" rIns="50800" bIns="50800" rtlCol="0" anchor="ctr"/>
            <a:lstStyle/>
            <a:p>
              <a:pPr algn="ctr">
                <a:lnSpc>
                  <a:spcPts val="3220"/>
                </a:lnSpc>
              </a:pPr>
              <a:r>
                <a:rPr lang="en-US" sz="2300" b="1">
                  <a:solidFill>
                    <a:srgbClr val="FFFFFF"/>
                  </a:solidFill>
                  <a:latin typeface="Inter Medium"/>
                  <a:ea typeface="Inter Medium"/>
                  <a:cs typeface="Inter Medium"/>
                  <a:sym typeface="Inter Medium"/>
                </a:rPr>
                <a:t>6</a:t>
              </a:r>
            </a:p>
          </p:txBody>
        </p:sp>
      </p:grpSp>
      <p:sp>
        <p:nvSpPr>
          <p:cNvPr id="29" name="Freeform 29"/>
          <p:cNvSpPr/>
          <p:nvPr/>
        </p:nvSpPr>
        <p:spPr>
          <a:xfrm>
            <a:off x="1028700" y="7053599"/>
            <a:ext cx="7159730" cy="833132"/>
          </a:xfrm>
          <a:custGeom>
            <a:avLst/>
            <a:gdLst/>
            <a:ahLst/>
            <a:cxnLst/>
            <a:rect l="l" t="t" r="r" b="b"/>
            <a:pathLst>
              <a:path w="7159730" h="833132">
                <a:moveTo>
                  <a:pt x="0" y="0"/>
                </a:moveTo>
                <a:lnTo>
                  <a:pt x="7159730" y="0"/>
                </a:lnTo>
                <a:lnTo>
                  <a:pt x="7159730" y="833132"/>
                </a:lnTo>
                <a:lnTo>
                  <a:pt x="0" y="83313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0" name="Freeform 30"/>
          <p:cNvSpPr/>
          <p:nvPr/>
        </p:nvSpPr>
        <p:spPr>
          <a:xfrm rot="-5400000">
            <a:off x="1687106" y="5007850"/>
            <a:ext cx="239244" cy="1556056"/>
          </a:xfrm>
          <a:custGeom>
            <a:avLst/>
            <a:gdLst/>
            <a:ahLst/>
            <a:cxnLst/>
            <a:rect l="l" t="t" r="r" b="b"/>
            <a:pathLst>
              <a:path w="239244" h="1556056">
                <a:moveTo>
                  <a:pt x="0" y="0"/>
                </a:moveTo>
                <a:lnTo>
                  <a:pt x="239244" y="0"/>
                </a:lnTo>
                <a:lnTo>
                  <a:pt x="239244" y="1556056"/>
                </a:lnTo>
                <a:lnTo>
                  <a:pt x="0" y="155605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1" name="TextBox 31"/>
          <p:cNvSpPr txBox="1"/>
          <p:nvPr/>
        </p:nvSpPr>
        <p:spPr>
          <a:xfrm>
            <a:off x="599780" y="2052484"/>
            <a:ext cx="8783073" cy="1394455"/>
          </a:xfrm>
          <a:prstGeom prst="rect">
            <a:avLst/>
          </a:prstGeom>
        </p:spPr>
        <p:txBody>
          <a:bodyPr lIns="0" tIns="0" rIns="0" bIns="0" rtlCol="0" anchor="t">
            <a:spAutoFit/>
          </a:bodyPr>
          <a:lstStyle/>
          <a:p>
            <a:pPr algn="l">
              <a:lnSpc>
                <a:spcPts val="9269"/>
              </a:lnSpc>
            </a:pPr>
            <a:r>
              <a:rPr lang="en-US" sz="8999" dirty="0">
                <a:solidFill>
                  <a:srgbClr val="000000"/>
                </a:solidFill>
                <a:latin typeface="Impact"/>
                <a:ea typeface="Impact"/>
                <a:cs typeface="Impact"/>
                <a:sym typeface="Impact"/>
              </a:rPr>
              <a:t>TABLA DE CONTENIDOS</a:t>
            </a:r>
          </a:p>
        </p:txBody>
      </p:sp>
      <p:sp>
        <p:nvSpPr>
          <p:cNvPr id="32" name="TextBox 32"/>
          <p:cNvSpPr txBox="1"/>
          <p:nvPr/>
        </p:nvSpPr>
        <p:spPr>
          <a:xfrm>
            <a:off x="1028700" y="4305300"/>
            <a:ext cx="4929247" cy="1308098"/>
          </a:xfrm>
          <a:prstGeom prst="rect">
            <a:avLst/>
          </a:prstGeom>
        </p:spPr>
        <p:txBody>
          <a:bodyPr lIns="0" tIns="0" rIns="0" bIns="0" rtlCol="0" anchor="t">
            <a:spAutoFit/>
          </a:bodyPr>
          <a:lstStyle/>
          <a:p>
            <a:pPr algn="just">
              <a:lnSpc>
                <a:spcPts val="3500"/>
              </a:lnSpc>
            </a:pPr>
            <a:r>
              <a:rPr lang="en-US" sz="2500" dirty="0">
                <a:solidFill>
                  <a:srgbClr val="000000"/>
                </a:solidFill>
                <a:latin typeface="Inter"/>
                <a:ea typeface="Inter"/>
                <a:cs typeface="Inter"/>
                <a:sym typeface="Inter"/>
              </a:rPr>
              <a:t>Para la </a:t>
            </a:r>
            <a:r>
              <a:rPr lang="en-US" sz="2500" dirty="0" err="1">
                <a:solidFill>
                  <a:srgbClr val="000000"/>
                </a:solidFill>
                <a:latin typeface="Inter"/>
                <a:ea typeface="Inter"/>
                <a:cs typeface="Inter"/>
                <a:sym typeface="Inter"/>
              </a:rPr>
              <a:t>siguiente</a:t>
            </a:r>
            <a:r>
              <a:rPr lang="en-US" sz="2500" dirty="0">
                <a:solidFill>
                  <a:srgbClr val="000000"/>
                </a:solidFill>
                <a:latin typeface="Inter"/>
                <a:ea typeface="Inter"/>
                <a:cs typeface="Inter"/>
                <a:sym typeface="Inter"/>
              </a:rPr>
              <a:t> </a:t>
            </a:r>
            <a:r>
              <a:rPr lang="en-US" sz="2500" dirty="0" err="1">
                <a:solidFill>
                  <a:srgbClr val="000000"/>
                </a:solidFill>
                <a:latin typeface="Inter"/>
                <a:ea typeface="Inter"/>
                <a:cs typeface="Inter"/>
                <a:sym typeface="Inter"/>
              </a:rPr>
              <a:t>presentación</a:t>
            </a:r>
            <a:r>
              <a:rPr lang="en-US" sz="2500" dirty="0">
                <a:solidFill>
                  <a:srgbClr val="000000"/>
                </a:solidFill>
                <a:latin typeface="Inter"/>
                <a:ea typeface="Inter"/>
                <a:cs typeface="Inter"/>
                <a:sym typeface="Inter"/>
              </a:rPr>
              <a:t> se </a:t>
            </a:r>
            <a:r>
              <a:rPr lang="en-US" sz="2500" dirty="0" err="1">
                <a:solidFill>
                  <a:srgbClr val="000000"/>
                </a:solidFill>
                <a:latin typeface="Inter"/>
                <a:ea typeface="Inter"/>
                <a:cs typeface="Inter"/>
                <a:sym typeface="Inter"/>
              </a:rPr>
              <a:t>consideran</a:t>
            </a:r>
            <a:r>
              <a:rPr lang="en-US" sz="2500" dirty="0">
                <a:solidFill>
                  <a:srgbClr val="000000"/>
                </a:solidFill>
                <a:latin typeface="Inter"/>
                <a:ea typeface="Inter"/>
                <a:cs typeface="Inter"/>
                <a:sym typeface="Inter"/>
              </a:rPr>
              <a:t> los </a:t>
            </a:r>
            <a:r>
              <a:rPr lang="en-US" sz="2500" dirty="0" err="1">
                <a:solidFill>
                  <a:srgbClr val="000000"/>
                </a:solidFill>
                <a:latin typeface="Inter"/>
                <a:ea typeface="Inter"/>
                <a:cs typeface="Inter"/>
                <a:sym typeface="Inter"/>
              </a:rPr>
              <a:t>siguientes</a:t>
            </a:r>
            <a:r>
              <a:rPr lang="en-US" sz="2500" dirty="0">
                <a:solidFill>
                  <a:srgbClr val="000000"/>
                </a:solidFill>
                <a:latin typeface="Inter"/>
                <a:ea typeface="Inter"/>
                <a:cs typeface="Inter"/>
                <a:sym typeface="Inter"/>
              </a:rPr>
              <a:t> </a:t>
            </a:r>
            <a:r>
              <a:rPr lang="en-US" sz="2500" dirty="0" err="1">
                <a:solidFill>
                  <a:srgbClr val="000000"/>
                </a:solidFill>
                <a:latin typeface="Inter"/>
                <a:ea typeface="Inter"/>
                <a:cs typeface="Inter"/>
                <a:sym typeface="Inter"/>
              </a:rPr>
              <a:t>contenidos</a:t>
            </a:r>
            <a:r>
              <a:rPr lang="en-US" sz="2500" dirty="0">
                <a:solidFill>
                  <a:srgbClr val="000000"/>
                </a:solidFill>
                <a:latin typeface="Inter"/>
                <a:ea typeface="Inter"/>
                <a:cs typeface="Inter"/>
                <a:sym typeface="Inter"/>
              </a:rPr>
              <a:t>.</a:t>
            </a:r>
          </a:p>
        </p:txBody>
      </p:sp>
      <p:sp>
        <p:nvSpPr>
          <p:cNvPr id="33" name="TextBox 33"/>
          <p:cNvSpPr txBox="1"/>
          <p:nvPr/>
        </p:nvSpPr>
        <p:spPr>
          <a:xfrm>
            <a:off x="11543423" y="2635150"/>
            <a:ext cx="3538053" cy="405763"/>
          </a:xfrm>
          <a:prstGeom prst="rect">
            <a:avLst/>
          </a:prstGeom>
        </p:spPr>
        <p:txBody>
          <a:bodyPr lIns="0" tIns="0" rIns="0" bIns="0" rtlCol="0" anchor="t">
            <a:spAutoFit/>
          </a:bodyPr>
          <a:lstStyle/>
          <a:p>
            <a:pPr algn="just">
              <a:lnSpc>
                <a:spcPts val="3360"/>
              </a:lnSpc>
            </a:pPr>
            <a:r>
              <a:rPr lang="en-US" sz="2400" b="1">
                <a:solidFill>
                  <a:srgbClr val="FFFFFF"/>
                </a:solidFill>
                <a:latin typeface="Inter Bold"/>
                <a:ea typeface="Inter Bold"/>
                <a:cs typeface="Inter Bold"/>
                <a:sym typeface="Inter Bold"/>
              </a:rPr>
              <a:t>Introducción</a:t>
            </a:r>
          </a:p>
        </p:txBody>
      </p:sp>
      <p:sp>
        <p:nvSpPr>
          <p:cNvPr id="34" name="TextBox 34"/>
          <p:cNvSpPr txBox="1"/>
          <p:nvPr/>
        </p:nvSpPr>
        <p:spPr>
          <a:xfrm>
            <a:off x="11543423" y="5504490"/>
            <a:ext cx="3538053" cy="405763"/>
          </a:xfrm>
          <a:prstGeom prst="rect">
            <a:avLst/>
          </a:prstGeom>
        </p:spPr>
        <p:txBody>
          <a:bodyPr lIns="0" tIns="0" rIns="0" bIns="0" rtlCol="0" anchor="t">
            <a:spAutoFit/>
          </a:bodyPr>
          <a:lstStyle/>
          <a:p>
            <a:pPr algn="just">
              <a:lnSpc>
                <a:spcPts val="3360"/>
              </a:lnSpc>
            </a:pPr>
            <a:r>
              <a:rPr lang="en-US" sz="2400" b="1">
                <a:solidFill>
                  <a:srgbClr val="FFFFFF"/>
                </a:solidFill>
                <a:latin typeface="Inter Bold"/>
                <a:ea typeface="Inter Bold"/>
                <a:cs typeface="Inter Bold"/>
                <a:sym typeface="Inter Bold"/>
              </a:rPr>
              <a:t>Modelo de Datos</a:t>
            </a:r>
          </a:p>
        </p:txBody>
      </p:sp>
      <p:sp>
        <p:nvSpPr>
          <p:cNvPr id="35" name="TextBox 35"/>
          <p:cNvSpPr txBox="1"/>
          <p:nvPr/>
        </p:nvSpPr>
        <p:spPr>
          <a:xfrm>
            <a:off x="11543423" y="6430983"/>
            <a:ext cx="3538053" cy="405763"/>
          </a:xfrm>
          <a:prstGeom prst="rect">
            <a:avLst/>
          </a:prstGeom>
        </p:spPr>
        <p:txBody>
          <a:bodyPr lIns="0" tIns="0" rIns="0" bIns="0" rtlCol="0" anchor="t">
            <a:spAutoFit/>
          </a:bodyPr>
          <a:lstStyle/>
          <a:p>
            <a:pPr algn="just">
              <a:lnSpc>
                <a:spcPts val="3360"/>
              </a:lnSpc>
            </a:pPr>
            <a:r>
              <a:rPr lang="en-US" sz="2400" b="1">
                <a:solidFill>
                  <a:srgbClr val="FFFFFF"/>
                </a:solidFill>
                <a:latin typeface="Inter Bold"/>
                <a:ea typeface="Inter Bold"/>
                <a:cs typeface="Inter Bold"/>
                <a:sym typeface="Inter Bold"/>
              </a:rPr>
              <a:t>Árbol de Navegación </a:t>
            </a:r>
          </a:p>
        </p:txBody>
      </p:sp>
      <p:sp>
        <p:nvSpPr>
          <p:cNvPr id="36" name="TextBox 36"/>
          <p:cNvSpPr txBox="1"/>
          <p:nvPr/>
        </p:nvSpPr>
        <p:spPr>
          <a:xfrm>
            <a:off x="11543423" y="3574853"/>
            <a:ext cx="4175022" cy="405763"/>
          </a:xfrm>
          <a:prstGeom prst="rect">
            <a:avLst/>
          </a:prstGeom>
        </p:spPr>
        <p:txBody>
          <a:bodyPr lIns="0" tIns="0" rIns="0" bIns="0" rtlCol="0" anchor="t">
            <a:spAutoFit/>
          </a:bodyPr>
          <a:lstStyle/>
          <a:p>
            <a:pPr algn="just">
              <a:lnSpc>
                <a:spcPts val="3360"/>
              </a:lnSpc>
            </a:pPr>
            <a:r>
              <a:rPr lang="en-US" sz="2400" b="1">
                <a:solidFill>
                  <a:srgbClr val="FFFFFF"/>
                </a:solidFill>
                <a:latin typeface="Inter Bold"/>
                <a:ea typeface="Inter Bold"/>
                <a:cs typeface="Inter Bold"/>
                <a:sym typeface="Inter Bold"/>
              </a:rPr>
              <a:t>Diagrama de Componentes</a:t>
            </a:r>
          </a:p>
        </p:txBody>
      </p:sp>
      <p:sp>
        <p:nvSpPr>
          <p:cNvPr id="37" name="TextBox 37"/>
          <p:cNvSpPr txBox="1"/>
          <p:nvPr/>
        </p:nvSpPr>
        <p:spPr>
          <a:xfrm>
            <a:off x="11543423" y="7357477"/>
            <a:ext cx="3538053" cy="824863"/>
          </a:xfrm>
          <a:prstGeom prst="rect">
            <a:avLst/>
          </a:prstGeom>
        </p:spPr>
        <p:txBody>
          <a:bodyPr lIns="0" tIns="0" rIns="0" bIns="0" rtlCol="0" anchor="t">
            <a:spAutoFit/>
          </a:bodyPr>
          <a:lstStyle/>
          <a:p>
            <a:pPr algn="just">
              <a:lnSpc>
                <a:spcPts val="3360"/>
              </a:lnSpc>
            </a:pPr>
            <a:r>
              <a:rPr lang="en-US" sz="2400" b="1">
                <a:solidFill>
                  <a:srgbClr val="FFFFFF"/>
                </a:solidFill>
                <a:latin typeface="Inter Bold"/>
                <a:ea typeface="Inter Bold"/>
                <a:cs typeface="Inter Bold"/>
                <a:sym typeface="Inter Bold"/>
              </a:rPr>
              <a:t>Requerimiento 2</a:t>
            </a:r>
          </a:p>
          <a:p>
            <a:pPr algn="just">
              <a:lnSpc>
                <a:spcPts val="3360"/>
              </a:lnSpc>
            </a:pPr>
            <a:endParaRPr lang="en-US" sz="2400" b="1">
              <a:solidFill>
                <a:srgbClr val="FFFFFF"/>
              </a:solidFill>
              <a:latin typeface="Inter Bold"/>
              <a:ea typeface="Inter Bold"/>
              <a:cs typeface="Inter Bold"/>
              <a:sym typeface="Inter Bold"/>
            </a:endParaRPr>
          </a:p>
        </p:txBody>
      </p:sp>
      <p:sp>
        <p:nvSpPr>
          <p:cNvPr id="38" name="TextBox 38"/>
          <p:cNvSpPr txBox="1"/>
          <p:nvPr/>
        </p:nvSpPr>
        <p:spPr>
          <a:xfrm>
            <a:off x="11543423" y="8374530"/>
            <a:ext cx="3538053" cy="405763"/>
          </a:xfrm>
          <a:prstGeom prst="rect">
            <a:avLst/>
          </a:prstGeom>
        </p:spPr>
        <p:txBody>
          <a:bodyPr lIns="0" tIns="0" rIns="0" bIns="0" rtlCol="0" anchor="t">
            <a:spAutoFit/>
          </a:bodyPr>
          <a:lstStyle/>
          <a:p>
            <a:pPr algn="just">
              <a:lnSpc>
                <a:spcPts val="3360"/>
              </a:lnSpc>
            </a:pPr>
            <a:r>
              <a:rPr lang="en-US" sz="2400" b="1">
                <a:solidFill>
                  <a:srgbClr val="FFFFFF"/>
                </a:solidFill>
                <a:latin typeface="Inter Bold"/>
                <a:ea typeface="Inter Bold"/>
                <a:cs typeface="Inter Bold"/>
                <a:sym typeface="Inter Bold"/>
              </a:rPr>
              <a:t>Requerimiento 19</a:t>
            </a:r>
          </a:p>
        </p:txBody>
      </p:sp>
      <p:grpSp>
        <p:nvGrpSpPr>
          <p:cNvPr id="39" name="Group 39"/>
          <p:cNvGrpSpPr/>
          <p:nvPr/>
        </p:nvGrpSpPr>
        <p:grpSpPr>
          <a:xfrm>
            <a:off x="10502453" y="8246709"/>
            <a:ext cx="709030" cy="709030"/>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1" name="TextBox 41"/>
            <p:cNvSpPr txBox="1"/>
            <p:nvPr/>
          </p:nvSpPr>
          <p:spPr>
            <a:xfrm>
              <a:off x="76200" y="28575"/>
              <a:ext cx="660400" cy="708025"/>
            </a:xfrm>
            <a:prstGeom prst="rect">
              <a:avLst/>
            </a:prstGeom>
          </p:spPr>
          <p:txBody>
            <a:bodyPr lIns="50800" tIns="50800" rIns="50800" bIns="50800" rtlCol="0" anchor="ctr"/>
            <a:lstStyle/>
            <a:p>
              <a:pPr algn="ctr">
                <a:lnSpc>
                  <a:spcPts val="3220"/>
                </a:lnSpc>
              </a:pPr>
              <a:r>
                <a:rPr lang="en-US" sz="2300" b="1">
                  <a:solidFill>
                    <a:srgbClr val="FFFFFF"/>
                  </a:solidFill>
                  <a:latin typeface="Inter Medium"/>
                  <a:ea typeface="Inter Medium"/>
                  <a:cs typeface="Inter Medium"/>
                  <a:sym typeface="Inter Medium"/>
                </a:rPr>
                <a:t>7</a:t>
              </a:r>
            </a:p>
          </p:txBody>
        </p:sp>
      </p:grpSp>
      <p:sp>
        <p:nvSpPr>
          <p:cNvPr id="42" name="TextBox 42"/>
          <p:cNvSpPr txBox="1"/>
          <p:nvPr/>
        </p:nvSpPr>
        <p:spPr>
          <a:xfrm>
            <a:off x="11543423" y="9328563"/>
            <a:ext cx="3538053" cy="405763"/>
          </a:xfrm>
          <a:prstGeom prst="rect">
            <a:avLst/>
          </a:prstGeom>
        </p:spPr>
        <p:txBody>
          <a:bodyPr lIns="0" tIns="0" rIns="0" bIns="0" rtlCol="0" anchor="t">
            <a:spAutoFit/>
          </a:bodyPr>
          <a:lstStyle/>
          <a:p>
            <a:pPr algn="just">
              <a:lnSpc>
                <a:spcPts val="3360"/>
              </a:lnSpc>
            </a:pPr>
            <a:r>
              <a:rPr lang="en-US" sz="2400" b="1">
                <a:solidFill>
                  <a:srgbClr val="FFFFFF"/>
                </a:solidFill>
                <a:latin typeface="Inter Bold"/>
                <a:ea typeface="Inter Bold"/>
                <a:cs typeface="Inter Bold"/>
                <a:sym typeface="Inter Bold"/>
              </a:rPr>
              <a:t>Demostración </a:t>
            </a:r>
          </a:p>
        </p:txBody>
      </p:sp>
      <p:grpSp>
        <p:nvGrpSpPr>
          <p:cNvPr id="43" name="Group 43"/>
          <p:cNvGrpSpPr/>
          <p:nvPr/>
        </p:nvGrpSpPr>
        <p:grpSpPr>
          <a:xfrm>
            <a:off x="10502453" y="9203389"/>
            <a:ext cx="709030" cy="709030"/>
            <a:chOff x="0" y="0"/>
            <a:chExt cx="812800" cy="812800"/>
          </a:xfrm>
        </p:grpSpPr>
        <p:sp>
          <p:nvSpPr>
            <p:cNvPr id="44" name="Freeform 4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5" name="TextBox 45"/>
            <p:cNvSpPr txBox="1"/>
            <p:nvPr/>
          </p:nvSpPr>
          <p:spPr>
            <a:xfrm>
              <a:off x="76200" y="28575"/>
              <a:ext cx="660400" cy="708025"/>
            </a:xfrm>
            <a:prstGeom prst="rect">
              <a:avLst/>
            </a:prstGeom>
          </p:spPr>
          <p:txBody>
            <a:bodyPr lIns="50800" tIns="50800" rIns="50800" bIns="50800" rtlCol="0" anchor="ctr"/>
            <a:lstStyle/>
            <a:p>
              <a:pPr algn="ctr">
                <a:lnSpc>
                  <a:spcPts val="3220"/>
                </a:lnSpc>
              </a:pPr>
              <a:r>
                <a:rPr lang="en-US" sz="2300" b="1">
                  <a:solidFill>
                    <a:srgbClr val="FFFFFF"/>
                  </a:solidFill>
                  <a:latin typeface="Inter Medium"/>
                  <a:ea typeface="Inter Medium"/>
                  <a:cs typeface="Inter Medium"/>
                  <a:sym typeface="Inter Medium"/>
                </a:rPr>
                <a:t>8</a:t>
              </a:r>
            </a:p>
          </p:txBody>
        </p:sp>
      </p:grpSp>
      <p:sp>
        <p:nvSpPr>
          <p:cNvPr id="46" name="TextBox 46"/>
          <p:cNvSpPr txBox="1"/>
          <p:nvPr/>
        </p:nvSpPr>
        <p:spPr>
          <a:xfrm>
            <a:off x="11514548" y="4533067"/>
            <a:ext cx="3834485" cy="405763"/>
          </a:xfrm>
          <a:prstGeom prst="rect">
            <a:avLst/>
          </a:prstGeom>
        </p:spPr>
        <p:txBody>
          <a:bodyPr lIns="0" tIns="0" rIns="0" bIns="0" rtlCol="0" anchor="t">
            <a:spAutoFit/>
          </a:bodyPr>
          <a:lstStyle/>
          <a:p>
            <a:pPr algn="just">
              <a:lnSpc>
                <a:spcPts val="3360"/>
              </a:lnSpc>
            </a:pPr>
            <a:r>
              <a:rPr lang="en-US" sz="2400" b="1">
                <a:solidFill>
                  <a:srgbClr val="FFFFFF"/>
                </a:solidFill>
                <a:latin typeface="Inter Bold"/>
                <a:ea typeface="Inter Bold"/>
                <a:cs typeface="Inter Bold"/>
                <a:sym typeface="Inter Bold"/>
              </a:rPr>
              <a:t>Diagrama de Despliegue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2822684" y="6496485"/>
            <a:ext cx="7613660" cy="761366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grpSp>
        <p:nvGrpSpPr>
          <p:cNvPr id="5" name="Group 5"/>
          <p:cNvGrpSpPr/>
          <p:nvPr/>
        </p:nvGrpSpPr>
        <p:grpSpPr>
          <a:xfrm>
            <a:off x="1028700" y="7478728"/>
            <a:ext cx="16230600" cy="2109051"/>
            <a:chOff x="0" y="0"/>
            <a:chExt cx="4274726" cy="555470"/>
          </a:xfrm>
        </p:grpSpPr>
        <p:sp>
          <p:nvSpPr>
            <p:cNvPr id="6" name="Freeform 6"/>
            <p:cNvSpPr/>
            <p:nvPr/>
          </p:nvSpPr>
          <p:spPr>
            <a:xfrm>
              <a:off x="0" y="0"/>
              <a:ext cx="4274726" cy="555470"/>
            </a:xfrm>
            <a:custGeom>
              <a:avLst/>
              <a:gdLst/>
              <a:ahLst/>
              <a:cxnLst/>
              <a:rect l="l" t="t" r="r" b="b"/>
              <a:pathLst>
                <a:path w="4274726" h="555470">
                  <a:moveTo>
                    <a:pt x="0" y="0"/>
                  </a:moveTo>
                  <a:lnTo>
                    <a:pt x="4274726" y="0"/>
                  </a:lnTo>
                  <a:lnTo>
                    <a:pt x="4274726" y="555470"/>
                  </a:lnTo>
                  <a:lnTo>
                    <a:pt x="0" y="555470"/>
                  </a:lnTo>
                  <a:close/>
                </a:path>
              </a:pathLst>
            </a:custGeom>
            <a:solidFill>
              <a:srgbClr val="FF873D"/>
            </a:solidFill>
          </p:spPr>
        </p:sp>
        <p:sp>
          <p:nvSpPr>
            <p:cNvPr id="7" name="TextBox 7"/>
            <p:cNvSpPr txBox="1"/>
            <p:nvPr/>
          </p:nvSpPr>
          <p:spPr>
            <a:xfrm>
              <a:off x="0" y="-38100"/>
              <a:ext cx="4274726" cy="593570"/>
            </a:xfrm>
            <a:prstGeom prst="rect">
              <a:avLst/>
            </a:prstGeom>
          </p:spPr>
          <p:txBody>
            <a:bodyPr lIns="50800" tIns="50800" rIns="50800" bIns="50800" rtlCol="0" anchor="ctr"/>
            <a:lstStyle/>
            <a:p>
              <a:pPr algn="ctr">
                <a:lnSpc>
                  <a:spcPts val="2380"/>
                </a:lnSpc>
              </a:pPr>
              <a:endParaRPr/>
            </a:p>
          </p:txBody>
        </p:sp>
      </p:grpSp>
      <p:sp>
        <p:nvSpPr>
          <p:cNvPr id="8" name="Freeform 8"/>
          <p:cNvSpPr/>
          <p:nvPr/>
        </p:nvSpPr>
        <p:spPr>
          <a:xfrm rot="-5400000">
            <a:off x="1589307" y="-385887"/>
            <a:ext cx="219896" cy="1430217"/>
          </a:xfrm>
          <a:custGeom>
            <a:avLst/>
            <a:gdLst/>
            <a:ahLst/>
            <a:cxnLst/>
            <a:rect l="l" t="t" r="r" b="b"/>
            <a:pathLst>
              <a:path w="219896" h="1430217">
                <a:moveTo>
                  <a:pt x="0" y="0"/>
                </a:moveTo>
                <a:lnTo>
                  <a:pt x="219896" y="0"/>
                </a:lnTo>
                <a:lnTo>
                  <a:pt x="219896" y="1430217"/>
                </a:lnTo>
                <a:lnTo>
                  <a:pt x="0" y="143021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9" name="Group 9"/>
          <p:cNvGrpSpPr/>
          <p:nvPr/>
        </p:nvGrpSpPr>
        <p:grpSpPr>
          <a:xfrm>
            <a:off x="2060387" y="6658884"/>
            <a:ext cx="4381697" cy="2212607"/>
            <a:chOff x="0" y="0"/>
            <a:chExt cx="1154027" cy="582744"/>
          </a:xfrm>
        </p:grpSpPr>
        <p:sp>
          <p:nvSpPr>
            <p:cNvPr id="10" name="Freeform 10"/>
            <p:cNvSpPr/>
            <p:nvPr/>
          </p:nvSpPr>
          <p:spPr>
            <a:xfrm>
              <a:off x="0" y="0"/>
              <a:ext cx="1154027" cy="582744"/>
            </a:xfrm>
            <a:custGeom>
              <a:avLst/>
              <a:gdLst/>
              <a:ahLst/>
              <a:cxnLst/>
              <a:rect l="l" t="t" r="r" b="b"/>
              <a:pathLst>
                <a:path w="1154027" h="582744">
                  <a:moveTo>
                    <a:pt x="0" y="0"/>
                  </a:moveTo>
                  <a:lnTo>
                    <a:pt x="1154027" y="0"/>
                  </a:lnTo>
                  <a:lnTo>
                    <a:pt x="1154027" y="582744"/>
                  </a:lnTo>
                  <a:lnTo>
                    <a:pt x="0" y="582744"/>
                  </a:lnTo>
                  <a:close/>
                </a:path>
              </a:pathLst>
            </a:custGeom>
            <a:solidFill>
              <a:srgbClr val="545454"/>
            </a:solidFill>
          </p:spPr>
        </p:sp>
        <p:sp>
          <p:nvSpPr>
            <p:cNvPr id="11" name="TextBox 11"/>
            <p:cNvSpPr txBox="1"/>
            <p:nvPr/>
          </p:nvSpPr>
          <p:spPr>
            <a:xfrm>
              <a:off x="0" y="-38100"/>
              <a:ext cx="1154027" cy="620844"/>
            </a:xfrm>
            <a:prstGeom prst="rect">
              <a:avLst/>
            </a:prstGeom>
          </p:spPr>
          <p:txBody>
            <a:bodyPr lIns="50800" tIns="50800" rIns="50800" bIns="50800" rtlCol="0" anchor="ctr"/>
            <a:lstStyle/>
            <a:p>
              <a:pPr algn="ctr">
                <a:lnSpc>
                  <a:spcPts val="2380"/>
                </a:lnSpc>
              </a:pPr>
              <a:endParaRPr/>
            </a:p>
          </p:txBody>
        </p:sp>
      </p:grpSp>
      <p:grpSp>
        <p:nvGrpSpPr>
          <p:cNvPr id="12" name="Group 12"/>
          <p:cNvGrpSpPr/>
          <p:nvPr/>
        </p:nvGrpSpPr>
        <p:grpSpPr>
          <a:xfrm>
            <a:off x="6953152" y="6658884"/>
            <a:ext cx="4381697" cy="2212607"/>
            <a:chOff x="0" y="0"/>
            <a:chExt cx="1154027" cy="582744"/>
          </a:xfrm>
        </p:grpSpPr>
        <p:sp>
          <p:nvSpPr>
            <p:cNvPr id="13" name="Freeform 13"/>
            <p:cNvSpPr/>
            <p:nvPr/>
          </p:nvSpPr>
          <p:spPr>
            <a:xfrm>
              <a:off x="0" y="0"/>
              <a:ext cx="1154027" cy="582744"/>
            </a:xfrm>
            <a:custGeom>
              <a:avLst/>
              <a:gdLst/>
              <a:ahLst/>
              <a:cxnLst/>
              <a:rect l="l" t="t" r="r" b="b"/>
              <a:pathLst>
                <a:path w="1154027" h="582744">
                  <a:moveTo>
                    <a:pt x="0" y="0"/>
                  </a:moveTo>
                  <a:lnTo>
                    <a:pt x="1154027" y="0"/>
                  </a:lnTo>
                  <a:lnTo>
                    <a:pt x="1154027" y="582744"/>
                  </a:lnTo>
                  <a:lnTo>
                    <a:pt x="0" y="582744"/>
                  </a:lnTo>
                  <a:close/>
                </a:path>
              </a:pathLst>
            </a:custGeom>
            <a:solidFill>
              <a:srgbClr val="545454"/>
            </a:solidFill>
          </p:spPr>
        </p:sp>
        <p:sp>
          <p:nvSpPr>
            <p:cNvPr id="14" name="TextBox 14"/>
            <p:cNvSpPr txBox="1"/>
            <p:nvPr/>
          </p:nvSpPr>
          <p:spPr>
            <a:xfrm>
              <a:off x="0" y="-38100"/>
              <a:ext cx="1154027" cy="620844"/>
            </a:xfrm>
            <a:prstGeom prst="rect">
              <a:avLst/>
            </a:prstGeom>
          </p:spPr>
          <p:txBody>
            <a:bodyPr lIns="50800" tIns="50800" rIns="50800" bIns="50800" rtlCol="0" anchor="ctr"/>
            <a:lstStyle/>
            <a:p>
              <a:pPr algn="ctr">
                <a:lnSpc>
                  <a:spcPts val="2380"/>
                </a:lnSpc>
              </a:pPr>
              <a:endParaRPr/>
            </a:p>
          </p:txBody>
        </p:sp>
      </p:grpSp>
      <p:grpSp>
        <p:nvGrpSpPr>
          <p:cNvPr id="15" name="Group 15"/>
          <p:cNvGrpSpPr/>
          <p:nvPr/>
        </p:nvGrpSpPr>
        <p:grpSpPr>
          <a:xfrm>
            <a:off x="11849198" y="6658884"/>
            <a:ext cx="4381697" cy="2212607"/>
            <a:chOff x="0" y="0"/>
            <a:chExt cx="1154027" cy="582744"/>
          </a:xfrm>
        </p:grpSpPr>
        <p:sp>
          <p:nvSpPr>
            <p:cNvPr id="16" name="Freeform 16"/>
            <p:cNvSpPr/>
            <p:nvPr/>
          </p:nvSpPr>
          <p:spPr>
            <a:xfrm>
              <a:off x="0" y="0"/>
              <a:ext cx="1154027" cy="582744"/>
            </a:xfrm>
            <a:custGeom>
              <a:avLst/>
              <a:gdLst/>
              <a:ahLst/>
              <a:cxnLst/>
              <a:rect l="l" t="t" r="r" b="b"/>
              <a:pathLst>
                <a:path w="1154027" h="582744">
                  <a:moveTo>
                    <a:pt x="0" y="0"/>
                  </a:moveTo>
                  <a:lnTo>
                    <a:pt x="1154027" y="0"/>
                  </a:lnTo>
                  <a:lnTo>
                    <a:pt x="1154027" y="582744"/>
                  </a:lnTo>
                  <a:lnTo>
                    <a:pt x="0" y="582744"/>
                  </a:lnTo>
                  <a:close/>
                </a:path>
              </a:pathLst>
            </a:custGeom>
            <a:solidFill>
              <a:srgbClr val="545454"/>
            </a:solidFill>
          </p:spPr>
        </p:sp>
        <p:sp>
          <p:nvSpPr>
            <p:cNvPr id="17" name="TextBox 17"/>
            <p:cNvSpPr txBox="1"/>
            <p:nvPr/>
          </p:nvSpPr>
          <p:spPr>
            <a:xfrm>
              <a:off x="0" y="-38100"/>
              <a:ext cx="1154027" cy="620844"/>
            </a:xfrm>
            <a:prstGeom prst="rect">
              <a:avLst/>
            </a:prstGeom>
          </p:spPr>
          <p:txBody>
            <a:bodyPr lIns="50800" tIns="50800" rIns="50800" bIns="50800" rtlCol="0" anchor="ctr"/>
            <a:lstStyle/>
            <a:p>
              <a:pPr algn="ctr">
                <a:lnSpc>
                  <a:spcPts val="2380"/>
                </a:lnSpc>
              </a:pPr>
              <a:endParaRPr/>
            </a:p>
          </p:txBody>
        </p:sp>
      </p:grpSp>
      <p:sp>
        <p:nvSpPr>
          <p:cNvPr id="18" name="Freeform 18"/>
          <p:cNvSpPr/>
          <p:nvPr/>
        </p:nvSpPr>
        <p:spPr>
          <a:xfrm rot="5400000">
            <a:off x="4067069" y="6943027"/>
            <a:ext cx="368333" cy="550670"/>
          </a:xfrm>
          <a:custGeom>
            <a:avLst/>
            <a:gdLst/>
            <a:ahLst/>
            <a:cxnLst/>
            <a:rect l="l" t="t" r="r" b="b"/>
            <a:pathLst>
              <a:path w="368333" h="550670">
                <a:moveTo>
                  <a:pt x="0" y="0"/>
                </a:moveTo>
                <a:lnTo>
                  <a:pt x="368333" y="0"/>
                </a:lnTo>
                <a:lnTo>
                  <a:pt x="368333" y="550670"/>
                </a:lnTo>
                <a:lnTo>
                  <a:pt x="0" y="55067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9" name="Freeform 19"/>
          <p:cNvSpPr/>
          <p:nvPr/>
        </p:nvSpPr>
        <p:spPr>
          <a:xfrm rot="5400000">
            <a:off x="8959833" y="6943027"/>
            <a:ext cx="368333" cy="550670"/>
          </a:xfrm>
          <a:custGeom>
            <a:avLst/>
            <a:gdLst/>
            <a:ahLst/>
            <a:cxnLst/>
            <a:rect l="l" t="t" r="r" b="b"/>
            <a:pathLst>
              <a:path w="368333" h="550670">
                <a:moveTo>
                  <a:pt x="0" y="0"/>
                </a:moveTo>
                <a:lnTo>
                  <a:pt x="368334" y="0"/>
                </a:lnTo>
                <a:lnTo>
                  <a:pt x="368334" y="550670"/>
                </a:lnTo>
                <a:lnTo>
                  <a:pt x="0" y="55067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0" name="Freeform 20"/>
          <p:cNvSpPr/>
          <p:nvPr/>
        </p:nvSpPr>
        <p:spPr>
          <a:xfrm rot="5400000">
            <a:off x="13852598" y="6943027"/>
            <a:ext cx="368333" cy="550670"/>
          </a:xfrm>
          <a:custGeom>
            <a:avLst/>
            <a:gdLst/>
            <a:ahLst/>
            <a:cxnLst/>
            <a:rect l="l" t="t" r="r" b="b"/>
            <a:pathLst>
              <a:path w="368333" h="550670">
                <a:moveTo>
                  <a:pt x="0" y="0"/>
                </a:moveTo>
                <a:lnTo>
                  <a:pt x="368333" y="0"/>
                </a:lnTo>
                <a:lnTo>
                  <a:pt x="368333" y="550670"/>
                </a:lnTo>
                <a:lnTo>
                  <a:pt x="0" y="55067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21" name="Group 21"/>
          <p:cNvGrpSpPr/>
          <p:nvPr/>
        </p:nvGrpSpPr>
        <p:grpSpPr>
          <a:xfrm>
            <a:off x="15073715" y="-3065569"/>
            <a:ext cx="7613660" cy="7613660"/>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sp>
        <p:nvSpPr>
          <p:cNvPr id="24" name="TextBox 24"/>
          <p:cNvSpPr txBox="1"/>
          <p:nvPr/>
        </p:nvSpPr>
        <p:spPr>
          <a:xfrm>
            <a:off x="1028700" y="521169"/>
            <a:ext cx="8269466" cy="1338833"/>
          </a:xfrm>
          <a:prstGeom prst="rect">
            <a:avLst/>
          </a:prstGeom>
        </p:spPr>
        <p:txBody>
          <a:bodyPr lIns="0" tIns="0" rIns="0" bIns="0" rtlCol="0" anchor="t">
            <a:spAutoFit/>
          </a:bodyPr>
          <a:lstStyle/>
          <a:p>
            <a:pPr algn="l">
              <a:lnSpc>
                <a:spcPts val="9152"/>
              </a:lnSpc>
            </a:pPr>
            <a:r>
              <a:rPr lang="en-US" sz="8099">
                <a:solidFill>
                  <a:srgbClr val="000000"/>
                </a:solidFill>
                <a:latin typeface="Impact"/>
                <a:ea typeface="Impact"/>
                <a:cs typeface="Impact"/>
                <a:sym typeface="Impact"/>
              </a:rPr>
              <a:t>INTRODUCCIÓN </a:t>
            </a:r>
          </a:p>
        </p:txBody>
      </p:sp>
      <p:sp>
        <p:nvSpPr>
          <p:cNvPr id="25" name="TextBox 25"/>
          <p:cNvSpPr txBox="1"/>
          <p:nvPr/>
        </p:nvSpPr>
        <p:spPr>
          <a:xfrm>
            <a:off x="1028700" y="1802852"/>
            <a:ext cx="8115300" cy="880834"/>
          </a:xfrm>
          <a:prstGeom prst="rect">
            <a:avLst/>
          </a:prstGeom>
        </p:spPr>
        <p:txBody>
          <a:bodyPr lIns="0" tIns="0" rIns="0" bIns="0" rtlCol="0" anchor="t">
            <a:spAutoFit/>
          </a:bodyPr>
          <a:lstStyle/>
          <a:p>
            <a:pPr algn="just">
              <a:lnSpc>
                <a:spcPts val="3500"/>
              </a:lnSpc>
            </a:pPr>
            <a:r>
              <a:rPr lang="en-US" sz="2500" b="1">
                <a:solidFill>
                  <a:srgbClr val="545454"/>
                </a:solidFill>
                <a:latin typeface="Inter Medium"/>
                <a:ea typeface="Inter Medium"/>
                <a:cs typeface="Inter Medium"/>
                <a:sym typeface="Inter Medium"/>
              </a:rPr>
              <a:t>Para este incremento se consideran los siguientes datos.</a:t>
            </a:r>
          </a:p>
        </p:txBody>
      </p:sp>
      <p:sp>
        <p:nvSpPr>
          <p:cNvPr id="26" name="TextBox 26"/>
          <p:cNvSpPr txBox="1"/>
          <p:nvPr/>
        </p:nvSpPr>
        <p:spPr>
          <a:xfrm>
            <a:off x="2679449" y="7402528"/>
            <a:ext cx="3143573" cy="888998"/>
          </a:xfrm>
          <a:prstGeom prst="rect">
            <a:avLst/>
          </a:prstGeom>
        </p:spPr>
        <p:txBody>
          <a:bodyPr lIns="0" tIns="0" rIns="0" bIns="0" rtlCol="0" anchor="t">
            <a:spAutoFit/>
          </a:bodyPr>
          <a:lstStyle/>
          <a:p>
            <a:pPr algn="ctr">
              <a:lnSpc>
                <a:spcPts val="3500"/>
              </a:lnSpc>
            </a:pPr>
            <a:r>
              <a:rPr lang="en-US" sz="2500" b="1">
                <a:solidFill>
                  <a:srgbClr val="FFFFFF"/>
                </a:solidFill>
                <a:latin typeface="Poppins Ultra-Bold"/>
                <a:ea typeface="Poppins Ultra-Bold"/>
                <a:cs typeface="Poppins Ultra-Bold"/>
                <a:sym typeface="Poppins Ultra-Bold"/>
              </a:rPr>
              <a:t>CANTIDAD REQUERIMIENTOS</a:t>
            </a:r>
          </a:p>
        </p:txBody>
      </p:sp>
      <p:sp>
        <p:nvSpPr>
          <p:cNvPr id="27" name="TextBox 27"/>
          <p:cNvSpPr txBox="1"/>
          <p:nvPr/>
        </p:nvSpPr>
        <p:spPr>
          <a:xfrm>
            <a:off x="2472946" y="8314815"/>
            <a:ext cx="3556281" cy="389253"/>
          </a:xfrm>
          <a:prstGeom prst="rect">
            <a:avLst/>
          </a:prstGeom>
        </p:spPr>
        <p:txBody>
          <a:bodyPr lIns="0" tIns="0" rIns="0" bIns="0" rtlCol="0" anchor="t">
            <a:spAutoFit/>
          </a:bodyPr>
          <a:lstStyle/>
          <a:p>
            <a:pPr algn="ctr">
              <a:lnSpc>
                <a:spcPts val="3220"/>
              </a:lnSpc>
            </a:pPr>
            <a:r>
              <a:rPr lang="en-US" sz="2300" b="1">
                <a:solidFill>
                  <a:srgbClr val="D9D9D9"/>
                </a:solidFill>
                <a:latin typeface="Inter Medium"/>
                <a:ea typeface="Inter Medium"/>
                <a:cs typeface="Inter Medium"/>
                <a:sym typeface="Inter Medium"/>
              </a:rPr>
              <a:t>23</a:t>
            </a:r>
          </a:p>
        </p:txBody>
      </p:sp>
      <p:sp>
        <p:nvSpPr>
          <p:cNvPr id="28" name="TextBox 28"/>
          <p:cNvSpPr txBox="1"/>
          <p:nvPr/>
        </p:nvSpPr>
        <p:spPr>
          <a:xfrm>
            <a:off x="7778568" y="7402528"/>
            <a:ext cx="2730865" cy="888998"/>
          </a:xfrm>
          <a:prstGeom prst="rect">
            <a:avLst/>
          </a:prstGeom>
        </p:spPr>
        <p:txBody>
          <a:bodyPr lIns="0" tIns="0" rIns="0" bIns="0" rtlCol="0" anchor="t">
            <a:spAutoFit/>
          </a:bodyPr>
          <a:lstStyle/>
          <a:p>
            <a:pPr algn="ctr">
              <a:lnSpc>
                <a:spcPts val="3500"/>
              </a:lnSpc>
            </a:pPr>
            <a:r>
              <a:rPr lang="en-US" sz="2500" b="1">
                <a:solidFill>
                  <a:srgbClr val="FFFFFF"/>
                </a:solidFill>
                <a:latin typeface="Poppins Ultra-Bold"/>
                <a:ea typeface="Poppins Ultra-Bold"/>
                <a:cs typeface="Poppins Ultra-Bold"/>
                <a:sym typeface="Poppins Ultra-Bold"/>
              </a:rPr>
              <a:t>PORCENTAJE DE AVANCE</a:t>
            </a:r>
          </a:p>
        </p:txBody>
      </p:sp>
      <p:sp>
        <p:nvSpPr>
          <p:cNvPr id="29" name="TextBox 29"/>
          <p:cNvSpPr txBox="1"/>
          <p:nvPr/>
        </p:nvSpPr>
        <p:spPr>
          <a:xfrm>
            <a:off x="7365860" y="8243902"/>
            <a:ext cx="3556281" cy="389253"/>
          </a:xfrm>
          <a:prstGeom prst="rect">
            <a:avLst/>
          </a:prstGeom>
        </p:spPr>
        <p:txBody>
          <a:bodyPr lIns="0" tIns="0" rIns="0" bIns="0" rtlCol="0" anchor="t">
            <a:spAutoFit/>
          </a:bodyPr>
          <a:lstStyle/>
          <a:p>
            <a:pPr algn="ctr">
              <a:lnSpc>
                <a:spcPts val="3220"/>
              </a:lnSpc>
            </a:pPr>
            <a:r>
              <a:rPr lang="en-US" sz="2300" b="1">
                <a:solidFill>
                  <a:srgbClr val="D9D9D9"/>
                </a:solidFill>
                <a:latin typeface="Inter Medium"/>
                <a:ea typeface="Inter Medium"/>
                <a:cs typeface="Inter Medium"/>
                <a:sym typeface="Inter Medium"/>
              </a:rPr>
              <a:t>~32%</a:t>
            </a:r>
          </a:p>
        </p:txBody>
      </p:sp>
      <p:sp>
        <p:nvSpPr>
          <p:cNvPr id="30" name="TextBox 30"/>
          <p:cNvSpPr txBox="1"/>
          <p:nvPr/>
        </p:nvSpPr>
        <p:spPr>
          <a:xfrm>
            <a:off x="12671332" y="7402528"/>
            <a:ext cx="2730865" cy="888998"/>
          </a:xfrm>
          <a:prstGeom prst="rect">
            <a:avLst/>
          </a:prstGeom>
        </p:spPr>
        <p:txBody>
          <a:bodyPr lIns="0" tIns="0" rIns="0" bIns="0" rtlCol="0" anchor="t">
            <a:spAutoFit/>
          </a:bodyPr>
          <a:lstStyle/>
          <a:p>
            <a:pPr algn="ctr">
              <a:lnSpc>
                <a:spcPts val="3500"/>
              </a:lnSpc>
            </a:pPr>
            <a:r>
              <a:rPr lang="en-US" sz="2500" b="1">
                <a:solidFill>
                  <a:srgbClr val="FFFFFF"/>
                </a:solidFill>
                <a:latin typeface="Poppins Ultra-Bold"/>
                <a:ea typeface="Poppins Ultra-Bold"/>
                <a:cs typeface="Poppins Ultra-Bold"/>
                <a:sym typeface="Poppins Ultra-Bold"/>
              </a:rPr>
              <a:t>SIGUIENTE ENTREGA</a:t>
            </a:r>
          </a:p>
        </p:txBody>
      </p:sp>
      <p:sp>
        <p:nvSpPr>
          <p:cNvPr id="31" name="TextBox 31"/>
          <p:cNvSpPr txBox="1"/>
          <p:nvPr/>
        </p:nvSpPr>
        <p:spPr>
          <a:xfrm>
            <a:off x="12258624" y="8314815"/>
            <a:ext cx="3556281" cy="389253"/>
          </a:xfrm>
          <a:prstGeom prst="rect">
            <a:avLst/>
          </a:prstGeom>
        </p:spPr>
        <p:txBody>
          <a:bodyPr lIns="0" tIns="0" rIns="0" bIns="0" rtlCol="0" anchor="t">
            <a:spAutoFit/>
          </a:bodyPr>
          <a:lstStyle/>
          <a:p>
            <a:pPr algn="ctr">
              <a:lnSpc>
                <a:spcPts val="3220"/>
              </a:lnSpc>
            </a:pPr>
            <a:r>
              <a:rPr lang="en-US" sz="2300" b="1">
                <a:solidFill>
                  <a:srgbClr val="D9D9D9"/>
                </a:solidFill>
                <a:latin typeface="Inter Medium"/>
                <a:ea typeface="Inter Medium"/>
                <a:cs typeface="Inter Medium"/>
                <a:sym typeface="Inter Medium"/>
              </a:rPr>
              <a:t>29 requerimientos ~72%</a:t>
            </a:r>
          </a:p>
        </p:txBody>
      </p:sp>
      <p:graphicFrame>
        <p:nvGraphicFramePr>
          <p:cNvPr id="32" name="Table 32"/>
          <p:cNvGraphicFramePr>
            <a:graphicFrameLocks noGrp="1"/>
          </p:cNvGraphicFramePr>
          <p:nvPr/>
        </p:nvGraphicFramePr>
        <p:xfrm>
          <a:off x="3718094" y="2445261"/>
          <a:ext cx="10301144" cy="4003673"/>
        </p:xfrm>
        <a:graphic>
          <a:graphicData uri="http://schemas.openxmlformats.org/drawingml/2006/table">
            <a:tbl>
              <a:tblPr/>
              <a:tblGrid>
                <a:gridCol w="2575286">
                  <a:extLst>
                    <a:ext uri="{9D8B030D-6E8A-4147-A177-3AD203B41FA5}">
                      <a16:colId xmlns:a16="http://schemas.microsoft.com/office/drawing/2014/main" val="20000"/>
                    </a:ext>
                  </a:extLst>
                </a:gridCol>
                <a:gridCol w="2575286">
                  <a:extLst>
                    <a:ext uri="{9D8B030D-6E8A-4147-A177-3AD203B41FA5}">
                      <a16:colId xmlns:a16="http://schemas.microsoft.com/office/drawing/2014/main" val="20001"/>
                    </a:ext>
                  </a:extLst>
                </a:gridCol>
                <a:gridCol w="2575286">
                  <a:extLst>
                    <a:ext uri="{9D8B030D-6E8A-4147-A177-3AD203B41FA5}">
                      <a16:colId xmlns:a16="http://schemas.microsoft.com/office/drawing/2014/main" val="20002"/>
                    </a:ext>
                  </a:extLst>
                </a:gridCol>
                <a:gridCol w="2575286">
                  <a:extLst>
                    <a:ext uri="{9D8B030D-6E8A-4147-A177-3AD203B41FA5}">
                      <a16:colId xmlns:a16="http://schemas.microsoft.com/office/drawing/2014/main" val="20003"/>
                    </a:ext>
                  </a:extLst>
                </a:gridCol>
              </a:tblGrid>
              <a:tr h="687982">
                <a:tc>
                  <a:txBody>
                    <a:bodyPr/>
                    <a:lstStyle/>
                    <a:p>
                      <a:pPr algn="l">
                        <a:lnSpc>
                          <a:spcPts val="1757"/>
                        </a:lnSpc>
                        <a:defRPr/>
                      </a:pPr>
                      <a:r>
                        <a:rPr lang="en-US" sz="1464" b="1">
                          <a:solidFill>
                            <a:srgbClr val="FFFFFF"/>
                          </a:solidFill>
                          <a:latin typeface="Open Sans Bold"/>
                          <a:ea typeface="Open Sans Bold"/>
                          <a:cs typeface="Open Sans Bold"/>
                          <a:sym typeface="Open Sans Bold"/>
                        </a:rPr>
                        <a:t>Incremento</a:t>
                      </a:r>
                      <a:endParaRPr lang="en-US" sz="1100"/>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45454"/>
                    </a:solidFill>
                  </a:tcPr>
                </a:tc>
                <a:tc>
                  <a:txBody>
                    <a:bodyPr/>
                    <a:lstStyle/>
                    <a:p>
                      <a:pPr algn="l">
                        <a:lnSpc>
                          <a:spcPts val="1757"/>
                        </a:lnSpc>
                        <a:defRPr/>
                      </a:pPr>
                      <a:r>
                        <a:rPr lang="en-US" sz="1464" b="1">
                          <a:solidFill>
                            <a:srgbClr val="FFFFFF"/>
                          </a:solidFill>
                          <a:latin typeface="Open Sans Bold"/>
                          <a:ea typeface="Open Sans Bold"/>
                          <a:cs typeface="Open Sans Bold"/>
                          <a:sym typeface="Open Sans Bold"/>
                        </a:rPr>
                        <a:t>Descripción del Hito / Alcance</a:t>
                      </a:r>
                      <a:endParaRPr lang="en-US" sz="1100"/>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45454"/>
                    </a:solidFill>
                  </a:tcPr>
                </a:tc>
                <a:tc>
                  <a:txBody>
                    <a:bodyPr/>
                    <a:lstStyle/>
                    <a:p>
                      <a:pPr algn="l">
                        <a:lnSpc>
                          <a:spcPts val="1757"/>
                        </a:lnSpc>
                        <a:defRPr/>
                      </a:pPr>
                      <a:r>
                        <a:rPr lang="en-US" sz="1464" b="1">
                          <a:solidFill>
                            <a:srgbClr val="FEFEFE"/>
                          </a:solidFill>
                          <a:latin typeface="Open Sans Bold"/>
                          <a:ea typeface="Open Sans Bold"/>
                          <a:cs typeface="Open Sans Bold"/>
                          <a:sym typeface="Open Sans Bold"/>
                        </a:rPr>
                        <a:t>Cantidad de RFs</a:t>
                      </a:r>
                      <a:endParaRPr lang="en-US" sz="1100"/>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45454"/>
                    </a:solidFill>
                  </a:tcPr>
                </a:tc>
                <a:tc>
                  <a:txBody>
                    <a:bodyPr/>
                    <a:lstStyle/>
                    <a:p>
                      <a:pPr algn="l">
                        <a:lnSpc>
                          <a:spcPts val="1757"/>
                        </a:lnSpc>
                        <a:defRPr/>
                      </a:pPr>
                      <a:r>
                        <a:rPr lang="en-US" sz="1464" b="1">
                          <a:solidFill>
                            <a:srgbClr val="FEFEFE"/>
                          </a:solidFill>
                          <a:latin typeface="Open Sans Bold"/>
                          <a:ea typeface="Open Sans Bold"/>
                          <a:cs typeface="Open Sans Bold"/>
                          <a:sym typeface="Open Sans Bold"/>
                        </a:rPr>
                        <a:t>% de Avance (Acumulado)</a:t>
                      </a:r>
                      <a:endParaRPr lang="en-US" sz="1100"/>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45454"/>
                    </a:solidFill>
                  </a:tcPr>
                </a:tc>
                <a:extLst>
                  <a:ext uri="{0D108BD9-81ED-4DB2-BD59-A6C34878D82A}">
                    <a16:rowId xmlns:a16="http://schemas.microsoft.com/office/drawing/2014/main" val="10000"/>
                  </a:ext>
                </a:extLst>
              </a:tr>
              <a:tr h="783535">
                <a:tc>
                  <a:txBody>
                    <a:bodyPr/>
                    <a:lstStyle/>
                    <a:p>
                      <a:pPr algn="l">
                        <a:lnSpc>
                          <a:spcPts val="1757"/>
                        </a:lnSpc>
                        <a:defRPr/>
                      </a:pPr>
                      <a:r>
                        <a:rPr lang="en-US" sz="1464" b="1">
                          <a:solidFill>
                            <a:srgbClr val="1F1F1F"/>
                          </a:solidFill>
                          <a:latin typeface="Open Sans Bold"/>
                          <a:ea typeface="Open Sans Bold"/>
                          <a:cs typeface="Open Sans Bold"/>
                          <a:sym typeface="Open Sans Bold"/>
                        </a:rPr>
                        <a:t>Incremento 1</a:t>
                      </a:r>
                      <a:endParaRPr lang="en-US" sz="1100"/>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873D"/>
                    </a:solidFill>
                  </a:tcPr>
                </a:tc>
                <a:tc>
                  <a:txBody>
                    <a:bodyPr/>
                    <a:lstStyle/>
                    <a:p>
                      <a:pPr algn="l">
                        <a:lnSpc>
                          <a:spcPts val="1440"/>
                        </a:lnSpc>
                        <a:defRPr/>
                      </a:pPr>
                      <a:r>
                        <a:rPr lang="en-US" sz="1200" b="1" u="none" strike="noStrike">
                          <a:solidFill>
                            <a:srgbClr val="1F1F1F"/>
                          </a:solidFill>
                          <a:latin typeface="Open Sans Bold"/>
                          <a:ea typeface="Open Sans Bold"/>
                          <a:cs typeface="Open Sans Bold"/>
                          <a:sym typeface="Open Sans Bold"/>
                        </a:rPr>
                        <a:t>Núcleo Comercial (MVP):</a:t>
                      </a:r>
                      <a:r>
                        <a:rPr lang="en-US" sz="1200" u="none" strike="noStrike">
                          <a:solidFill>
                            <a:srgbClr val="1F1F1F"/>
                          </a:solidFill>
                          <a:latin typeface="Open Sans"/>
                          <a:ea typeface="Open Sans"/>
                          <a:cs typeface="Open Sans"/>
                          <a:sym typeface="Open Sans"/>
                        </a:rPr>
                        <a:t> Clientes, Cotizaciones y Nota de ventas.</a:t>
                      </a:r>
                      <a:endParaRPr lang="en-US" sz="1100"/>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873D"/>
                    </a:solidFill>
                  </a:tcPr>
                </a:tc>
                <a:tc>
                  <a:txBody>
                    <a:bodyPr/>
                    <a:lstStyle/>
                    <a:p>
                      <a:pPr algn="r">
                        <a:lnSpc>
                          <a:spcPts val="1757"/>
                        </a:lnSpc>
                        <a:defRPr/>
                      </a:pPr>
                      <a:r>
                        <a:rPr lang="en-US" sz="1464">
                          <a:solidFill>
                            <a:srgbClr val="1F1F1F"/>
                          </a:solidFill>
                          <a:latin typeface="Open Sans"/>
                          <a:ea typeface="Open Sans"/>
                          <a:cs typeface="Open Sans"/>
                          <a:sym typeface="Open Sans"/>
                        </a:rPr>
                        <a:t>23</a:t>
                      </a:r>
                      <a:endParaRPr lang="en-US" sz="1100"/>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873D"/>
                    </a:solidFill>
                  </a:tcPr>
                </a:tc>
                <a:tc>
                  <a:txBody>
                    <a:bodyPr/>
                    <a:lstStyle/>
                    <a:p>
                      <a:pPr algn="r">
                        <a:lnSpc>
                          <a:spcPts val="1757"/>
                        </a:lnSpc>
                        <a:defRPr/>
                      </a:pPr>
                      <a:r>
                        <a:rPr lang="en-US" sz="1464" b="1">
                          <a:solidFill>
                            <a:srgbClr val="1F1F1F"/>
                          </a:solidFill>
                          <a:latin typeface="Open Sans Bold"/>
                          <a:ea typeface="Open Sans Bold"/>
                          <a:cs typeface="Open Sans Bold"/>
                          <a:sym typeface="Open Sans Bold"/>
                        </a:rPr>
                        <a:t>31,90%</a:t>
                      </a:r>
                      <a:endParaRPr lang="en-US" sz="1100"/>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873D"/>
                    </a:solidFill>
                  </a:tcPr>
                </a:tc>
                <a:extLst>
                  <a:ext uri="{0D108BD9-81ED-4DB2-BD59-A6C34878D82A}">
                    <a16:rowId xmlns:a16="http://schemas.microsoft.com/office/drawing/2014/main" val="10001"/>
                  </a:ext>
                </a:extLst>
              </a:tr>
              <a:tr h="965086">
                <a:tc>
                  <a:txBody>
                    <a:bodyPr/>
                    <a:lstStyle/>
                    <a:p>
                      <a:pPr algn="l">
                        <a:lnSpc>
                          <a:spcPts val="1757"/>
                        </a:lnSpc>
                        <a:defRPr/>
                      </a:pPr>
                      <a:r>
                        <a:rPr lang="en-US" sz="1464" b="1">
                          <a:solidFill>
                            <a:srgbClr val="1F1F1F"/>
                          </a:solidFill>
                          <a:latin typeface="Open Sans Bold"/>
                          <a:ea typeface="Open Sans Bold"/>
                          <a:cs typeface="Open Sans Bold"/>
                          <a:sym typeface="Open Sans Bold"/>
                        </a:rPr>
                        <a:t>Incremento 2</a:t>
                      </a:r>
                      <a:endParaRPr lang="en-US" sz="1100"/>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EFEFE"/>
                    </a:solidFill>
                  </a:tcPr>
                </a:tc>
                <a:tc>
                  <a:txBody>
                    <a:bodyPr/>
                    <a:lstStyle/>
                    <a:p>
                      <a:pPr algn="l">
                        <a:lnSpc>
                          <a:spcPts val="1440"/>
                        </a:lnSpc>
                        <a:defRPr/>
                      </a:pPr>
                      <a:r>
                        <a:rPr lang="en-US" sz="1200" b="1" u="none" strike="noStrike">
                          <a:solidFill>
                            <a:srgbClr val="1F1F1F"/>
                          </a:solidFill>
                          <a:latin typeface="Open Sans Bold"/>
                          <a:ea typeface="Open Sans Bold"/>
                          <a:cs typeface="Open Sans Bold"/>
                          <a:sym typeface="Open Sans Bold"/>
                        </a:rPr>
                        <a:t>Tesorería y Flujo de Caja:</a:t>
                      </a:r>
                      <a:r>
                        <a:rPr lang="en-US" sz="1200" u="none" strike="noStrike">
                          <a:solidFill>
                            <a:srgbClr val="1F1F1F"/>
                          </a:solidFill>
                          <a:latin typeface="Open Sans"/>
                          <a:ea typeface="Open Sans"/>
                          <a:cs typeface="Open Sans"/>
                          <a:sym typeface="Open Sans"/>
                        </a:rPr>
                        <a:t> Credito, Recaudación, Proveedores, Pagos y Conciliación.</a:t>
                      </a:r>
                      <a:endParaRPr lang="en-US" sz="1100"/>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EFEFE"/>
                    </a:solidFill>
                  </a:tcPr>
                </a:tc>
                <a:tc>
                  <a:txBody>
                    <a:bodyPr/>
                    <a:lstStyle/>
                    <a:p>
                      <a:pPr algn="r">
                        <a:lnSpc>
                          <a:spcPts val="1757"/>
                        </a:lnSpc>
                        <a:defRPr/>
                      </a:pPr>
                      <a:r>
                        <a:rPr lang="en-US" sz="1464">
                          <a:solidFill>
                            <a:srgbClr val="1F1F1F"/>
                          </a:solidFill>
                          <a:latin typeface="Open Sans"/>
                          <a:ea typeface="Open Sans"/>
                          <a:cs typeface="Open Sans"/>
                          <a:sym typeface="Open Sans"/>
                        </a:rPr>
                        <a:t>29</a:t>
                      </a:r>
                      <a:endParaRPr lang="en-US" sz="1100"/>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EFEFE"/>
                    </a:solidFill>
                  </a:tcPr>
                </a:tc>
                <a:tc>
                  <a:txBody>
                    <a:bodyPr/>
                    <a:lstStyle/>
                    <a:p>
                      <a:pPr algn="r">
                        <a:lnSpc>
                          <a:spcPts val="1757"/>
                        </a:lnSpc>
                        <a:defRPr/>
                      </a:pPr>
                      <a:r>
                        <a:rPr lang="en-US" sz="1464" b="1">
                          <a:solidFill>
                            <a:srgbClr val="1F1F1F"/>
                          </a:solidFill>
                          <a:latin typeface="Open Sans Bold"/>
                          <a:ea typeface="Open Sans Bold"/>
                          <a:cs typeface="Open Sans Bold"/>
                          <a:sym typeface="Open Sans Bold"/>
                        </a:rPr>
                        <a:t>72,20%</a:t>
                      </a:r>
                      <a:endParaRPr lang="en-US" sz="1100"/>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83535">
                <a:tc>
                  <a:txBody>
                    <a:bodyPr/>
                    <a:lstStyle/>
                    <a:p>
                      <a:pPr algn="l">
                        <a:lnSpc>
                          <a:spcPts val="1757"/>
                        </a:lnSpc>
                        <a:defRPr/>
                      </a:pPr>
                      <a:r>
                        <a:rPr lang="en-US" sz="1464" b="1">
                          <a:solidFill>
                            <a:srgbClr val="1F1F1F"/>
                          </a:solidFill>
                          <a:latin typeface="Open Sans Bold"/>
                          <a:ea typeface="Open Sans Bold"/>
                          <a:cs typeface="Open Sans Bold"/>
                          <a:sym typeface="Open Sans Bold"/>
                        </a:rPr>
                        <a:t>Incremento 3</a:t>
                      </a:r>
                      <a:endParaRPr lang="en-US" sz="1100"/>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ts val="1440"/>
                        </a:lnSpc>
                        <a:defRPr/>
                      </a:pPr>
                      <a:r>
                        <a:rPr lang="en-US" sz="1200" b="1" u="none" strike="noStrike">
                          <a:solidFill>
                            <a:srgbClr val="1F1F1F"/>
                          </a:solidFill>
                          <a:latin typeface="Open Sans Bold"/>
                          <a:ea typeface="Open Sans Bold"/>
                          <a:cs typeface="Open Sans Bold"/>
                          <a:sym typeface="Open Sans Bold"/>
                        </a:rPr>
                        <a:t>Operaciones y Rentabilidad:</a:t>
                      </a:r>
                      <a:r>
                        <a:rPr lang="en-US" sz="1200" u="none" strike="noStrike">
                          <a:solidFill>
                            <a:srgbClr val="1F1F1F"/>
                          </a:solidFill>
                          <a:latin typeface="Open Sans"/>
                          <a:ea typeface="Open Sans"/>
                          <a:cs typeface="Open Sans"/>
                          <a:sym typeface="Open Sans"/>
                        </a:rPr>
                        <a:t> Sueldos, Bonos por Destajo y Dashboards Analíticos.</a:t>
                      </a:r>
                      <a:endParaRPr lang="en-US" sz="1100"/>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1757"/>
                        </a:lnSpc>
                        <a:defRPr/>
                      </a:pPr>
                      <a:r>
                        <a:rPr lang="en-US" sz="1464">
                          <a:solidFill>
                            <a:srgbClr val="1F1F1F"/>
                          </a:solidFill>
                          <a:latin typeface="Open Sans"/>
                          <a:ea typeface="Open Sans"/>
                          <a:cs typeface="Open Sans"/>
                          <a:sym typeface="Open Sans"/>
                        </a:rPr>
                        <a:t>17</a:t>
                      </a:r>
                      <a:endParaRPr lang="en-US" sz="1100"/>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1757"/>
                        </a:lnSpc>
                        <a:defRPr/>
                      </a:pPr>
                      <a:r>
                        <a:rPr lang="en-US" sz="1464" b="1">
                          <a:solidFill>
                            <a:srgbClr val="1F1F1F"/>
                          </a:solidFill>
                          <a:latin typeface="Open Sans Bold"/>
                          <a:ea typeface="Open Sans Bold"/>
                          <a:cs typeface="Open Sans Bold"/>
                          <a:sym typeface="Open Sans Bold"/>
                        </a:rPr>
                        <a:t>95,83%</a:t>
                      </a:r>
                      <a:endParaRPr lang="en-US" sz="1100"/>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83535">
                <a:tc>
                  <a:txBody>
                    <a:bodyPr/>
                    <a:lstStyle/>
                    <a:p>
                      <a:pPr algn="l">
                        <a:lnSpc>
                          <a:spcPts val="1757"/>
                        </a:lnSpc>
                        <a:defRPr/>
                      </a:pPr>
                      <a:r>
                        <a:rPr lang="en-US" sz="1464" b="1">
                          <a:solidFill>
                            <a:srgbClr val="1F1F1F"/>
                          </a:solidFill>
                          <a:latin typeface="Open Sans Bold"/>
                          <a:ea typeface="Open Sans Bold"/>
                          <a:cs typeface="Open Sans Bold"/>
                          <a:sym typeface="Open Sans Bold"/>
                        </a:rPr>
                        <a:t>Incremento 4</a:t>
                      </a:r>
                      <a:endParaRPr lang="en-US" sz="1100"/>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ts val="1440"/>
                        </a:lnSpc>
                        <a:defRPr/>
                      </a:pPr>
                      <a:r>
                        <a:rPr lang="en-US" sz="1200" b="1" u="none" strike="noStrike">
                          <a:solidFill>
                            <a:srgbClr val="1F1F1F"/>
                          </a:solidFill>
                          <a:latin typeface="Open Sans Bold"/>
                          <a:ea typeface="Open Sans Bold"/>
                          <a:cs typeface="Open Sans Bold"/>
                          <a:sym typeface="Open Sans Bold"/>
                        </a:rPr>
                        <a:t>Auditoría y Seguridad:</a:t>
                      </a:r>
                      <a:r>
                        <a:rPr lang="en-US" sz="1200" u="none" strike="noStrike">
                          <a:solidFill>
                            <a:srgbClr val="1F1F1F"/>
                          </a:solidFill>
                          <a:latin typeface="Open Sans"/>
                          <a:ea typeface="Open Sans"/>
                          <a:cs typeface="Open Sans"/>
                          <a:sym typeface="Open Sans"/>
                        </a:rPr>
                        <a:t> Roles de usuario, Bloqueos y Log de Auditoría.</a:t>
                      </a:r>
                      <a:endParaRPr lang="en-US" sz="1100"/>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1757"/>
                        </a:lnSpc>
                        <a:defRPr/>
                      </a:pPr>
                      <a:r>
                        <a:rPr lang="en-US" sz="1464">
                          <a:solidFill>
                            <a:srgbClr val="1F1F1F"/>
                          </a:solidFill>
                          <a:latin typeface="Open Sans"/>
                          <a:ea typeface="Open Sans"/>
                          <a:cs typeface="Open Sans"/>
                          <a:sym typeface="Open Sans"/>
                        </a:rPr>
                        <a:t>3</a:t>
                      </a:r>
                      <a:endParaRPr lang="en-US" sz="1100"/>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1757"/>
                        </a:lnSpc>
                        <a:defRPr/>
                      </a:pPr>
                      <a:r>
                        <a:rPr lang="en-US" sz="1464" b="1">
                          <a:solidFill>
                            <a:srgbClr val="1F1F1F"/>
                          </a:solidFill>
                          <a:latin typeface="Open Sans Bold"/>
                          <a:ea typeface="Open Sans Bold"/>
                          <a:cs typeface="Open Sans Bold"/>
                          <a:sym typeface="Open Sans Bold"/>
                        </a:rPr>
                        <a:t>100,00%</a:t>
                      </a:r>
                      <a:endParaRPr lang="en-US" sz="1100"/>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3059651" y="-173897"/>
            <a:ext cx="7613660" cy="761366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sp>
        <p:nvSpPr>
          <p:cNvPr id="5" name="Freeform 5"/>
          <p:cNvSpPr/>
          <p:nvPr/>
        </p:nvSpPr>
        <p:spPr>
          <a:xfrm>
            <a:off x="874722" y="7796583"/>
            <a:ext cx="6329677" cy="736544"/>
          </a:xfrm>
          <a:custGeom>
            <a:avLst/>
            <a:gdLst/>
            <a:ahLst/>
            <a:cxnLst/>
            <a:rect l="l" t="t" r="r" b="b"/>
            <a:pathLst>
              <a:path w="6329677" h="736544">
                <a:moveTo>
                  <a:pt x="0" y="0"/>
                </a:moveTo>
                <a:lnTo>
                  <a:pt x="6329676" y="0"/>
                </a:lnTo>
                <a:lnTo>
                  <a:pt x="6329676" y="736544"/>
                </a:lnTo>
                <a:lnTo>
                  <a:pt x="0" y="7365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6" name="Group 6"/>
          <p:cNvGrpSpPr/>
          <p:nvPr/>
        </p:nvGrpSpPr>
        <p:grpSpPr>
          <a:xfrm>
            <a:off x="15811427" y="4570195"/>
            <a:ext cx="3531409" cy="3531409"/>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sp>
        <p:nvSpPr>
          <p:cNvPr id="9" name="Freeform 9"/>
          <p:cNvSpPr/>
          <p:nvPr/>
        </p:nvSpPr>
        <p:spPr>
          <a:xfrm>
            <a:off x="321409" y="1028700"/>
            <a:ext cx="17645182" cy="6687187"/>
          </a:xfrm>
          <a:custGeom>
            <a:avLst/>
            <a:gdLst/>
            <a:ahLst/>
            <a:cxnLst/>
            <a:rect l="l" t="t" r="r" b="b"/>
            <a:pathLst>
              <a:path w="17645182" h="6687187">
                <a:moveTo>
                  <a:pt x="0" y="0"/>
                </a:moveTo>
                <a:lnTo>
                  <a:pt x="17645182" y="0"/>
                </a:lnTo>
                <a:lnTo>
                  <a:pt x="17645182" y="6687187"/>
                </a:lnTo>
                <a:lnTo>
                  <a:pt x="0" y="6687187"/>
                </a:lnTo>
                <a:lnTo>
                  <a:pt x="0" y="0"/>
                </a:lnTo>
                <a:close/>
              </a:path>
            </a:pathLst>
          </a:custGeom>
          <a:blipFill>
            <a:blip r:embed="rId5"/>
            <a:stretch>
              <a:fillRect/>
            </a:stretch>
          </a:blipFill>
        </p:spPr>
      </p:sp>
      <p:sp>
        <p:nvSpPr>
          <p:cNvPr id="10" name="TextBox 10"/>
          <p:cNvSpPr txBox="1"/>
          <p:nvPr/>
        </p:nvSpPr>
        <p:spPr>
          <a:xfrm>
            <a:off x="7935070" y="6567832"/>
            <a:ext cx="7748838" cy="2898229"/>
          </a:xfrm>
          <a:prstGeom prst="rect">
            <a:avLst/>
          </a:prstGeom>
        </p:spPr>
        <p:txBody>
          <a:bodyPr wrap="square" lIns="0" tIns="0" rIns="0" bIns="0" rtlCol="0" anchor="t">
            <a:spAutoFit/>
          </a:bodyPr>
          <a:lstStyle/>
          <a:p>
            <a:pPr algn="r">
              <a:lnSpc>
                <a:spcPts val="11299"/>
              </a:lnSpc>
            </a:pPr>
            <a:r>
              <a:rPr lang="en-US" sz="9999" dirty="0">
                <a:solidFill>
                  <a:srgbClr val="000000"/>
                </a:solidFill>
                <a:latin typeface="Impact"/>
                <a:ea typeface="Impact"/>
                <a:cs typeface="Impact"/>
                <a:sym typeface="Impact"/>
              </a:rPr>
              <a:t>DIAGRAMA DE COMPONENTES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031797" y="6819355"/>
            <a:ext cx="16230600" cy="3221269"/>
            <a:chOff x="0" y="0"/>
            <a:chExt cx="1732706" cy="343888"/>
          </a:xfrm>
        </p:grpSpPr>
        <p:sp>
          <p:nvSpPr>
            <p:cNvPr id="3" name="Freeform 3"/>
            <p:cNvSpPr/>
            <p:nvPr/>
          </p:nvSpPr>
          <p:spPr>
            <a:xfrm>
              <a:off x="0" y="0"/>
              <a:ext cx="1732705" cy="343888"/>
            </a:xfrm>
            <a:custGeom>
              <a:avLst/>
              <a:gdLst/>
              <a:ahLst/>
              <a:cxnLst/>
              <a:rect l="l" t="t" r="r" b="b"/>
              <a:pathLst>
                <a:path w="1732705" h="343888">
                  <a:moveTo>
                    <a:pt x="0" y="0"/>
                  </a:moveTo>
                  <a:lnTo>
                    <a:pt x="1732705" y="0"/>
                  </a:lnTo>
                  <a:lnTo>
                    <a:pt x="1732705" y="343888"/>
                  </a:lnTo>
                  <a:lnTo>
                    <a:pt x="0" y="343888"/>
                  </a:lnTo>
                  <a:close/>
                </a:path>
              </a:pathLst>
            </a:custGeom>
            <a:solidFill>
              <a:srgbClr val="FF873D">
                <a:alpha val="18824"/>
              </a:srgbClr>
            </a:solidFill>
          </p:spPr>
        </p:sp>
        <p:sp>
          <p:nvSpPr>
            <p:cNvPr id="4" name="TextBox 4"/>
            <p:cNvSpPr txBox="1"/>
            <p:nvPr/>
          </p:nvSpPr>
          <p:spPr>
            <a:xfrm>
              <a:off x="0" y="-38100"/>
              <a:ext cx="1732706" cy="381988"/>
            </a:xfrm>
            <a:prstGeom prst="rect">
              <a:avLst/>
            </a:prstGeom>
          </p:spPr>
          <p:txBody>
            <a:bodyPr lIns="50800" tIns="50800" rIns="50800" bIns="50800" rtlCol="0" anchor="ctr"/>
            <a:lstStyle/>
            <a:p>
              <a:pPr algn="ctr">
                <a:lnSpc>
                  <a:spcPts val="2380"/>
                </a:lnSpc>
              </a:pPr>
              <a:endParaRPr/>
            </a:p>
          </p:txBody>
        </p:sp>
      </p:grpSp>
      <p:sp>
        <p:nvSpPr>
          <p:cNvPr id="5" name="Freeform 5"/>
          <p:cNvSpPr/>
          <p:nvPr/>
        </p:nvSpPr>
        <p:spPr>
          <a:xfrm>
            <a:off x="1028700" y="3106249"/>
            <a:ext cx="1597381" cy="537785"/>
          </a:xfrm>
          <a:custGeom>
            <a:avLst/>
            <a:gdLst/>
            <a:ahLst/>
            <a:cxnLst/>
            <a:rect l="l" t="t" r="r" b="b"/>
            <a:pathLst>
              <a:path w="1597381" h="537785">
                <a:moveTo>
                  <a:pt x="0" y="0"/>
                </a:moveTo>
                <a:lnTo>
                  <a:pt x="1597381" y="0"/>
                </a:lnTo>
                <a:lnTo>
                  <a:pt x="1597381" y="537785"/>
                </a:lnTo>
                <a:lnTo>
                  <a:pt x="0" y="537785"/>
                </a:lnTo>
                <a:lnTo>
                  <a:pt x="0" y="0"/>
                </a:lnTo>
                <a:close/>
              </a:path>
            </a:pathLst>
          </a:custGeom>
          <a:blipFill>
            <a:blip r:embed="rId3">
              <a:alphaModFix amt="29000"/>
              <a:extLst>
                <a:ext uri="{96DAC541-7B7A-43D3-8B79-37D633B846F1}">
                  <asvg:svgBlip xmlns:asvg="http://schemas.microsoft.com/office/drawing/2016/SVG/main" r:embed="rId4"/>
                </a:ext>
              </a:extLst>
            </a:blip>
            <a:stretch>
              <a:fillRect/>
            </a:stretch>
          </a:blipFill>
        </p:spPr>
      </p:sp>
      <p:sp>
        <p:nvSpPr>
          <p:cNvPr id="6" name="Freeform 6"/>
          <p:cNvSpPr/>
          <p:nvPr/>
        </p:nvSpPr>
        <p:spPr>
          <a:xfrm>
            <a:off x="15665015" y="3106249"/>
            <a:ext cx="1597381" cy="537785"/>
          </a:xfrm>
          <a:custGeom>
            <a:avLst/>
            <a:gdLst/>
            <a:ahLst/>
            <a:cxnLst/>
            <a:rect l="l" t="t" r="r" b="b"/>
            <a:pathLst>
              <a:path w="1597381" h="537785">
                <a:moveTo>
                  <a:pt x="0" y="0"/>
                </a:moveTo>
                <a:lnTo>
                  <a:pt x="1597382" y="0"/>
                </a:lnTo>
                <a:lnTo>
                  <a:pt x="1597382" y="537785"/>
                </a:lnTo>
                <a:lnTo>
                  <a:pt x="0" y="537785"/>
                </a:lnTo>
                <a:lnTo>
                  <a:pt x="0" y="0"/>
                </a:lnTo>
                <a:close/>
              </a:path>
            </a:pathLst>
          </a:custGeom>
          <a:blipFill>
            <a:blip r:embed="rId3">
              <a:alphaModFix amt="29000"/>
              <a:extLst>
                <a:ext uri="{96DAC541-7B7A-43D3-8B79-37D633B846F1}">
                  <asvg:svgBlip xmlns:asvg="http://schemas.microsoft.com/office/drawing/2016/SVG/main" r:embed="rId4"/>
                </a:ext>
              </a:extLst>
            </a:blip>
            <a:stretch>
              <a:fillRect/>
            </a:stretch>
          </a:blipFill>
        </p:spPr>
      </p:sp>
      <p:sp>
        <p:nvSpPr>
          <p:cNvPr id="7" name="Freeform 7"/>
          <p:cNvSpPr/>
          <p:nvPr/>
        </p:nvSpPr>
        <p:spPr>
          <a:xfrm>
            <a:off x="6295955" y="200679"/>
            <a:ext cx="9710639" cy="9556011"/>
          </a:xfrm>
          <a:custGeom>
            <a:avLst/>
            <a:gdLst/>
            <a:ahLst/>
            <a:cxnLst/>
            <a:rect l="l" t="t" r="r" b="b"/>
            <a:pathLst>
              <a:path w="9710639" h="9556011">
                <a:moveTo>
                  <a:pt x="0" y="0"/>
                </a:moveTo>
                <a:lnTo>
                  <a:pt x="9710639" y="0"/>
                </a:lnTo>
                <a:lnTo>
                  <a:pt x="9710639" y="9556011"/>
                </a:lnTo>
                <a:lnTo>
                  <a:pt x="0" y="9556011"/>
                </a:lnTo>
                <a:lnTo>
                  <a:pt x="0" y="0"/>
                </a:lnTo>
                <a:close/>
              </a:path>
            </a:pathLst>
          </a:custGeom>
          <a:blipFill>
            <a:blip r:embed="rId5"/>
            <a:stretch>
              <a:fillRect/>
            </a:stretch>
          </a:blipFill>
        </p:spPr>
      </p:sp>
      <p:sp>
        <p:nvSpPr>
          <p:cNvPr id="8" name="TextBox 8"/>
          <p:cNvSpPr txBox="1"/>
          <p:nvPr/>
        </p:nvSpPr>
        <p:spPr>
          <a:xfrm>
            <a:off x="680357" y="1409389"/>
            <a:ext cx="5644243" cy="4116512"/>
          </a:xfrm>
          <a:prstGeom prst="rect">
            <a:avLst/>
          </a:prstGeom>
        </p:spPr>
        <p:txBody>
          <a:bodyPr wrap="square" lIns="0" tIns="0" rIns="0" bIns="0" rtlCol="0" anchor="t">
            <a:spAutoFit/>
          </a:bodyPr>
          <a:lstStyle/>
          <a:p>
            <a:pPr algn="ctr">
              <a:lnSpc>
                <a:spcPts val="10734"/>
              </a:lnSpc>
            </a:pPr>
            <a:r>
              <a:rPr lang="en-US" sz="9499" dirty="0">
                <a:solidFill>
                  <a:srgbClr val="000000"/>
                </a:solidFill>
                <a:latin typeface="Impact"/>
                <a:ea typeface="Impact"/>
                <a:cs typeface="Impact"/>
                <a:sym typeface="Impact"/>
              </a:rPr>
              <a:t>DIAGRAMA DE DESPLIEGUE</a:t>
            </a:r>
          </a:p>
        </p:txBody>
      </p:sp>
      <p:sp>
        <p:nvSpPr>
          <p:cNvPr id="9" name="Freeform 9"/>
          <p:cNvSpPr/>
          <p:nvPr/>
        </p:nvSpPr>
        <p:spPr>
          <a:xfrm>
            <a:off x="4557040" y="3106249"/>
            <a:ext cx="1597381" cy="537785"/>
          </a:xfrm>
          <a:custGeom>
            <a:avLst/>
            <a:gdLst/>
            <a:ahLst/>
            <a:cxnLst/>
            <a:rect l="l" t="t" r="r" b="b"/>
            <a:pathLst>
              <a:path w="1597381" h="537785">
                <a:moveTo>
                  <a:pt x="0" y="0"/>
                </a:moveTo>
                <a:lnTo>
                  <a:pt x="1597381" y="0"/>
                </a:lnTo>
                <a:lnTo>
                  <a:pt x="1597381" y="537785"/>
                </a:lnTo>
                <a:lnTo>
                  <a:pt x="0" y="537785"/>
                </a:lnTo>
                <a:lnTo>
                  <a:pt x="0" y="0"/>
                </a:lnTo>
                <a:close/>
              </a:path>
            </a:pathLst>
          </a:custGeom>
          <a:blipFill>
            <a:blip r:embed="rId3">
              <a:alphaModFix amt="29000"/>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180592" y="2898944"/>
            <a:ext cx="8340931" cy="834093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grpSp>
        <p:nvGrpSpPr>
          <p:cNvPr id="5" name="Group 5"/>
          <p:cNvGrpSpPr/>
          <p:nvPr/>
        </p:nvGrpSpPr>
        <p:grpSpPr>
          <a:xfrm>
            <a:off x="-522981" y="8960370"/>
            <a:ext cx="8886237" cy="1326630"/>
            <a:chOff x="0" y="0"/>
            <a:chExt cx="2340408" cy="349400"/>
          </a:xfrm>
        </p:grpSpPr>
        <p:sp>
          <p:nvSpPr>
            <p:cNvPr id="6" name="Freeform 6"/>
            <p:cNvSpPr/>
            <p:nvPr/>
          </p:nvSpPr>
          <p:spPr>
            <a:xfrm>
              <a:off x="0" y="0"/>
              <a:ext cx="2340408" cy="349400"/>
            </a:xfrm>
            <a:custGeom>
              <a:avLst/>
              <a:gdLst/>
              <a:ahLst/>
              <a:cxnLst/>
              <a:rect l="l" t="t" r="r" b="b"/>
              <a:pathLst>
                <a:path w="2340408" h="349400">
                  <a:moveTo>
                    <a:pt x="0" y="0"/>
                  </a:moveTo>
                  <a:lnTo>
                    <a:pt x="2340408" y="0"/>
                  </a:lnTo>
                  <a:lnTo>
                    <a:pt x="2340408" y="349400"/>
                  </a:lnTo>
                  <a:lnTo>
                    <a:pt x="0" y="349400"/>
                  </a:lnTo>
                  <a:close/>
                </a:path>
              </a:pathLst>
            </a:custGeom>
            <a:solidFill>
              <a:srgbClr val="FF873D"/>
            </a:solidFill>
          </p:spPr>
        </p:sp>
        <p:sp>
          <p:nvSpPr>
            <p:cNvPr id="7" name="TextBox 7"/>
            <p:cNvSpPr txBox="1"/>
            <p:nvPr/>
          </p:nvSpPr>
          <p:spPr>
            <a:xfrm>
              <a:off x="0" y="-38100"/>
              <a:ext cx="2340408" cy="387500"/>
            </a:xfrm>
            <a:prstGeom prst="rect">
              <a:avLst/>
            </a:prstGeom>
          </p:spPr>
          <p:txBody>
            <a:bodyPr lIns="50800" tIns="50800" rIns="50800" bIns="50800" rtlCol="0" anchor="ctr"/>
            <a:lstStyle/>
            <a:p>
              <a:pPr algn="ctr">
                <a:lnSpc>
                  <a:spcPts val="2380"/>
                </a:lnSpc>
              </a:pPr>
              <a:endParaRPr/>
            </a:p>
          </p:txBody>
        </p:sp>
      </p:grpSp>
      <p:sp>
        <p:nvSpPr>
          <p:cNvPr id="8" name="Freeform 8"/>
          <p:cNvSpPr/>
          <p:nvPr/>
        </p:nvSpPr>
        <p:spPr>
          <a:xfrm>
            <a:off x="11296203" y="765889"/>
            <a:ext cx="1577524" cy="773644"/>
          </a:xfrm>
          <a:custGeom>
            <a:avLst/>
            <a:gdLst/>
            <a:ahLst/>
            <a:cxnLst/>
            <a:rect l="l" t="t" r="r" b="b"/>
            <a:pathLst>
              <a:path w="1577524" h="773644">
                <a:moveTo>
                  <a:pt x="0" y="0"/>
                </a:moveTo>
                <a:lnTo>
                  <a:pt x="1577525" y="0"/>
                </a:lnTo>
                <a:lnTo>
                  <a:pt x="1577525" y="773644"/>
                </a:lnTo>
                <a:lnTo>
                  <a:pt x="0" y="7736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9" name="Group 9"/>
          <p:cNvGrpSpPr/>
          <p:nvPr/>
        </p:nvGrpSpPr>
        <p:grpSpPr>
          <a:xfrm>
            <a:off x="15054241" y="3820733"/>
            <a:ext cx="2291432" cy="229143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sp>
        <p:nvSpPr>
          <p:cNvPr id="12" name="Freeform 12"/>
          <p:cNvSpPr/>
          <p:nvPr/>
        </p:nvSpPr>
        <p:spPr>
          <a:xfrm>
            <a:off x="15599878" y="4365869"/>
            <a:ext cx="1200159" cy="1201160"/>
          </a:xfrm>
          <a:custGeom>
            <a:avLst/>
            <a:gdLst/>
            <a:ahLst/>
            <a:cxnLst/>
            <a:rect l="l" t="t" r="r" b="b"/>
            <a:pathLst>
              <a:path w="1200159" h="1201160">
                <a:moveTo>
                  <a:pt x="0" y="0"/>
                </a:moveTo>
                <a:lnTo>
                  <a:pt x="1200159" y="0"/>
                </a:lnTo>
                <a:lnTo>
                  <a:pt x="1200159" y="1201160"/>
                </a:lnTo>
                <a:lnTo>
                  <a:pt x="0" y="120116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3" name="Freeform 13"/>
          <p:cNvSpPr/>
          <p:nvPr/>
        </p:nvSpPr>
        <p:spPr>
          <a:xfrm>
            <a:off x="327113" y="268094"/>
            <a:ext cx="13666452" cy="9788596"/>
          </a:xfrm>
          <a:custGeom>
            <a:avLst/>
            <a:gdLst/>
            <a:ahLst/>
            <a:cxnLst/>
            <a:rect l="l" t="t" r="r" b="b"/>
            <a:pathLst>
              <a:path w="13666452" h="9788596">
                <a:moveTo>
                  <a:pt x="0" y="0"/>
                </a:moveTo>
                <a:lnTo>
                  <a:pt x="13666452" y="0"/>
                </a:lnTo>
                <a:lnTo>
                  <a:pt x="13666452" y="9788596"/>
                </a:lnTo>
                <a:lnTo>
                  <a:pt x="0" y="9788596"/>
                </a:lnTo>
                <a:lnTo>
                  <a:pt x="0" y="0"/>
                </a:lnTo>
                <a:close/>
              </a:path>
            </a:pathLst>
          </a:custGeom>
          <a:blipFill>
            <a:blip r:embed="rId7"/>
            <a:stretch>
              <a:fillRect/>
            </a:stretch>
          </a:blipFill>
        </p:spPr>
      </p:sp>
      <p:sp>
        <p:nvSpPr>
          <p:cNvPr id="14" name="TextBox 14"/>
          <p:cNvSpPr txBox="1"/>
          <p:nvPr/>
        </p:nvSpPr>
        <p:spPr>
          <a:xfrm>
            <a:off x="11931767" y="367154"/>
            <a:ext cx="5841731" cy="2704917"/>
          </a:xfrm>
          <a:prstGeom prst="rect">
            <a:avLst/>
          </a:prstGeom>
        </p:spPr>
        <p:txBody>
          <a:bodyPr lIns="0" tIns="0" rIns="0" bIns="0" rtlCol="0" anchor="t">
            <a:spAutoFit/>
          </a:bodyPr>
          <a:lstStyle/>
          <a:p>
            <a:pPr algn="r">
              <a:lnSpc>
                <a:spcPts val="9902"/>
              </a:lnSpc>
            </a:pPr>
            <a:r>
              <a:rPr lang="en-US" sz="8763">
                <a:solidFill>
                  <a:srgbClr val="000000"/>
                </a:solidFill>
                <a:latin typeface="Impact"/>
                <a:ea typeface="Impact"/>
                <a:cs typeface="Impact"/>
                <a:sym typeface="Impact"/>
              </a:rPr>
              <a:t>MODELO DE DATOS</a:t>
            </a:r>
          </a:p>
        </p:txBody>
      </p:sp>
      <p:sp>
        <p:nvSpPr>
          <p:cNvPr id="15" name="TextBox 15"/>
          <p:cNvSpPr txBox="1"/>
          <p:nvPr/>
        </p:nvSpPr>
        <p:spPr>
          <a:xfrm>
            <a:off x="14196654" y="9569217"/>
            <a:ext cx="2806448" cy="487473"/>
          </a:xfrm>
          <a:prstGeom prst="rect">
            <a:avLst/>
          </a:prstGeom>
        </p:spPr>
        <p:txBody>
          <a:bodyPr lIns="0" tIns="0" rIns="0" bIns="0" rtlCol="0" anchor="t">
            <a:spAutoFit/>
          </a:bodyPr>
          <a:lstStyle/>
          <a:p>
            <a:pPr algn="ctr">
              <a:lnSpc>
                <a:spcPts val="2006"/>
              </a:lnSpc>
            </a:pPr>
            <a:r>
              <a:rPr lang="en-US" sz="1433">
                <a:solidFill>
                  <a:srgbClr val="000000"/>
                </a:solidFill>
                <a:latin typeface="Open Sans"/>
                <a:ea typeface="Open Sans"/>
                <a:cs typeface="Open Sans"/>
                <a:sym typeface="Open Sans"/>
              </a:rPr>
              <a:t>Segmento del modelo de datos utilizado para el incremento 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2941084" y="1751109"/>
            <a:ext cx="234493" cy="8229600"/>
            <a:chOff x="0" y="0"/>
            <a:chExt cx="61760" cy="2167467"/>
          </a:xfrm>
        </p:grpSpPr>
        <p:sp>
          <p:nvSpPr>
            <p:cNvPr id="3" name="Freeform 3"/>
            <p:cNvSpPr/>
            <p:nvPr/>
          </p:nvSpPr>
          <p:spPr>
            <a:xfrm>
              <a:off x="0" y="0"/>
              <a:ext cx="61760" cy="2167467"/>
            </a:xfrm>
            <a:custGeom>
              <a:avLst/>
              <a:gdLst/>
              <a:ahLst/>
              <a:cxnLst/>
              <a:rect l="l" t="t" r="r" b="b"/>
              <a:pathLst>
                <a:path w="61760" h="2167467">
                  <a:moveTo>
                    <a:pt x="0" y="0"/>
                  </a:moveTo>
                  <a:lnTo>
                    <a:pt x="61760" y="0"/>
                  </a:lnTo>
                  <a:lnTo>
                    <a:pt x="61760" y="2167467"/>
                  </a:lnTo>
                  <a:lnTo>
                    <a:pt x="0" y="2167467"/>
                  </a:lnTo>
                  <a:close/>
                </a:path>
              </a:pathLst>
            </a:custGeom>
            <a:solidFill>
              <a:srgbClr val="FF873D"/>
            </a:solidFill>
          </p:spPr>
        </p:sp>
        <p:sp>
          <p:nvSpPr>
            <p:cNvPr id="4" name="TextBox 4"/>
            <p:cNvSpPr txBox="1"/>
            <p:nvPr/>
          </p:nvSpPr>
          <p:spPr>
            <a:xfrm>
              <a:off x="0" y="-38100"/>
              <a:ext cx="61760" cy="2205567"/>
            </a:xfrm>
            <a:prstGeom prst="rect">
              <a:avLst/>
            </a:prstGeom>
          </p:spPr>
          <p:txBody>
            <a:bodyPr lIns="50800" tIns="50800" rIns="50800" bIns="50800" rtlCol="0" anchor="ctr"/>
            <a:lstStyle/>
            <a:p>
              <a:pPr algn="ctr">
                <a:lnSpc>
                  <a:spcPts val="2380"/>
                </a:lnSpc>
              </a:pPr>
              <a:endParaRPr/>
            </a:p>
          </p:txBody>
        </p:sp>
      </p:grpSp>
      <p:grpSp>
        <p:nvGrpSpPr>
          <p:cNvPr id="5" name="Group 5"/>
          <p:cNvGrpSpPr/>
          <p:nvPr/>
        </p:nvGrpSpPr>
        <p:grpSpPr>
          <a:xfrm>
            <a:off x="-231633" y="-1921513"/>
            <a:ext cx="3860075" cy="386007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grpSp>
        <p:nvGrpSpPr>
          <p:cNvPr id="8" name="Group 8"/>
          <p:cNvGrpSpPr/>
          <p:nvPr/>
        </p:nvGrpSpPr>
        <p:grpSpPr>
          <a:xfrm>
            <a:off x="-450373" y="8525"/>
            <a:ext cx="2148777" cy="10278475"/>
            <a:chOff x="0" y="0"/>
            <a:chExt cx="229394" cy="1097284"/>
          </a:xfrm>
        </p:grpSpPr>
        <p:sp>
          <p:nvSpPr>
            <p:cNvPr id="9" name="Freeform 9"/>
            <p:cNvSpPr/>
            <p:nvPr/>
          </p:nvSpPr>
          <p:spPr>
            <a:xfrm>
              <a:off x="0" y="0"/>
              <a:ext cx="229394" cy="1097284"/>
            </a:xfrm>
            <a:custGeom>
              <a:avLst/>
              <a:gdLst/>
              <a:ahLst/>
              <a:cxnLst/>
              <a:rect l="l" t="t" r="r" b="b"/>
              <a:pathLst>
                <a:path w="229394" h="1097284">
                  <a:moveTo>
                    <a:pt x="0" y="0"/>
                  </a:moveTo>
                  <a:lnTo>
                    <a:pt x="229394" y="0"/>
                  </a:lnTo>
                  <a:lnTo>
                    <a:pt x="229394" y="1097284"/>
                  </a:lnTo>
                  <a:lnTo>
                    <a:pt x="0" y="1097284"/>
                  </a:lnTo>
                  <a:close/>
                </a:path>
              </a:pathLst>
            </a:custGeom>
            <a:solidFill>
              <a:srgbClr val="FF873D"/>
            </a:solidFill>
          </p:spPr>
        </p:sp>
        <p:sp>
          <p:nvSpPr>
            <p:cNvPr id="10" name="TextBox 10"/>
            <p:cNvSpPr txBox="1"/>
            <p:nvPr/>
          </p:nvSpPr>
          <p:spPr>
            <a:xfrm>
              <a:off x="0" y="-38100"/>
              <a:ext cx="229394" cy="1135384"/>
            </a:xfrm>
            <a:prstGeom prst="rect">
              <a:avLst/>
            </a:prstGeom>
          </p:spPr>
          <p:txBody>
            <a:bodyPr lIns="50800" tIns="50800" rIns="50800" bIns="50800" rtlCol="0" anchor="ctr"/>
            <a:lstStyle/>
            <a:p>
              <a:pPr algn="ctr">
                <a:lnSpc>
                  <a:spcPts val="2380"/>
                </a:lnSpc>
              </a:pPr>
              <a:endParaRPr/>
            </a:p>
          </p:txBody>
        </p:sp>
      </p:grpSp>
      <p:grpSp>
        <p:nvGrpSpPr>
          <p:cNvPr id="11" name="Group 11"/>
          <p:cNvGrpSpPr/>
          <p:nvPr/>
        </p:nvGrpSpPr>
        <p:grpSpPr>
          <a:xfrm>
            <a:off x="9547785" y="7287542"/>
            <a:ext cx="5386334" cy="538633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sp>
        <p:nvSpPr>
          <p:cNvPr id="14" name="Freeform 14"/>
          <p:cNvSpPr/>
          <p:nvPr/>
        </p:nvSpPr>
        <p:spPr>
          <a:xfrm>
            <a:off x="2713899" y="2686402"/>
            <a:ext cx="14545401" cy="5621952"/>
          </a:xfrm>
          <a:custGeom>
            <a:avLst/>
            <a:gdLst/>
            <a:ahLst/>
            <a:cxnLst/>
            <a:rect l="l" t="t" r="r" b="b"/>
            <a:pathLst>
              <a:path w="14545401" h="5621952">
                <a:moveTo>
                  <a:pt x="0" y="0"/>
                </a:moveTo>
                <a:lnTo>
                  <a:pt x="14545401" y="0"/>
                </a:lnTo>
                <a:lnTo>
                  <a:pt x="14545401" y="5621952"/>
                </a:lnTo>
                <a:lnTo>
                  <a:pt x="0" y="5621952"/>
                </a:lnTo>
                <a:lnTo>
                  <a:pt x="0" y="0"/>
                </a:lnTo>
                <a:close/>
              </a:path>
            </a:pathLst>
          </a:custGeom>
          <a:blipFill>
            <a:blip r:embed="rId3"/>
            <a:stretch>
              <a:fillRect l="-524" r="-524"/>
            </a:stretch>
          </a:blipFill>
        </p:spPr>
      </p:sp>
      <p:sp>
        <p:nvSpPr>
          <p:cNvPr id="15" name="TextBox 15"/>
          <p:cNvSpPr txBox="1"/>
          <p:nvPr/>
        </p:nvSpPr>
        <p:spPr>
          <a:xfrm>
            <a:off x="4418258" y="313578"/>
            <a:ext cx="12841042" cy="1896313"/>
          </a:xfrm>
          <a:prstGeom prst="rect">
            <a:avLst/>
          </a:prstGeom>
        </p:spPr>
        <p:txBody>
          <a:bodyPr lIns="0" tIns="0" rIns="0" bIns="0" rtlCol="0" anchor="t">
            <a:spAutoFit/>
          </a:bodyPr>
          <a:lstStyle/>
          <a:p>
            <a:pPr algn="r">
              <a:lnSpc>
                <a:spcPts val="12946"/>
              </a:lnSpc>
            </a:pPr>
            <a:r>
              <a:rPr lang="en-US" sz="11457">
                <a:solidFill>
                  <a:srgbClr val="000000"/>
                </a:solidFill>
                <a:latin typeface="Impact"/>
                <a:ea typeface="Impact"/>
                <a:cs typeface="Impact"/>
                <a:sym typeface="Impact"/>
              </a:rPr>
              <a:t>ÁRBOL DE NAVEGACIÓN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29169" y="8231276"/>
            <a:ext cx="18317169" cy="2055724"/>
            <a:chOff x="0" y="0"/>
            <a:chExt cx="4824275" cy="541425"/>
          </a:xfrm>
        </p:grpSpPr>
        <p:sp>
          <p:nvSpPr>
            <p:cNvPr id="3" name="Freeform 3"/>
            <p:cNvSpPr/>
            <p:nvPr/>
          </p:nvSpPr>
          <p:spPr>
            <a:xfrm>
              <a:off x="0" y="0"/>
              <a:ext cx="4824275" cy="541425"/>
            </a:xfrm>
            <a:custGeom>
              <a:avLst/>
              <a:gdLst/>
              <a:ahLst/>
              <a:cxnLst/>
              <a:rect l="l" t="t" r="r" b="b"/>
              <a:pathLst>
                <a:path w="4824275" h="541425">
                  <a:moveTo>
                    <a:pt x="0" y="0"/>
                  </a:moveTo>
                  <a:lnTo>
                    <a:pt x="4824275" y="0"/>
                  </a:lnTo>
                  <a:lnTo>
                    <a:pt x="4824275" y="541425"/>
                  </a:lnTo>
                  <a:lnTo>
                    <a:pt x="0" y="541425"/>
                  </a:lnTo>
                  <a:close/>
                </a:path>
              </a:pathLst>
            </a:custGeom>
            <a:solidFill>
              <a:srgbClr val="545454"/>
            </a:solidFill>
          </p:spPr>
        </p:sp>
        <p:sp>
          <p:nvSpPr>
            <p:cNvPr id="4" name="TextBox 4"/>
            <p:cNvSpPr txBox="1"/>
            <p:nvPr/>
          </p:nvSpPr>
          <p:spPr>
            <a:xfrm>
              <a:off x="0" y="-38100"/>
              <a:ext cx="4824275" cy="579525"/>
            </a:xfrm>
            <a:prstGeom prst="rect">
              <a:avLst/>
            </a:prstGeom>
          </p:spPr>
          <p:txBody>
            <a:bodyPr lIns="50800" tIns="50800" rIns="50800" bIns="50800" rtlCol="0" anchor="ctr"/>
            <a:lstStyle/>
            <a:p>
              <a:pPr algn="ctr">
                <a:lnSpc>
                  <a:spcPts val="2380"/>
                </a:lnSpc>
              </a:pPr>
              <a:endParaRPr/>
            </a:p>
          </p:txBody>
        </p:sp>
      </p:grpSp>
      <p:grpSp>
        <p:nvGrpSpPr>
          <p:cNvPr id="5" name="Group 5"/>
          <p:cNvGrpSpPr/>
          <p:nvPr/>
        </p:nvGrpSpPr>
        <p:grpSpPr>
          <a:xfrm>
            <a:off x="426647" y="3307561"/>
            <a:ext cx="5058822" cy="6305442"/>
            <a:chOff x="0" y="0"/>
            <a:chExt cx="903815" cy="1126537"/>
          </a:xfrm>
        </p:grpSpPr>
        <p:sp>
          <p:nvSpPr>
            <p:cNvPr id="6" name="Freeform 6"/>
            <p:cNvSpPr/>
            <p:nvPr/>
          </p:nvSpPr>
          <p:spPr>
            <a:xfrm>
              <a:off x="0" y="0"/>
              <a:ext cx="903815" cy="1126537"/>
            </a:xfrm>
            <a:custGeom>
              <a:avLst/>
              <a:gdLst/>
              <a:ahLst/>
              <a:cxnLst/>
              <a:rect l="l" t="t" r="r" b="b"/>
              <a:pathLst>
                <a:path w="903815" h="1126537">
                  <a:moveTo>
                    <a:pt x="0" y="0"/>
                  </a:moveTo>
                  <a:lnTo>
                    <a:pt x="903815" y="0"/>
                  </a:lnTo>
                  <a:lnTo>
                    <a:pt x="903815" y="1126537"/>
                  </a:lnTo>
                  <a:lnTo>
                    <a:pt x="0" y="1126537"/>
                  </a:lnTo>
                  <a:close/>
                </a:path>
              </a:pathLst>
            </a:custGeom>
            <a:solidFill>
              <a:srgbClr val="FF873D"/>
            </a:solidFill>
          </p:spPr>
        </p:sp>
        <p:sp>
          <p:nvSpPr>
            <p:cNvPr id="7" name="TextBox 7"/>
            <p:cNvSpPr txBox="1"/>
            <p:nvPr/>
          </p:nvSpPr>
          <p:spPr>
            <a:xfrm>
              <a:off x="0" y="-38100"/>
              <a:ext cx="903815" cy="1164637"/>
            </a:xfrm>
            <a:prstGeom prst="rect">
              <a:avLst/>
            </a:prstGeom>
          </p:spPr>
          <p:txBody>
            <a:bodyPr lIns="50800" tIns="50800" rIns="50800" bIns="50800" rtlCol="0" anchor="ctr"/>
            <a:lstStyle/>
            <a:p>
              <a:pPr algn="ctr">
                <a:lnSpc>
                  <a:spcPts val="2380"/>
                </a:lnSpc>
              </a:pPr>
              <a:endParaRPr/>
            </a:p>
          </p:txBody>
        </p:sp>
      </p:grpSp>
      <p:grpSp>
        <p:nvGrpSpPr>
          <p:cNvPr id="8" name="Group 8"/>
          <p:cNvGrpSpPr/>
          <p:nvPr/>
        </p:nvGrpSpPr>
        <p:grpSpPr>
          <a:xfrm>
            <a:off x="799195" y="2709995"/>
            <a:ext cx="4313727" cy="1139752"/>
            <a:chOff x="0" y="0"/>
            <a:chExt cx="770695" cy="203629"/>
          </a:xfrm>
        </p:grpSpPr>
        <p:sp>
          <p:nvSpPr>
            <p:cNvPr id="9" name="Freeform 9"/>
            <p:cNvSpPr/>
            <p:nvPr/>
          </p:nvSpPr>
          <p:spPr>
            <a:xfrm>
              <a:off x="0" y="0"/>
              <a:ext cx="770695" cy="203629"/>
            </a:xfrm>
            <a:custGeom>
              <a:avLst/>
              <a:gdLst/>
              <a:ahLst/>
              <a:cxnLst/>
              <a:rect l="l" t="t" r="r" b="b"/>
              <a:pathLst>
                <a:path w="770695" h="203629">
                  <a:moveTo>
                    <a:pt x="0" y="0"/>
                  </a:moveTo>
                  <a:lnTo>
                    <a:pt x="770695" y="0"/>
                  </a:lnTo>
                  <a:lnTo>
                    <a:pt x="770695" y="203629"/>
                  </a:lnTo>
                  <a:lnTo>
                    <a:pt x="0" y="203629"/>
                  </a:lnTo>
                  <a:close/>
                </a:path>
              </a:pathLst>
            </a:custGeom>
            <a:solidFill>
              <a:srgbClr val="545454"/>
            </a:solidFill>
          </p:spPr>
        </p:sp>
        <p:sp>
          <p:nvSpPr>
            <p:cNvPr id="10" name="TextBox 10"/>
            <p:cNvSpPr txBox="1"/>
            <p:nvPr/>
          </p:nvSpPr>
          <p:spPr>
            <a:xfrm>
              <a:off x="0" y="-38100"/>
              <a:ext cx="770695" cy="241729"/>
            </a:xfrm>
            <a:prstGeom prst="rect">
              <a:avLst/>
            </a:prstGeom>
          </p:spPr>
          <p:txBody>
            <a:bodyPr lIns="50800" tIns="50800" rIns="50800" bIns="50800" rtlCol="0" anchor="ctr"/>
            <a:lstStyle/>
            <a:p>
              <a:pPr algn="ctr">
                <a:lnSpc>
                  <a:spcPts val="2380"/>
                </a:lnSpc>
              </a:pPr>
              <a:endParaRPr/>
            </a:p>
          </p:txBody>
        </p:sp>
      </p:grpSp>
      <p:sp>
        <p:nvSpPr>
          <p:cNvPr id="11" name="TextBox 11"/>
          <p:cNvSpPr txBox="1"/>
          <p:nvPr/>
        </p:nvSpPr>
        <p:spPr>
          <a:xfrm>
            <a:off x="1042879" y="1014626"/>
            <a:ext cx="7658974" cy="1570354"/>
          </a:xfrm>
          <a:prstGeom prst="rect">
            <a:avLst/>
          </a:prstGeom>
        </p:spPr>
        <p:txBody>
          <a:bodyPr lIns="0" tIns="0" rIns="0" bIns="0" rtlCol="0" anchor="t">
            <a:spAutoFit/>
          </a:bodyPr>
          <a:lstStyle/>
          <a:p>
            <a:pPr algn="l">
              <a:lnSpc>
                <a:spcPts val="10734"/>
              </a:lnSpc>
            </a:pPr>
            <a:r>
              <a:rPr lang="en-US" sz="9499">
                <a:solidFill>
                  <a:srgbClr val="000000"/>
                </a:solidFill>
                <a:latin typeface="Impact"/>
                <a:ea typeface="Impact"/>
                <a:cs typeface="Impact"/>
                <a:sym typeface="Impact"/>
              </a:rPr>
              <a:t>RF02</a:t>
            </a:r>
          </a:p>
        </p:txBody>
      </p:sp>
      <p:sp>
        <p:nvSpPr>
          <p:cNvPr id="12" name="TextBox 12"/>
          <p:cNvSpPr txBox="1"/>
          <p:nvPr/>
        </p:nvSpPr>
        <p:spPr>
          <a:xfrm>
            <a:off x="13588555" y="7742328"/>
            <a:ext cx="2730865" cy="450848"/>
          </a:xfrm>
          <a:prstGeom prst="rect">
            <a:avLst/>
          </a:prstGeom>
        </p:spPr>
        <p:txBody>
          <a:bodyPr lIns="0" tIns="0" rIns="0" bIns="0" rtlCol="0" anchor="t">
            <a:spAutoFit/>
          </a:bodyPr>
          <a:lstStyle/>
          <a:p>
            <a:pPr algn="l">
              <a:lnSpc>
                <a:spcPts val="3500"/>
              </a:lnSpc>
            </a:pPr>
            <a:r>
              <a:rPr lang="en-US" sz="2500" b="1">
                <a:solidFill>
                  <a:srgbClr val="FFFFFF"/>
                </a:solidFill>
                <a:latin typeface="Poppins Ultra-Bold"/>
                <a:ea typeface="Poppins Ultra-Bold"/>
                <a:cs typeface="Poppins Ultra-Bold"/>
                <a:sym typeface="Poppins Ultra-Bold"/>
              </a:rPr>
              <a:t>EFFICIENCY</a:t>
            </a:r>
          </a:p>
        </p:txBody>
      </p:sp>
      <p:grpSp>
        <p:nvGrpSpPr>
          <p:cNvPr id="13" name="Group 13"/>
          <p:cNvGrpSpPr/>
          <p:nvPr/>
        </p:nvGrpSpPr>
        <p:grpSpPr>
          <a:xfrm>
            <a:off x="12565518" y="-2454676"/>
            <a:ext cx="7186254" cy="7186254"/>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p:spPr>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sp>
        <p:nvSpPr>
          <p:cNvPr id="16" name="Freeform 16"/>
          <p:cNvSpPr/>
          <p:nvPr/>
        </p:nvSpPr>
        <p:spPr>
          <a:xfrm rot="-10800000">
            <a:off x="4620050" y="1346589"/>
            <a:ext cx="5741326" cy="668082"/>
          </a:xfrm>
          <a:custGeom>
            <a:avLst/>
            <a:gdLst/>
            <a:ahLst/>
            <a:cxnLst/>
            <a:rect l="l" t="t" r="r" b="b"/>
            <a:pathLst>
              <a:path w="5741326" h="668082">
                <a:moveTo>
                  <a:pt x="0" y="0"/>
                </a:moveTo>
                <a:lnTo>
                  <a:pt x="5741326" y="0"/>
                </a:lnTo>
                <a:lnTo>
                  <a:pt x="5741326" y="668081"/>
                </a:lnTo>
                <a:lnTo>
                  <a:pt x="0" y="6680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7" name="Freeform 17"/>
          <p:cNvSpPr/>
          <p:nvPr/>
        </p:nvSpPr>
        <p:spPr>
          <a:xfrm>
            <a:off x="8996418" y="4548640"/>
            <a:ext cx="1766910" cy="594860"/>
          </a:xfrm>
          <a:custGeom>
            <a:avLst/>
            <a:gdLst/>
            <a:ahLst/>
            <a:cxnLst/>
            <a:rect l="l" t="t" r="r" b="b"/>
            <a:pathLst>
              <a:path w="1766910" h="594860">
                <a:moveTo>
                  <a:pt x="0" y="0"/>
                </a:moveTo>
                <a:lnTo>
                  <a:pt x="1766910" y="0"/>
                </a:lnTo>
                <a:lnTo>
                  <a:pt x="1766910" y="594860"/>
                </a:lnTo>
                <a:lnTo>
                  <a:pt x="0" y="594860"/>
                </a:lnTo>
                <a:lnTo>
                  <a:pt x="0" y="0"/>
                </a:lnTo>
                <a:close/>
              </a:path>
            </a:pathLst>
          </a:custGeom>
          <a:blipFill>
            <a:blip r:embed="rId5">
              <a:alphaModFix amt="29000"/>
              <a:extLst>
                <a:ext uri="{96DAC541-7B7A-43D3-8B79-37D633B846F1}">
                  <asvg:svgBlip xmlns:asvg="http://schemas.microsoft.com/office/drawing/2016/SVG/main" r:embed="rId6"/>
                </a:ext>
              </a:extLst>
            </a:blip>
            <a:stretch>
              <a:fillRect/>
            </a:stretch>
          </a:blipFill>
        </p:spPr>
      </p:sp>
      <p:sp>
        <p:nvSpPr>
          <p:cNvPr id="18" name="Freeform 18"/>
          <p:cNvSpPr/>
          <p:nvPr/>
        </p:nvSpPr>
        <p:spPr>
          <a:xfrm rot="-5400000">
            <a:off x="1648039" y="-94030"/>
            <a:ext cx="219896" cy="1430217"/>
          </a:xfrm>
          <a:custGeom>
            <a:avLst/>
            <a:gdLst/>
            <a:ahLst/>
            <a:cxnLst/>
            <a:rect l="l" t="t" r="r" b="b"/>
            <a:pathLst>
              <a:path w="219896" h="1430217">
                <a:moveTo>
                  <a:pt x="0" y="0"/>
                </a:moveTo>
                <a:lnTo>
                  <a:pt x="219896" y="0"/>
                </a:lnTo>
                <a:lnTo>
                  <a:pt x="219896" y="1430217"/>
                </a:lnTo>
                <a:lnTo>
                  <a:pt x="0" y="143021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19" name="Group 19"/>
          <p:cNvGrpSpPr/>
          <p:nvPr/>
        </p:nvGrpSpPr>
        <p:grpSpPr>
          <a:xfrm>
            <a:off x="11299775" y="3307561"/>
            <a:ext cx="6324565" cy="6305442"/>
            <a:chOff x="0" y="0"/>
            <a:chExt cx="1129954" cy="1126537"/>
          </a:xfrm>
        </p:grpSpPr>
        <p:sp>
          <p:nvSpPr>
            <p:cNvPr id="20" name="Freeform 20"/>
            <p:cNvSpPr/>
            <p:nvPr/>
          </p:nvSpPr>
          <p:spPr>
            <a:xfrm>
              <a:off x="0" y="0"/>
              <a:ext cx="1129954" cy="1126537"/>
            </a:xfrm>
            <a:custGeom>
              <a:avLst/>
              <a:gdLst/>
              <a:ahLst/>
              <a:cxnLst/>
              <a:rect l="l" t="t" r="r" b="b"/>
              <a:pathLst>
                <a:path w="1129954" h="1126537">
                  <a:moveTo>
                    <a:pt x="0" y="0"/>
                  </a:moveTo>
                  <a:lnTo>
                    <a:pt x="1129954" y="0"/>
                  </a:lnTo>
                  <a:lnTo>
                    <a:pt x="1129954" y="1126537"/>
                  </a:lnTo>
                  <a:lnTo>
                    <a:pt x="0" y="1126537"/>
                  </a:lnTo>
                  <a:close/>
                </a:path>
              </a:pathLst>
            </a:custGeom>
            <a:solidFill>
              <a:srgbClr val="FF873D"/>
            </a:solidFill>
          </p:spPr>
        </p:sp>
        <p:sp>
          <p:nvSpPr>
            <p:cNvPr id="21" name="TextBox 21"/>
            <p:cNvSpPr txBox="1"/>
            <p:nvPr/>
          </p:nvSpPr>
          <p:spPr>
            <a:xfrm>
              <a:off x="0" y="-38100"/>
              <a:ext cx="1129954" cy="1164637"/>
            </a:xfrm>
            <a:prstGeom prst="rect">
              <a:avLst/>
            </a:prstGeom>
          </p:spPr>
          <p:txBody>
            <a:bodyPr lIns="50800" tIns="50800" rIns="50800" bIns="50800" rtlCol="0" anchor="ctr"/>
            <a:lstStyle/>
            <a:p>
              <a:pPr algn="ctr">
                <a:lnSpc>
                  <a:spcPts val="2380"/>
                </a:lnSpc>
              </a:pPr>
              <a:endParaRPr/>
            </a:p>
          </p:txBody>
        </p:sp>
      </p:grpSp>
      <p:grpSp>
        <p:nvGrpSpPr>
          <p:cNvPr id="22" name="Group 22"/>
          <p:cNvGrpSpPr/>
          <p:nvPr/>
        </p:nvGrpSpPr>
        <p:grpSpPr>
          <a:xfrm>
            <a:off x="11674508" y="2709995"/>
            <a:ext cx="5577284" cy="1139752"/>
            <a:chOff x="0" y="0"/>
            <a:chExt cx="996444" cy="203629"/>
          </a:xfrm>
        </p:grpSpPr>
        <p:sp>
          <p:nvSpPr>
            <p:cNvPr id="23" name="Freeform 23"/>
            <p:cNvSpPr/>
            <p:nvPr/>
          </p:nvSpPr>
          <p:spPr>
            <a:xfrm>
              <a:off x="0" y="0"/>
              <a:ext cx="996444" cy="203629"/>
            </a:xfrm>
            <a:custGeom>
              <a:avLst/>
              <a:gdLst/>
              <a:ahLst/>
              <a:cxnLst/>
              <a:rect l="l" t="t" r="r" b="b"/>
              <a:pathLst>
                <a:path w="996444" h="203629">
                  <a:moveTo>
                    <a:pt x="0" y="0"/>
                  </a:moveTo>
                  <a:lnTo>
                    <a:pt x="996444" y="0"/>
                  </a:lnTo>
                  <a:lnTo>
                    <a:pt x="996444" y="203629"/>
                  </a:lnTo>
                  <a:lnTo>
                    <a:pt x="0" y="203629"/>
                  </a:lnTo>
                  <a:close/>
                </a:path>
              </a:pathLst>
            </a:custGeom>
            <a:solidFill>
              <a:srgbClr val="545454"/>
            </a:solidFill>
          </p:spPr>
        </p:sp>
        <p:sp>
          <p:nvSpPr>
            <p:cNvPr id="24" name="TextBox 24"/>
            <p:cNvSpPr txBox="1"/>
            <p:nvPr/>
          </p:nvSpPr>
          <p:spPr>
            <a:xfrm>
              <a:off x="0" y="-38100"/>
              <a:ext cx="996444" cy="241729"/>
            </a:xfrm>
            <a:prstGeom prst="rect">
              <a:avLst/>
            </a:prstGeom>
          </p:spPr>
          <p:txBody>
            <a:bodyPr lIns="50800" tIns="50800" rIns="50800" bIns="50800" rtlCol="0" anchor="ctr"/>
            <a:lstStyle/>
            <a:p>
              <a:pPr algn="ctr">
                <a:lnSpc>
                  <a:spcPts val="2380"/>
                </a:lnSpc>
              </a:pPr>
              <a:endParaRPr/>
            </a:p>
          </p:txBody>
        </p:sp>
      </p:grpSp>
      <p:grpSp>
        <p:nvGrpSpPr>
          <p:cNvPr id="25" name="Group 25"/>
          <p:cNvGrpSpPr/>
          <p:nvPr/>
        </p:nvGrpSpPr>
        <p:grpSpPr>
          <a:xfrm>
            <a:off x="5863211" y="3307561"/>
            <a:ext cx="5058822" cy="6305442"/>
            <a:chOff x="0" y="0"/>
            <a:chExt cx="903815" cy="1126537"/>
          </a:xfrm>
        </p:grpSpPr>
        <p:sp>
          <p:nvSpPr>
            <p:cNvPr id="26" name="Freeform 26"/>
            <p:cNvSpPr/>
            <p:nvPr/>
          </p:nvSpPr>
          <p:spPr>
            <a:xfrm>
              <a:off x="0" y="0"/>
              <a:ext cx="903815" cy="1126537"/>
            </a:xfrm>
            <a:custGeom>
              <a:avLst/>
              <a:gdLst/>
              <a:ahLst/>
              <a:cxnLst/>
              <a:rect l="l" t="t" r="r" b="b"/>
              <a:pathLst>
                <a:path w="903815" h="1126537">
                  <a:moveTo>
                    <a:pt x="0" y="0"/>
                  </a:moveTo>
                  <a:lnTo>
                    <a:pt x="903815" y="0"/>
                  </a:lnTo>
                  <a:lnTo>
                    <a:pt x="903815" y="1126537"/>
                  </a:lnTo>
                  <a:lnTo>
                    <a:pt x="0" y="1126537"/>
                  </a:lnTo>
                  <a:close/>
                </a:path>
              </a:pathLst>
            </a:custGeom>
            <a:solidFill>
              <a:srgbClr val="FF873D"/>
            </a:solidFill>
          </p:spPr>
        </p:sp>
        <p:sp>
          <p:nvSpPr>
            <p:cNvPr id="27" name="TextBox 27"/>
            <p:cNvSpPr txBox="1"/>
            <p:nvPr/>
          </p:nvSpPr>
          <p:spPr>
            <a:xfrm>
              <a:off x="0" y="-38100"/>
              <a:ext cx="903815" cy="1164637"/>
            </a:xfrm>
            <a:prstGeom prst="rect">
              <a:avLst/>
            </a:prstGeom>
          </p:spPr>
          <p:txBody>
            <a:bodyPr lIns="50800" tIns="50800" rIns="50800" bIns="50800" rtlCol="0" anchor="ctr"/>
            <a:lstStyle/>
            <a:p>
              <a:pPr algn="ctr">
                <a:lnSpc>
                  <a:spcPts val="2380"/>
                </a:lnSpc>
              </a:pPr>
              <a:endParaRPr/>
            </a:p>
          </p:txBody>
        </p:sp>
      </p:grpSp>
      <p:grpSp>
        <p:nvGrpSpPr>
          <p:cNvPr id="28" name="Group 28"/>
          <p:cNvGrpSpPr/>
          <p:nvPr/>
        </p:nvGrpSpPr>
        <p:grpSpPr>
          <a:xfrm>
            <a:off x="6235759" y="2709995"/>
            <a:ext cx="4313727" cy="1139752"/>
            <a:chOff x="0" y="0"/>
            <a:chExt cx="770695" cy="203629"/>
          </a:xfrm>
        </p:grpSpPr>
        <p:sp>
          <p:nvSpPr>
            <p:cNvPr id="29" name="Freeform 29"/>
            <p:cNvSpPr/>
            <p:nvPr/>
          </p:nvSpPr>
          <p:spPr>
            <a:xfrm>
              <a:off x="0" y="0"/>
              <a:ext cx="770695" cy="203629"/>
            </a:xfrm>
            <a:custGeom>
              <a:avLst/>
              <a:gdLst/>
              <a:ahLst/>
              <a:cxnLst/>
              <a:rect l="l" t="t" r="r" b="b"/>
              <a:pathLst>
                <a:path w="770695" h="203629">
                  <a:moveTo>
                    <a:pt x="0" y="0"/>
                  </a:moveTo>
                  <a:lnTo>
                    <a:pt x="770695" y="0"/>
                  </a:lnTo>
                  <a:lnTo>
                    <a:pt x="770695" y="203629"/>
                  </a:lnTo>
                  <a:lnTo>
                    <a:pt x="0" y="203629"/>
                  </a:lnTo>
                  <a:close/>
                </a:path>
              </a:pathLst>
            </a:custGeom>
            <a:solidFill>
              <a:srgbClr val="545454"/>
            </a:solidFill>
          </p:spPr>
        </p:sp>
        <p:sp>
          <p:nvSpPr>
            <p:cNvPr id="30" name="TextBox 30"/>
            <p:cNvSpPr txBox="1"/>
            <p:nvPr/>
          </p:nvSpPr>
          <p:spPr>
            <a:xfrm>
              <a:off x="0" y="-38100"/>
              <a:ext cx="770695" cy="241729"/>
            </a:xfrm>
            <a:prstGeom prst="rect">
              <a:avLst/>
            </a:prstGeom>
          </p:spPr>
          <p:txBody>
            <a:bodyPr lIns="50800" tIns="50800" rIns="50800" bIns="50800" rtlCol="0" anchor="ctr"/>
            <a:lstStyle/>
            <a:p>
              <a:pPr algn="ctr">
                <a:lnSpc>
                  <a:spcPts val="2380"/>
                </a:lnSpc>
              </a:pPr>
              <a:endParaRPr/>
            </a:p>
          </p:txBody>
        </p:sp>
      </p:grpSp>
      <p:sp>
        <p:nvSpPr>
          <p:cNvPr id="31" name="Freeform 31"/>
          <p:cNvSpPr/>
          <p:nvPr/>
        </p:nvSpPr>
        <p:spPr>
          <a:xfrm>
            <a:off x="11359527" y="4094256"/>
            <a:ext cx="6205061" cy="5008812"/>
          </a:xfrm>
          <a:custGeom>
            <a:avLst/>
            <a:gdLst/>
            <a:ahLst/>
            <a:cxnLst/>
            <a:rect l="l" t="t" r="r" b="b"/>
            <a:pathLst>
              <a:path w="6205061" h="5008812">
                <a:moveTo>
                  <a:pt x="0" y="0"/>
                </a:moveTo>
                <a:lnTo>
                  <a:pt x="6205061" y="0"/>
                </a:lnTo>
                <a:lnTo>
                  <a:pt x="6205061" y="5008811"/>
                </a:lnTo>
                <a:lnTo>
                  <a:pt x="0" y="5008811"/>
                </a:lnTo>
                <a:lnTo>
                  <a:pt x="0" y="0"/>
                </a:lnTo>
                <a:close/>
              </a:path>
            </a:pathLst>
          </a:custGeom>
          <a:blipFill>
            <a:blip r:embed="rId9"/>
            <a:stretch>
              <a:fillRect/>
            </a:stretch>
          </a:blipFill>
        </p:spPr>
      </p:sp>
      <p:sp>
        <p:nvSpPr>
          <p:cNvPr id="32" name="TextBox 32"/>
          <p:cNvSpPr txBox="1"/>
          <p:nvPr/>
        </p:nvSpPr>
        <p:spPr>
          <a:xfrm>
            <a:off x="1087200" y="2917116"/>
            <a:ext cx="4025722" cy="666590"/>
          </a:xfrm>
          <a:prstGeom prst="rect">
            <a:avLst/>
          </a:prstGeom>
        </p:spPr>
        <p:txBody>
          <a:bodyPr lIns="0" tIns="0" rIns="0" bIns="0" rtlCol="0" anchor="t">
            <a:spAutoFit/>
          </a:bodyPr>
          <a:lstStyle/>
          <a:p>
            <a:pPr algn="l">
              <a:lnSpc>
                <a:spcPts val="5159"/>
              </a:lnSpc>
            </a:pPr>
            <a:r>
              <a:rPr lang="en-US" sz="3685" b="1">
                <a:solidFill>
                  <a:srgbClr val="FFFFFF"/>
                </a:solidFill>
                <a:latin typeface="Poppins Ultra-Bold"/>
                <a:ea typeface="Poppins Ultra-Bold"/>
                <a:cs typeface="Poppins Ultra-Bold"/>
                <a:sym typeface="Poppins Ultra-Bold"/>
              </a:rPr>
              <a:t>REQUERIMIENTO</a:t>
            </a:r>
          </a:p>
        </p:txBody>
      </p:sp>
      <p:sp>
        <p:nvSpPr>
          <p:cNvPr id="33" name="TextBox 33"/>
          <p:cNvSpPr txBox="1"/>
          <p:nvPr/>
        </p:nvSpPr>
        <p:spPr>
          <a:xfrm>
            <a:off x="11525829" y="770766"/>
            <a:ext cx="5212638" cy="1762577"/>
          </a:xfrm>
          <a:prstGeom prst="rect">
            <a:avLst/>
          </a:prstGeom>
        </p:spPr>
        <p:txBody>
          <a:bodyPr lIns="0" tIns="0" rIns="0" bIns="0" rtlCol="0" anchor="t">
            <a:spAutoFit/>
          </a:bodyPr>
          <a:lstStyle/>
          <a:p>
            <a:pPr algn="just">
              <a:lnSpc>
                <a:spcPts val="3500"/>
              </a:lnSpc>
            </a:pPr>
            <a:r>
              <a:rPr lang="en-US" sz="2500" b="1">
                <a:solidFill>
                  <a:srgbClr val="545454"/>
                </a:solidFill>
                <a:latin typeface="Inter Medium"/>
                <a:ea typeface="Inter Medium"/>
                <a:cs typeface="Inter Medium"/>
                <a:sym typeface="Inter Medium"/>
              </a:rPr>
              <a:t>Visualización de la ficha financiera del cliente.</a:t>
            </a:r>
          </a:p>
          <a:p>
            <a:pPr algn="just">
              <a:lnSpc>
                <a:spcPts val="3500"/>
              </a:lnSpc>
            </a:pPr>
            <a:r>
              <a:rPr lang="en-US" sz="2500" b="1">
                <a:solidFill>
                  <a:srgbClr val="545454"/>
                </a:solidFill>
                <a:latin typeface="Inter Medium"/>
                <a:ea typeface="Inter Medium"/>
                <a:cs typeface="Inter Medium"/>
                <a:sym typeface="Inter Medium"/>
              </a:rPr>
              <a:t>Corresponde al UR 1.2</a:t>
            </a:r>
          </a:p>
          <a:p>
            <a:pPr algn="just">
              <a:lnSpc>
                <a:spcPts val="3500"/>
              </a:lnSpc>
            </a:pPr>
            <a:endParaRPr lang="en-US" sz="2500" b="1">
              <a:solidFill>
                <a:srgbClr val="545454"/>
              </a:solidFill>
              <a:latin typeface="Inter Medium"/>
              <a:ea typeface="Inter Medium"/>
              <a:cs typeface="Inter Medium"/>
              <a:sym typeface="Inter Medium"/>
            </a:endParaRPr>
          </a:p>
        </p:txBody>
      </p:sp>
      <p:sp>
        <p:nvSpPr>
          <p:cNvPr id="34" name="TextBox 34"/>
          <p:cNvSpPr txBox="1"/>
          <p:nvPr/>
        </p:nvSpPr>
        <p:spPr>
          <a:xfrm>
            <a:off x="11674508" y="2917116"/>
            <a:ext cx="5577284" cy="668389"/>
          </a:xfrm>
          <a:prstGeom prst="rect">
            <a:avLst/>
          </a:prstGeom>
        </p:spPr>
        <p:txBody>
          <a:bodyPr lIns="0" tIns="0" rIns="0" bIns="0" rtlCol="0" anchor="t">
            <a:spAutoFit/>
          </a:bodyPr>
          <a:lstStyle/>
          <a:p>
            <a:pPr algn="ctr">
              <a:lnSpc>
                <a:spcPts val="5159"/>
              </a:lnSpc>
            </a:pPr>
            <a:r>
              <a:rPr lang="en-US" sz="3685" b="1">
                <a:solidFill>
                  <a:srgbClr val="FFFFFF"/>
                </a:solidFill>
                <a:latin typeface="Poppins Ultra-Bold"/>
                <a:ea typeface="Poppins Ultra-Bold"/>
                <a:cs typeface="Poppins Ultra-Bold"/>
                <a:sym typeface="Poppins Ultra-Bold"/>
              </a:rPr>
              <a:t>CASO DE USO</a:t>
            </a:r>
          </a:p>
        </p:txBody>
      </p:sp>
      <p:sp>
        <p:nvSpPr>
          <p:cNvPr id="35" name="TextBox 35"/>
          <p:cNvSpPr txBox="1"/>
          <p:nvPr/>
        </p:nvSpPr>
        <p:spPr>
          <a:xfrm>
            <a:off x="6523764" y="2917116"/>
            <a:ext cx="4025722" cy="668389"/>
          </a:xfrm>
          <a:prstGeom prst="rect">
            <a:avLst/>
          </a:prstGeom>
        </p:spPr>
        <p:txBody>
          <a:bodyPr lIns="0" tIns="0" rIns="0" bIns="0" rtlCol="0" anchor="t">
            <a:spAutoFit/>
          </a:bodyPr>
          <a:lstStyle/>
          <a:p>
            <a:pPr algn="ctr">
              <a:lnSpc>
                <a:spcPts val="5159"/>
              </a:lnSpc>
            </a:pPr>
            <a:r>
              <a:rPr lang="en-US" sz="3685" b="1">
                <a:solidFill>
                  <a:srgbClr val="FFFFFF"/>
                </a:solidFill>
                <a:latin typeface="Poppins Ultra-Bold"/>
                <a:ea typeface="Poppins Ultra-Bold"/>
                <a:cs typeface="Poppins Ultra-Bold"/>
                <a:sym typeface="Poppins Ultra-Bold"/>
              </a:rPr>
              <a:t>UR 1.2</a:t>
            </a:r>
          </a:p>
        </p:txBody>
      </p:sp>
      <p:sp>
        <p:nvSpPr>
          <p:cNvPr id="36" name="TextBox 36"/>
          <p:cNvSpPr txBox="1"/>
          <p:nvPr/>
        </p:nvSpPr>
        <p:spPr>
          <a:xfrm>
            <a:off x="799195" y="3935472"/>
            <a:ext cx="4313727" cy="5288278"/>
          </a:xfrm>
          <a:prstGeom prst="rect">
            <a:avLst/>
          </a:prstGeom>
        </p:spPr>
        <p:txBody>
          <a:bodyPr lIns="0" tIns="0" rIns="0" bIns="0" rtlCol="0" anchor="t">
            <a:spAutoFit/>
          </a:bodyPr>
          <a:lstStyle/>
          <a:p>
            <a:pPr algn="just">
              <a:lnSpc>
                <a:spcPts val="2660"/>
              </a:lnSpc>
            </a:pPr>
            <a:r>
              <a:rPr lang="en-US" sz="1900">
                <a:solidFill>
                  <a:srgbClr val="FFFFFF"/>
                </a:solidFill>
                <a:latin typeface="Inter"/>
                <a:ea typeface="Inter"/>
                <a:cs typeface="Inter"/>
                <a:sym typeface="Inter"/>
              </a:rPr>
              <a:t>El sistema debe mostrar al usuario la "Ficha Financiera del Cliente". Esta pantalla debe mostrar, bloqueando cualquier opción de edición, la información de contacto del cliente obtenida desde la integración con la base de datos comercial. En esta se muestra una tabla que lista cronológicamente todas las Notas de Venta emitidas a favor del cliente, junto con el historial completo de los pagos realizados, permitiendo al usuario evaluar el comportamiento de pago y la historia de deuda asociada al cliente.</a:t>
            </a:r>
          </a:p>
          <a:p>
            <a:pPr algn="just">
              <a:lnSpc>
                <a:spcPts val="2380"/>
              </a:lnSpc>
              <a:spcBef>
                <a:spcPct val="0"/>
              </a:spcBef>
            </a:pPr>
            <a:endParaRPr lang="en-US" sz="1900">
              <a:solidFill>
                <a:srgbClr val="FFFFFF"/>
              </a:solidFill>
              <a:latin typeface="Inter"/>
              <a:ea typeface="Inter"/>
              <a:cs typeface="Inter"/>
              <a:sym typeface="Inter"/>
            </a:endParaRPr>
          </a:p>
        </p:txBody>
      </p:sp>
      <p:sp>
        <p:nvSpPr>
          <p:cNvPr id="37" name="TextBox 37"/>
          <p:cNvSpPr txBox="1"/>
          <p:nvPr/>
        </p:nvSpPr>
        <p:spPr>
          <a:xfrm>
            <a:off x="6235759" y="3935472"/>
            <a:ext cx="4313727" cy="3898807"/>
          </a:xfrm>
          <a:prstGeom prst="rect">
            <a:avLst/>
          </a:prstGeom>
        </p:spPr>
        <p:txBody>
          <a:bodyPr lIns="0" tIns="0" rIns="0" bIns="0" rtlCol="0" anchor="t">
            <a:spAutoFit/>
          </a:bodyPr>
          <a:lstStyle/>
          <a:p>
            <a:pPr algn="just">
              <a:lnSpc>
                <a:spcPts val="2380"/>
              </a:lnSpc>
            </a:pPr>
            <a:r>
              <a:rPr lang="en-US" sz="1700" b="1">
                <a:solidFill>
                  <a:srgbClr val="FFFFFF"/>
                </a:solidFill>
                <a:latin typeface="Inter Medium"/>
                <a:ea typeface="Inter Medium"/>
                <a:cs typeface="Inter Medium"/>
                <a:sym typeface="Inter Medium"/>
              </a:rPr>
              <a:t>Como usuario de finanzas, quiero visualizar la ficha financiera de un cliente con su historial de ventas y pagos sin posibilidad de edición para evaluar su comportamiento de pago y estado de deuda.</a:t>
            </a:r>
          </a:p>
          <a:p>
            <a:pPr algn="just">
              <a:lnSpc>
                <a:spcPts val="2380"/>
              </a:lnSpc>
            </a:pPr>
            <a:endParaRPr lang="en-US" sz="1700" b="1">
              <a:solidFill>
                <a:srgbClr val="FFFFFF"/>
              </a:solidFill>
              <a:latin typeface="Inter Medium"/>
              <a:ea typeface="Inter Medium"/>
              <a:cs typeface="Inter Medium"/>
              <a:sym typeface="Inter Medium"/>
            </a:endParaRPr>
          </a:p>
          <a:p>
            <a:pPr algn="just">
              <a:lnSpc>
                <a:spcPts val="2380"/>
              </a:lnSpc>
            </a:pPr>
            <a:r>
              <a:rPr lang="en-US" sz="1700" b="1">
                <a:solidFill>
                  <a:srgbClr val="FFFFFF"/>
                </a:solidFill>
                <a:latin typeface="Inter Medium"/>
                <a:ea typeface="Inter Medium"/>
                <a:cs typeface="Inter Medium"/>
                <a:sym typeface="Inter Medium"/>
              </a:rPr>
              <a:t>Necesidad: 1</a:t>
            </a:r>
          </a:p>
          <a:p>
            <a:pPr algn="just">
              <a:lnSpc>
                <a:spcPts val="2380"/>
              </a:lnSpc>
            </a:pPr>
            <a:r>
              <a:rPr lang="en-US" sz="1700" b="1">
                <a:solidFill>
                  <a:srgbClr val="FFFFFF"/>
                </a:solidFill>
                <a:latin typeface="Inter Medium"/>
                <a:ea typeface="Inter Medium"/>
                <a:cs typeface="Inter Medium"/>
                <a:sym typeface="Inter Medium"/>
              </a:rPr>
              <a:t>Prioridad: 1</a:t>
            </a:r>
          </a:p>
          <a:p>
            <a:pPr algn="just">
              <a:lnSpc>
                <a:spcPts val="2380"/>
              </a:lnSpc>
            </a:pPr>
            <a:r>
              <a:rPr lang="en-US" sz="1700" b="1">
                <a:solidFill>
                  <a:srgbClr val="FFFFFF"/>
                </a:solidFill>
                <a:latin typeface="Inter Medium"/>
                <a:ea typeface="Inter Medium"/>
                <a:cs typeface="Inter Medium"/>
                <a:sym typeface="Inter Medium"/>
              </a:rPr>
              <a:t>Estabilidad: 1</a:t>
            </a:r>
          </a:p>
          <a:p>
            <a:pPr algn="just">
              <a:lnSpc>
                <a:spcPts val="2380"/>
              </a:lnSpc>
            </a:pPr>
            <a:r>
              <a:rPr lang="en-US" sz="1700" b="1">
                <a:solidFill>
                  <a:srgbClr val="FFFFFF"/>
                </a:solidFill>
                <a:latin typeface="Inter Medium"/>
                <a:ea typeface="Inter Medium"/>
                <a:cs typeface="Inter Medium"/>
                <a:sym typeface="Inter Medium"/>
              </a:rPr>
              <a:t>Claridad: 1</a:t>
            </a:r>
          </a:p>
          <a:p>
            <a:pPr algn="just">
              <a:lnSpc>
                <a:spcPts val="2380"/>
              </a:lnSpc>
            </a:pPr>
            <a:r>
              <a:rPr lang="en-US" sz="1700" b="1">
                <a:solidFill>
                  <a:srgbClr val="FFFFFF"/>
                </a:solidFill>
                <a:latin typeface="Inter Medium"/>
                <a:ea typeface="Inter Medium"/>
                <a:cs typeface="Inter Medium"/>
                <a:sym typeface="Inter Medium"/>
              </a:rPr>
              <a:t>Verificalidad: 1</a:t>
            </a:r>
          </a:p>
          <a:p>
            <a:pPr algn="just">
              <a:lnSpc>
                <a:spcPts val="2380"/>
              </a:lnSpc>
              <a:spcBef>
                <a:spcPct val="0"/>
              </a:spcBef>
            </a:pPr>
            <a:r>
              <a:rPr lang="en-US" sz="1700" b="1">
                <a:solidFill>
                  <a:srgbClr val="FFFFFF"/>
                </a:solidFill>
                <a:latin typeface="Inter Medium"/>
                <a:ea typeface="Inter Medium"/>
                <a:cs typeface="Inter Medium"/>
                <a:sym typeface="Inter Medium"/>
              </a:rPr>
              <a:t>Fuente: 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29169" y="8231276"/>
            <a:ext cx="18317169" cy="2055724"/>
            <a:chOff x="0" y="0"/>
            <a:chExt cx="4824275" cy="541425"/>
          </a:xfrm>
        </p:grpSpPr>
        <p:sp>
          <p:nvSpPr>
            <p:cNvPr id="3" name="Freeform 3"/>
            <p:cNvSpPr/>
            <p:nvPr/>
          </p:nvSpPr>
          <p:spPr>
            <a:xfrm>
              <a:off x="0" y="0"/>
              <a:ext cx="4824275" cy="541425"/>
            </a:xfrm>
            <a:custGeom>
              <a:avLst/>
              <a:gdLst/>
              <a:ahLst/>
              <a:cxnLst/>
              <a:rect l="l" t="t" r="r" b="b"/>
              <a:pathLst>
                <a:path w="4824275" h="541425">
                  <a:moveTo>
                    <a:pt x="0" y="0"/>
                  </a:moveTo>
                  <a:lnTo>
                    <a:pt x="4824275" y="0"/>
                  </a:lnTo>
                  <a:lnTo>
                    <a:pt x="4824275" y="541425"/>
                  </a:lnTo>
                  <a:lnTo>
                    <a:pt x="0" y="541425"/>
                  </a:lnTo>
                  <a:close/>
                </a:path>
              </a:pathLst>
            </a:custGeom>
            <a:solidFill>
              <a:srgbClr val="545454"/>
            </a:solidFill>
          </p:spPr>
        </p:sp>
        <p:sp>
          <p:nvSpPr>
            <p:cNvPr id="4" name="TextBox 4"/>
            <p:cNvSpPr txBox="1"/>
            <p:nvPr/>
          </p:nvSpPr>
          <p:spPr>
            <a:xfrm>
              <a:off x="0" y="-38100"/>
              <a:ext cx="4824275" cy="579525"/>
            </a:xfrm>
            <a:prstGeom prst="rect">
              <a:avLst/>
            </a:prstGeom>
          </p:spPr>
          <p:txBody>
            <a:bodyPr lIns="50800" tIns="50800" rIns="50800" bIns="50800" rtlCol="0" anchor="ctr"/>
            <a:lstStyle/>
            <a:p>
              <a:pPr algn="ctr">
                <a:lnSpc>
                  <a:spcPts val="2380"/>
                </a:lnSpc>
              </a:pPr>
              <a:endParaRPr/>
            </a:p>
          </p:txBody>
        </p:sp>
      </p:grpSp>
      <p:sp>
        <p:nvSpPr>
          <p:cNvPr id="5" name="TextBox 5"/>
          <p:cNvSpPr txBox="1"/>
          <p:nvPr/>
        </p:nvSpPr>
        <p:spPr>
          <a:xfrm>
            <a:off x="1042879" y="1014626"/>
            <a:ext cx="14672755" cy="1570354"/>
          </a:xfrm>
          <a:prstGeom prst="rect">
            <a:avLst/>
          </a:prstGeom>
        </p:spPr>
        <p:txBody>
          <a:bodyPr lIns="0" tIns="0" rIns="0" bIns="0" rtlCol="0" anchor="t">
            <a:spAutoFit/>
          </a:bodyPr>
          <a:lstStyle/>
          <a:p>
            <a:pPr algn="l">
              <a:lnSpc>
                <a:spcPts val="10734"/>
              </a:lnSpc>
            </a:pPr>
            <a:r>
              <a:rPr lang="en-US" sz="9499">
                <a:solidFill>
                  <a:srgbClr val="000000"/>
                </a:solidFill>
                <a:latin typeface="Impact"/>
                <a:ea typeface="Impact"/>
                <a:cs typeface="Impact"/>
                <a:sym typeface="Impact"/>
              </a:rPr>
              <a:t>RF02 - DIAGRAMA CASO DE USO</a:t>
            </a:r>
          </a:p>
        </p:txBody>
      </p:sp>
      <p:grpSp>
        <p:nvGrpSpPr>
          <p:cNvPr id="6" name="Group 6"/>
          <p:cNvGrpSpPr/>
          <p:nvPr/>
        </p:nvGrpSpPr>
        <p:grpSpPr>
          <a:xfrm>
            <a:off x="12565518" y="-2454676"/>
            <a:ext cx="7186254" cy="718625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sp>
        <p:nvSpPr>
          <p:cNvPr id="9" name="Freeform 9"/>
          <p:cNvSpPr/>
          <p:nvPr/>
        </p:nvSpPr>
        <p:spPr>
          <a:xfrm rot="-10800000">
            <a:off x="15773400" y="1238261"/>
            <a:ext cx="5741326" cy="668082"/>
          </a:xfrm>
          <a:custGeom>
            <a:avLst/>
            <a:gdLst/>
            <a:ahLst/>
            <a:cxnLst/>
            <a:rect l="l" t="t" r="r" b="b"/>
            <a:pathLst>
              <a:path w="5741326" h="668082">
                <a:moveTo>
                  <a:pt x="0" y="0"/>
                </a:moveTo>
                <a:lnTo>
                  <a:pt x="5741325" y="0"/>
                </a:lnTo>
                <a:lnTo>
                  <a:pt x="5741325" y="668082"/>
                </a:lnTo>
                <a:lnTo>
                  <a:pt x="0" y="6680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rot="-5400000">
            <a:off x="1648039" y="-94030"/>
            <a:ext cx="219896" cy="1430217"/>
          </a:xfrm>
          <a:custGeom>
            <a:avLst/>
            <a:gdLst/>
            <a:ahLst/>
            <a:cxnLst/>
            <a:rect l="l" t="t" r="r" b="b"/>
            <a:pathLst>
              <a:path w="219896" h="1430217">
                <a:moveTo>
                  <a:pt x="0" y="0"/>
                </a:moveTo>
                <a:lnTo>
                  <a:pt x="219896" y="0"/>
                </a:lnTo>
                <a:lnTo>
                  <a:pt x="219896" y="1430217"/>
                </a:lnTo>
                <a:lnTo>
                  <a:pt x="0" y="143021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a:off x="1610651" y="2417642"/>
            <a:ext cx="14547994" cy="5775534"/>
          </a:xfrm>
          <a:custGeom>
            <a:avLst/>
            <a:gdLst/>
            <a:ahLst/>
            <a:cxnLst/>
            <a:rect l="l" t="t" r="r" b="b"/>
            <a:pathLst>
              <a:path w="14547994" h="5775534">
                <a:moveTo>
                  <a:pt x="0" y="0"/>
                </a:moveTo>
                <a:lnTo>
                  <a:pt x="14547994" y="0"/>
                </a:lnTo>
                <a:lnTo>
                  <a:pt x="14547994" y="5775534"/>
                </a:lnTo>
                <a:lnTo>
                  <a:pt x="0" y="5775534"/>
                </a:lnTo>
                <a:lnTo>
                  <a:pt x="0" y="0"/>
                </a:lnTo>
                <a:close/>
              </a:path>
            </a:pathLst>
          </a:custGeom>
          <a:blipFill>
            <a:blip r:embed="rId7"/>
            <a:stretch>
              <a:fillRect/>
            </a:stretch>
          </a:blipFill>
        </p:spPr>
      </p:sp>
      <p:sp>
        <p:nvSpPr>
          <p:cNvPr id="12" name="TextBox 12"/>
          <p:cNvSpPr txBox="1"/>
          <p:nvPr/>
        </p:nvSpPr>
        <p:spPr>
          <a:xfrm>
            <a:off x="13588555" y="7742328"/>
            <a:ext cx="2730865" cy="450848"/>
          </a:xfrm>
          <a:prstGeom prst="rect">
            <a:avLst/>
          </a:prstGeom>
        </p:spPr>
        <p:txBody>
          <a:bodyPr lIns="0" tIns="0" rIns="0" bIns="0" rtlCol="0" anchor="t">
            <a:spAutoFit/>
          </a:bodyPr>
          <a:lstStyle/>
          <a:p>
            <a:pPr algn="l">
              <a:lnSpc>
                <a:spcPts val="3500"/>
              </a:lnSpc>
            </a:pPr>
            <a:r>
              <a:rPr lang="en-US" sz="2500" b="1">
                <a:solidFill>
                  <a:srgbClr val="FFFFFF"/>
                </a:solidFill>
                <a:latin typeface="Poppins Ultra-Bold"/>
                <a:ea typeface="Poppins Ultra-Bold"/>
                <a:cs typeface="Poppins Ultra-Bold"/>
                <a:sym typeface="Poppins Ultra-Bold"/>
              </a:rPr>
              <a:t>EFFICIENCY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29169" y="8231276"/>
            <a:ext cx="18317169" cy="2055724"/>
            <a:chOff x="0" y="0"/>
            <a:chExt cx="4824275" cy="541425"/>
          </a:xfrm>
        </p:grpSpPr>
        <p:sp>
          <p:nvSpPr>
            <p:cNvPr id="3" name="Freeform 3"/>
            <p:cNvSpPr/>
            <p:nvPr/>
          </p:nvSpPr>
          <p:spPr>
            <a:xfrm>
              <a:off x="0" y="0"/>
              <a:ext cx="4824275" cy="541425"/>
            </a:xfrm>
            <a:custGeom>
              <a:avLst/>
              <a:gdLst/>
              <a:ahLst/>
              <a:cxnLst/>
              <a:rect l="l" t="t" r="r" b="b"/>
              <a:pathLst>
                <a:path w="4824275" h="541425">
                  <a:moveTo>
                    <a:pt x="0" y="0"/>
                  </a:moveTo>
                  <a:lnTo>
                    <a:pt x="4824275" y="0"/>
                  </a:lnTo>
                  <a:lnTo>
                    <a:pt x="4824275" y="541425"/>
                  </a:lnTo>
                  <a:lnTo>
                    <a:pt x="0" y="541425"/>
                  </a:lnTo>
                  <a:close/>
                </a:path>
              </a:pathLst>
            </a:custGeom>
            <a:solidFill>
              <a:srgbClr val="545454"/>
            </a:solidFill>
          </p:spPr>
        </p:sp>
        <p:sp>
          <p:nvSpPr>
            <p:cNvPr id="4" name="TextBox 4"/>
            <p:cNvSpPr txBox="1"/>
            <p:nvPr/>
          </p:nvSpPr>
          <p:spPr>
            <a:xfrm>
              <a:off x="0" y="-38100"/>
              <a:ext cx="4824275" cy="579525"/>
            </a:xfrm>
            <a:prstGeom prst="rect">
              <a:avLst/>
            </a:prstGeom>
          </p:spPr>
          <p:txBody>
            <a:bodyPr lIns="50800" tIns="50800" rIns="50800" bIns="50800" rtlCol="0" anchor="ctr"/>
            <a:lstStyle/>
            <a:p>
              <a:pPr algn="ctr">
                <a:lnSpc>
                  <a:spcPts val="2380"/>
                </a:lnSpc>
              </a:pPr>
              <a:endParaRPr/>
            </a:p>
          </p:txBody>
        </p:sp>
      </p:grpSp>
      <p:sp>
        <p:nvSpPr>
          <p:cNvPr id="5" name="TextBox 5"/>
          <p:cNvSpPr txBox="1"/>
          <p:nvPr/>
        </p:nvSpPr>
        <p:spPr>
          <a:xfrm>
            <a:off x="1042879" y="1014626"/>
            <a:ext cx="14672755" cy="1570354"/>
          </a:xfrm>
          <a:prstGeom prst="rect">
            <a:avLst/>
          </a:prstGeom>
        </p:spPr>
        <p:txBody>
          <a:bodyPr lIns="0" tIns="0" rIns="0" bIns="0" rtlCol="0" anchor="t">
            <a:spAutoFit/>
          </a:bodyPr>
          <a:lstStyle/>
          <a:p>
            <a:pPr algn="l">
              <a:lnSpc>
                <a:spcPts val="10734"/>
              </a:lnSpc>
            </a:pPr>
            <a:r>
              <a:rPr lang="en-US" sz="9499">
                <a:solidFill>
                  <a:srgbClr val="000000"/>
                </a:solidFill>
                <a:latin typeface="Impact"/>
                <a:ea typeface="Impact"/>
                <a:cs typeface="Impact"/>
                <a:sym typeface="Impact"/>
              </a:rPr>
              <a:t>RF02 - DIAGRAMA SECUENCIA</a:t>
            </a:r>
          </a:p>
        </p:txBody>
      </p:sp>
      <p:sp>
        <p:nvSpPr>
          <p:cNvPr id="6" name="TextBox 6"/>
          <p:cNvSpPr txBox="1"/>
          <p:nvPr/>
        </p:nvSpPr>
        <p:spPr>
          <a:xfrm>
            <a:off x="13588555" y="7742328"/>
            <a:ext cx="2730865" cy="450848"/>
          </a:xfrm>
          <a:prstGeom prst="rect">
            <a:avLst/>
          </a:prstGeom>
        </p:spPr>
        <p:txBody>
          <a:bodyPr lIns="0" tIns="0" rIns="0" bIns="0" rtlCol="0" anchor="t">
            <a:spAutoFit/>
          </a:bodyPr>
          <a:lstStyle/>
          <a:p>
            <a:pPr algn="l">
              <a:lnSpc>
                <a:spcPts val="3500"/>
              </a:lnSpc>
            </a:pPr>
            <a:r>
              <a:rPr lang="en-US" sz="2500" b="1">
                <a:solidFill>
                  <a:srgbClr val="FFFFFF"/>
                </a:solidFill>
                <a:latin typeface="Poppins Ultra-Bold"/>
                <a:ea typeface="Poppins Ultra-Bold"/>
                <a:cs typeface="Poppins Ultra-Bold"/>
                <a:sym typeface="Poppins Ultra-Bold"/>
              </a:rPr>
              <a:t>EFFICIENCY</a:t>
            </a:r>
          </a:p>
        </p:txBody>
      </p:sp>
      <p:grpSp>
        <p:nvGrpSpPr>
          <p:cNvPr id="7" name="Group 7"/>
          <p:cNvGrpSpPr/>
          <p:nvPr/>
        </p:nvGrpSpPr>
        <p:grpSpPr>
          <a:xfrm>
            <a:off x="12565518" y="-2454676"/>
            <a:ext cx="7186254" cy="7186254"/>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sp>
        <p:nvSpPr>
          <p:cNvPr id="10" name="Freeform 10"/>
          <p:cNvSpPr/>
          <p:nvPr/>
        </p:nvSpPr>
        <p:spPr>
          <a:xfrm rot="-10800000">
            <a:off x="14953988" y="1193634"/>
            <a:ext cx="5741326" cy="668082"/>
          </a:xfrm>
          <a:custGeom>
            <a:avLst/>
            <a:gdLst/>
            <a:ahLst/>
            <a:cxnLst/>
            <a:rect l="l" t="t" r="r" b="b"/>
            <a:pathLst>
              <a:path w="5741326" h="668082">
                <a:moveTo>
                  <a:pt x="0" y="0"/>
                </a:moveTo>
                <a:lnTo>
                  <a:pt x="5741325" y="0"/>
                </a:lnTo>
                <a:lnTo>
                  <a:pt x="5741325" y="668082"/>
                </a:lnTo>
                <a:lnTo>
                  <a:pt x="0" y="6680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rot="-5400000">
            <a:off x="1648039" y="-94030"/>
            <a:ext cx="219896" cy="1430217"/>
          </a:xfrm>
          <a:custGeom>
            <a:avLst/>
            <a:gdLst/>
            <a:ahLst/>
            <a:cxnLst/>
            <a:rect l="l" t="t" r="r" b="b"/>
            <a:pathLst>
              <a:path w="219896" h="1430217">
                <a:moveTo>
                  <a:pt x="0" y="0"/>
                </a:moveTo>
                <a:lnTo>
                  <a:pt x="219896" y="0"/>
                </a:lnTo>
                <a:lnTo>
                  <a:pt x="219896" y="1430217"/>
                </a:lnTo>
                <a:lnTo>
                  <a:pt x="0" y="143021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Freeform 12"/>
          <p:cNvSpPr/>
          <p:nvPr/>
        </p:nvSpPr>
        <p:spPr>
          <a:xfrm>
            <a:off x="230939" y="2595787"/>
            <a:ext cx="17826122" cy="6662513"/>
          </a:xfrm>
          <a:custGeom>
            <a:avLst/>
            <a:gdLst/>
            <a:ahLst/>
            <a:cxnLst/>
            <a:rect l="l" t="t" r="r" b="b"/>
            <a:pathLst>
              <a:path w="17826122" h="6662513">
                <a:moveTo>
                  <a:pt x="0" y="0"/>
                </a:moveTo>
                <a:lnTo>
                  <a:pt x="17826122" y="0"/>
                </a:lnTo>
                <a:lnTo>
                  <a:pt x="17826122" y="6662513"/>
                </a:lnTo>
                <a:lnTo>
                  <a:pt x="0" y="6662513"/>
                </a:lnTo>
                <a:lnTo>
                  <a:pt x="0" y="0"/>
                </a:lnTo>
                <a:close/>
              </a:path>
            </a:pathLst>
          </a:custGeom>
          <a:blipFill>
            <a:blip r:embed="rId7"/>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29169" y="8231276"/>
            <a:ext cx="18317169" cy="2055724"/>
            <a:chOff x="0" y="0"/>
            <a:chExt cx="4824275" cy="541425"/>
          </a:xfrm>
        </p:grpSpPr>
        <p:sp>
          <p:nvSpPr>
            <p:cNvPr id="3" name="Freeform 3"/>
            <p:cNvSpPr/>
            <p:nvPr/>
          </p:nvSpPr>
          <p:spPr>
            <a:xfrm>
              <a:off x="0" y="0"/>
              <a:ext cx="4824275" cy="541425"/>
            </a:xfrm>
            <a:custGeom>
              <a:avLst/>
              <a:gdLst/>
              <a:ahLst/>
              <a:cxnLst/>
              <a:rect l="l" t="t" r="r" b="b"/>
              <a:pathLst>
                <a:path w="4824275" h="541425">
                  <a:moveTo>
                    <a:pt x="0" y="0"/>
                  </a:moveTo>
                  <a:lnTo>
                    <a:pt x="4824275" y="0"/>
                  </a:lnTo>
                  <a:lnTo>
                    <a:pt x="4824275" y="541425"/>
                  </a:lnTo>
                  <a:lnTo>
                    <a:pt x="0" y="541425"/>
                  </a:lnTo>
                  <a:close/>
                </a:path>
              </a:pathLst>
            </a:custGeom>
            <a:solidFill>
              <a:srgbClr val="545454"/>
            </a:solidFill>
          </p:spPr>
        </p:sp>
        <p:sp>
          <p:nvSpPr>
            <p:cNvPr id="4" name="TextBox 4"/>
            <p:cNvSpPr txBox="1"/>
            <p:nvPr/>
          </p:nvSpPr>
          <p:spPr>
            <a:xfrm>
              <a:off x="0" y="-38100"/>
              <a:ext cx="4824275" cy="579525"/>
            </a:xfrm>
            <a:prstGeom prst="rect">
              <a:avLst/>
            </a:prstGeom>
          </p:spPr>
          <p:txBody>
            <a:bodyPr lIns="50800" tIns="50800" rIns="50800" bIns="50800" rtlCol="0" anchor="ctr"/>
            <a:lstStyle/>
            <a:p>
              <a:pPr algn="ctr">
                <a:lnSpc>
                  <a:spcPts val="2380"/>
                </a:lnSpc>
              </a:pPr>
              <a:endParaRPr/>
            </a:p>
          </p:txBody>
        </p:sp>
      </p:grpSp>
      <p:sp>
        <p:nvSpPr>
          <p:cNvPr id="5" name="TextBox 5"/>
          <p:cNvSpPr txBox="1"/>
          <p:nvPr/>
        </p:nvSpPr>
        <p:spPr>
          <a:xfrm>
            <a:off x="1042879" y="1014626"/>
            <a:ext cx="14672755" cy="1570354"/>
          </a:xfrm>
          <a:prstGeom prst="rect">
            <a:avLst/>
          </a:prstGeom>
        </p:spPr>
        <p:txBody>
          <a:bodyPr lIns="0" tIns="0" rIns="0" bIns="0" rtlCol="0" anchor="t">
            <a:spAutoFit/>
          </a:bodyPr>
          <a:lstStyle/>
          <a:p>
            <a:pPr algn="l">
              <a:lnSpc>
                <a:spcPts val="10734"/>
              </a:lnSpc>
            </a:pPr>
            <a:r>
              <a:rPr lang="en-US" sz="9499">
                <a:solidFill>
                  <a:srgbClr val="000000"/>
                </a:solidFill>
                <a:latin typeface="Impact"/>
                <a:ea typeface="Impact"/>
                <a:cs typeface="Impact"/>
                <a:sym typeface="Impact"/>
              </a:rPr>
              <a:t>RF02 - DIAGRAMA EXCEPCIÓN</a:t>
            </a:r>
          </a:p>
        </p:txBody>
      </p:sp>
      <p:grpSp>
        <p:nvGrpSpPr>
          <p:cNvPr id="6" name="Group 6"/>
          <p:cNvGrpSpPr/>
          <p:nvPr/>
        </p:nvGrpSpPr>
        <p:grpSpPr>
          <a:xfrm>
            <a:off x="12565518" y="-2454676"/>
            <a:ext cx="7186254" cy="718625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sp>
        <p:nvSpPr>
          <p:cNvPr id="9" name="Freeform 9"/>
          <p:cNvSpPr/>
          <p:nvPr/>
        </p:nvSpPr>
        <p:spPr>
          <a:xfrm rot="-10800000">
            <a:off x="14953988" y="1193634"/>
            <a:ext cx="5741326" cy="668082"/>
          </a:xfrm>
          <a:custGeom>
            <a:avLst/>
            <a:gdLst/>
            <a:ahLst/>
            <a:cxnLst/>
            <a:rect l="l" t="t" r="r" b="b"/>
            <a:pathLst>
              <a:path w="5741326" h="668082">
                <a:moveTo>
                  <a:pt x="0" y="0"/>
                </a:moveTo>
                <a:lnTo>
                  <a:pt x="5741325" y="0"/>
                </a:lnTo>
                <a:lnTo>
                  <a:pt x="5741325" y="668082"/>
                </a:lnTo>
                <a:lnTo>
                  <a:pt x="0" y="6680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rot="-5400000">
            <a:off x="1648039" y="-94030"/>
            <a:ext cx="219896" cy="1430217"/>
          </a:xfrm>
          <a:custGeom>
            <a:avLst/>
            <a:gdLst/>
            <a:ahLst/>
            <a:cxnLst/>
            <a:rect l="l" t="t" r="r" b="b"/>
            <a:pathLst>
              <a:path w="219896" h="1430217">
                <a:moveTo>
                  <a:pt x="0" y="0"/>
                </a:moveTo>
                <a:lnTo>
                  <a:pt x="219896" y="0"/>
                </a:lnTo>
                <a:lnTo>
                  <a:pt x="219896" y="1430217"/>
                </a:lnTo>
                <a:lnTo>
                  <a:pt x="0" y="143021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a:off x="287903" y="2804834"/>
            <a:ext cx="17683025" cy="6454304"/>
          </a:xfrm>
          <a:custGeom>
            <a:avLst/>
            <a:gdLst/>
            <a:ahLst/>
            <a:cxnLst/>
            <a:rect l="l" t="t" r="r" b="b"/>
            <a:pathLst>
              <a:path w="17683025" h="6454304">
                <a:moveTo>
                  <a:pt x="0" y="0"/>
                </a:moveTo>
                <a:lnTo>
                  <a:pt x="17683025" y="0"/>
                </a:lnTo>
                <a:lnTo>
                  <a:pt x="17683025" y="6454304"/>
                </a:lnTo>
                <a:lnTo>
                  <a:pt x="0" y="6454304"/>
                </a:lnTo>
                <a:lnTo>
                  <a:pt x="0" y="0"/>
                </a:lnTo>
                <a:close/>
              </a:path>
            </a:pathLst>
          </a:custGeom>
          <a:blipFill>
            <a:blip r:embed="rId7"/>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29169" y="8231276"/>
            <a:ext cx="18317169" cy="2055724"/>
            <a:chOff x="0" y="0"/>
            <a:chExt cx="4824275" cy="541425"/>
          </a:xfrm>
        </p:grpSpPr>
        <p:sp>
          <p:nvSpPr>
            <p:cNvPr id="3" name="Freeform 3"/>
            <p:cNvSpPr/>
            <p:nvPr/>
          </p:nvSpPr>
          <p:spPr>
            <a:xfrm>
              <a:off x="0" y="0"/>
              <a:ext cx="4824275" cy="541425"/>
            </a:xfrm>
            <a:custGeom>
              <a:avLst/>
              <a:gdLst/>
              <a:ahLst/>
              <a:cxnLst/>
              <a:rect l="l" t="t" r="r" b="b"/>
              <a:pathLst>
                <a:path w="4824275" h="541425">
                  <a:moveTo>
                    <a:pt x="0" y="0"/>
                  </a:moveTo>
                  <a:lnTo>
                    <a:pt x="4824275" y="0"/>
                  </a:lnTo>
                  <a:lnTo>
                    <a:pt x="4824275" y="541425"/>
                  </a:lnTo>
                  <a:lnTo>
                    <a:pt x="0" y="541425"/>
                  </a:lnTo>
                  <a:close/>
                </a:path>
              </a:pathLst>
            </a:custGeom>
            <a:solidFill>
              <a:srgbClr val="545454"/>
            </a:solidFill>
          </p:spPr>
        </p:sp>
        <p:sp>
          <p:nvSpPr>
            <p:cNvPr id="4" name="TextBox 4"/>
            <p:cNvSpPr txBox="1"/>
            <p:nvPr/>
          </p:nvSpPr>
          <p:spPr>
            <a:xfrm>
              <a:off x="0" y="-38100"/>
              <a:ext cx="4824275" cy="579525"/>
            </a:xfrm>
            <a:prstGeom prst="rect">
              <a:avLst/>
            </a:prstGeom>
          </p:spPr>
          <p:txBody>
            <a:bodyPr lIns="50800" tIns="50800" rIns="50800" bIns="50800" rtlCol="0" anchor="ctr"/>
            <a:lstStyle/>
            <a:p>
              <a:pPr algn="ctr">
                <a:lnSpc>
                  <a:spcPts val="2380"/>
                </a:lnSpc>
              </a:pPr>
              <a:endParaRPr/>
            </a:p>
          </p:txBody>
        </p:sp>
      </p:grpSp>
      <p:grpSp>
        <p:nvGrpSpPr>
          <p:cNvPr id="5" name="Group 5"/>
          <p:cNvGrpSpPr/>
          <p:nvPr/>
        </p:nvGrpSpPr>
        <p:grpSpPr>
          <a:xfrm>
            <a:off x="426647" y="3307561"/>
            <a:ext cx="5058822" cy="6305442"/>
            <a:chOff x="0" y="0"/>
            <a:chExt cx="903815" cy="1126537"/>
          </a:xfrm>
        </p:grpSpPr>
        <p:sp>
          <p:nvSpPr>
            <p:cNvPr id="6" name="Freeform 6"/>
            <p:cNvSpPr/>
            <p:nvPr/>
          </p:nvSpPr>
          <p:spPr>
            <a:xfrm>
              <a:off x="0" y="0"/>
              <a:ext cx="903815" cy="1126537"/>
            </a:xfrm>
            <a:custGeom>
              <a:avLst/>
              <a:gdLst/>
              <a:ahLst/>
              <a:cxnLst/>
              <a:rect l="l" t="t" r="r" b="b"/>
              <a:pathLst>
                <a:path w="903815" h="1126537">
                  <a:moveTo>
                    <a:pt x="0" y="0"/>
                  </a:moveTo>
                  <a:lnTo>
                    <a:pt x="903815" y="0"/>
                  </a:lnTo>
                  <a:lnTo>
                    <a:pt x="903815" y="1126537"/>
                  </a:lnTo>
                  <a:lnTo>
                    <a:pt x="0" y="1126537"/>
                  </a:lnTo>
                  <a:close/>
                </a:path>
              </a:pathLst>
            </a:custGeom>
            <a:solidFill>
              <a:srgbClr val="FF873D"/>
            </a:solidFill>
          </p:spPr>
        </p:sp>
        <p:sp>
          <p:nvSpPr>
            <p:cNvPr id="7" name="TextBox 7"/>
            <p:cNvSpPr txBox="1"/>
            <p:nvPr/>
          </p:nvSpPr>
          <p:spPr>
            <a:xfrm>
              <a:off x="0" y="-38100"/>
              <a:ext cx="903815" cy="1164637"/>
            </a:xfrm>
            <a:prstGeom prst="rect">
              <a:avLst/>
            </a:prstGeom>
          </p:spPr>
          <p:txBody>
            <a:bodyPr lIns="50800" tIns="50800" rIns="50800" bIns="50800" rtlCol="0" anchor="ctr"/>
            <a:lstStyle/>
            <a:p>
              <a:pPr algn="ctr">
                <a:lnSpc>
                  <a:spcPts val="2380"/>
                </a:lnSpc>
              </a:pPr>
              <a:endParaRPr/>
            </a:p>
          </p:txBody>
        </p:sp>
      </p:grpSp>
      <p:grpSp>
        <p:nvGrpSpPr>
          <p:cNvPr id="8" name="Group 8"/>
          <p:cNvGrpSpPr/>
          <p:nvPr/>
        </p:nvGrpSpPr>
        <p:grpSpPr>
          <a:xfrm>
            <a:off x="799195" y="2709995"/>
            <a:ext cx="4313727" cy="1139752"/>
            <a:chOff x="0" y="0"/>
            <a:chExt cx="770695" cy="203629"/>
          </a:xfrm>
        </p:grpSpPr>
        <p:sp>
          <p:nvSpPr>
            <p:cNvPr id="9" name="Freeform 9"/>
            <p:cNvSpPr/>
            <p:nvPr/>
          </p:nvSpPr>
          <p:spPr>
            <a:xfrm>
              <a:off x="0" y="0"/>
              <a:ext cx="770695" cy="203629"/>
            </a:xfrm>
            <a:custGeom>
              <a:avLst/>
              <a:gdLst/>
              <a:ahLst/>
              <a:cxnLst/>
              <a:rect l="l" t="t" r="r" b="b"/>
              <a:pathLst>
                <a:path w="770695" h="203629">
                  <a:moveTo>
                    <a:pt x="0" y="0"/>
                  </a:moveTo>
                  <a:lnTo>
                    <a:pt x="770695" y="0"/>
                  </a:lnTo>
                  <a:lnTo>
                    <a:pt x="770695" y="203629"/>
                  </a:lnTo>
                  <a:lnTo>
                    <a:pt x="0" y="203629"/>
                  </a:lnTo>
                  <a:close/>
                </a:path>
              </a:pathLst>
            </a:custGeom>
            <a:solidFill>
              <a:srgbClr val="545454"/>
            </a:solidFill>
          </p:spPr>
        </p:sp>
        <p:sp>
          <p:nvSpPr>
            <p:cNvPr id="10" name="TextBox 10"/>
            <p:cNvSpPr txBox="1"/>
            <p:nvPr/>
          </p:nvSpPr>
          <p:spPr>
            <a:xfrm>
              <a:off x="0" y="-38100"/>
              <a:ext cx="770695" cy="241729"/>
            </a:xfrm>
            <a:prstGeom prst="rect">
              <a:avLst/>
            </a:prstGeom>
          </p:spPr>
          <p:txBody>
            <a:bodyPr lIns="50800" tIns="50800" rIns="50800" bIns="50800" rtlCol="0" anchor="ctr"/>
            <a:lstStyle/>
            <a:p>
              <a:pPr algn="ctr">
                <a:lnSpc>
                  <a:spcPts val="2380"/>
                </a:lnSpc>
              </a:pPr>
              <a:endParaRPr/>
            </a:p>
          </p:txBody>
        </p:sp>
      </p:grpSp>
      <p:sp>
        <p:nvSpPr>
          <p:cNvPr id="11" name="TextBox 11"/>
          <p:cNvSpPr txBox="1"/>
          <p:nvPr/>
        </p:nvSpPr>
        <p:spPr>
          <a:xfrm>
            <a:off x="1042879" y="1014626"/>
            <a:ext cx="7658974" cy="1570354"/>
          </a:xfrm>
          <a:prstGeom prst="rect">
            <a:avLst/>
          </a:prstGeom>
        </p:spPr>
        <p:txBody>
          <a:bodyPr lIns="0" tIns="0" rIns="0" bIns="0" rtlCol="0" anchor="t">
            <a:spAutoFit/>
          </a:bodyPr>
          <a:lstStyle/>
          <a:p>
            <a:pPr algn="l">
              <a:lnSpc>
                <a:spcPts val="10734"/>
              </a:lnSpc>
            </a:pPr>
            <a:r>
              <a:rPr lang="en-US" sz="9499">
                <a:solidFill>
                  <a:srgbClr val="000000"/>
                </a:solidFill>
                <a:latin typeface="Impact"/>
                <a:ea typeface="Impact"/>
                <a:cs typeface="Impact"/>
                <a:sym typeface="Impact"/>
              </a:rPr>
              <a:t>RF19</a:t>
            </a:r>
          </a:p>
        </p:txBody>
      </p:sp>
      <p:sp>
        <p:nvSpPr>
          <p:cNvPr id="12" name="TextBox 12"/>
          <p:cNvSpPr txBox="1"/>
          <p:nvPr/>
        </p:nvSpPr>
        <p:spPr>
          <a:xfrm>
            <a:off x="13588555" y="7742328"/>
            <a:ext cx="2730865" cy="450848"/>
          </a:xfrm>
          <a:prstGeom prst="rect">
            <a:avLst/>
          </a:prstGeom>
        </p:spPr>
        <p:txBody>
          <a:bodyPr lIns="0" tIns="0" rIns="0" bIns="0" rtlCol="0" anchor="t">
            <a:spAutoFit/>
          </a:bodyPr>
          <a:lstStyle/>
          <a:p>
            <a:pPr algn="l">
              <a:lnSpc>
                <a:spcPts val="3500"/>
              </a:lnSpc>
            </a:pPr>
            <a:r>
              <a:rPr lang="en-US" sz="2500" b="1">
                <a:solidFill>
                  <a:srgbClr val="FFFFFF"/>
                </a:solidFill>
                <a:latin typeface="Poppins Ultra-Bold"/>
                <a:ea typeface="Poppins Ultra-Bold"/>
                <a:cs typeface="Poppins Ultra-Bold"/>
                <a:sym typeface="Poppins Ultra-Bold"/>
              </a:rPr>
              <a:t>EFFICIENCY</a:t>
            </a:r>
          </a:p>
        </p:txBody>
      </p:sp>
      <p:grpSp>
        <p:nvGrpSpPr>
          <p:cNvPr id="13" name="Group 13"/>
          <p:cNvGrpSpPr/>
          <p:nvPr/>
        </p:nvGrpSpPr>
        <p:grpSpPr>
          <a:xfrm>
            <a:off x="12565518" y="-2454676"/>
            <a:ext cx="7186254" cy="7186254"/>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p:spPr>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sp>
        <p:nvSpPr>
          <p:cNvPr id="16" name="Freeform 16"/>
          <p:cNvSpPr/>
          <p:nvPr/>
        </p:nvSpPr>
        <p:spPr>
          <a:xfrm rot="-10800000">
            <a:off x="4620050" y="1346589"/>
            <a:ext cx="5741326" cy="668082"/>
          </a:xfrm>
          <a:custGeom>
            <a:avLst/>
            <a:gdLst/>
            <a:ahLst/>
            <a:cxnLst/>
            <a:rect l="l" t="t" r="r" b="b"/>
            <a:pathLst>
              <a:path w="5741326" h="668082">
                <a:moveTo>
                  <a:pt x="0" y="0"/>
                </a:moveTo>
                <a:lnTo>
                  <a:pt x="5741326" y="0"/>
                </a:lnTo>
                <a:lnTo>
                  <a:pt x="5741326" y="668081"/>
                </a:lnTo>
                <a:lnTo>
                  <a:pt x="0" y="6680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7" name="Freeform 17"/>
          <p:cNvSpPr/>
          <p:nvPr/>
        </p:nvSpPr>
        <p:spPr>
          <a:xfrm>
            <a:off x="8996418" y="4548640"/>
            <a:ext cx="1766910" cy="594860"/>
          </a:xfrm>
          <a:custGeom>
            <a:avLst/>
            <a:gdLst/>
            <a:ahLst/>
            <a:cxnLst/>
            <a:rect l="l" t="t" r="r" b="b"/>
            <a:pathLst>
              <a:path w="1766910" h="594860">
                <a:moveTo>
                  <a:pt x="0" y="0"/>
                </a:moveTo>
                <a:lnTo>
                  <a:pt x="1766910" y="0"/>
                </a:lnTo>
                <a:lnTo>
                  <a:pt x="1766910" y="594860"/>
                </a:lnTo>
                <a:lnTo>
                  <a:pt x="0" y="594860"/>
                </a:lnTo>
                <a:lnTo>
                  <a:pt x="0" y="0"/>
                </a:lnTo>
                <a:close/>
              </a:path>
            </a:pathLst>
          </a:custGeom>
          <a:blipFill>
            <a:blip r:embed="rId5">
              <a:alphaModFix amt="29000"/>
              <a:extLst>
                <a:ext uri="{96DAC541-7B7A-43D3-8B79-37D633B846F1}">
                  <asvg:svgBlip xmlns:asvg="http://schemas.microsoft.com/office/drawing/2016/SVG/main" r:embed="rId6"/>
                </a:ext>
              </a:extLst>
            </a:blip>
            <a:stretch>
              <a:fillRect/>
            </a:stretch>
          </a:blipFill>
        </p:spPr>
      </p:sp>
      <p:sp>
        <p:nvSpPr>
          <p:cNvPr id="18" name="Freeform 18"/>
          <p:cNvSpPr/>
          <p:nvPr/>
        </p:nvSpPr>
        <p:spPr>
          <a:xfrm rot="-5400000">
            <a:off x="1648039" y="-94030"/>
            <a:ext cx="219896" cy="1430217"/>
          </a:xfrm>
          <a:custGeom>
            <a:avLst/>
            <a:gdLst/>
            <a:ahLst/>
            <a:cxnLst/>
            <a:rect l="l" t="t" r="r" b="b"/>
            <a:pathLst>
              <a:path w="219896" h="1430217">
                <a:moveTo>
                  <a:pt x="0" y="0"/>
                </a:moveTo>
                <a:lnTo>
                  <a:pt x="219896" y="0"/>
                </a:lnTo>
                <a:lnTo>
                  <a:pt x="219896" y="1430217"/>
                </a:lnTo>
                <a:lnTo>
                  <a:pt x="0" y="143021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19" name="Group 19"/>
          <p:cNvGrpSpPr/>
          <p:nvPr/>
        </p:nvGrpSpPr>
        <p:grpSpPr>
          <a:xfrm>
            <a:off x="11299775" y="3307561"/>
            <a:ext cx="6324565" cy="6305442"/>
            <a:chOff x="0" y="0"/>
            <a:chExt cx="1129954" cy="1126537"/>
          </a:xfrm>
        </p:grpSpPr>
        <p:sp>
          <p:nvSpPr>
            <p:cNvPr id="20" name="Freeform 20"/>
            <p:cNvSpPr/>
            <p:nvPr/>
          </p:nvSpPr>
          <p:spPr>
            <a:xfrm>
              <a:off x="0" y="0"/>
              <a:ext cx="1129954" cy="1126537"/>
            </a:xfrm>
            <a:custGeom>
              <a:avLst/>
              <a:gdLst/>
              <a:ahLst/>
              <a:cxnLst/>
              <a:rect l="l" t="t" r="r" b="b"/>
              <a:pathLst>
                <a:path w="1129954" h="1126537">
                  <a:moveTo>
                    <a:pt x="0" y="0"/>
                  </a:moveTo>
                  <a:lnTo>
                    <a:pt x="1129954" y="0"/>
                  </a:lnTo>
                  <a:lnTo>
                    <a:pt x="1129954" y="1126537"/>
                  </a:lnTo>
                  <a:lnTo>
                    <a:pt x="0" y="1126537"/>
                  </a:lnTo>
                  <a:close/>
                </a:path>
              </a:pathLst>
            </a:custGeom>
            <a:solidFill>
              <a:srgbClr val="FF873D"/>
            </a:solidFill>
          </p:spPr>
        </p:sp>
        <p:sp>
          <p:nvSpPr>
            <p:cNvPr id="21" name="TextBox 21"/>
            <p:cNvSpPr txBox="1"/>
            <p:nvPr/>
          </p:nvSpPr>
          <p:spPr>
            <a:xfrm>
              <a:off x="0" y="-38100"/>
              <a:ext cx="1129954" cy="1164637"/>
            </a:xfrm>
            <a:prstGeom prst="rect">
              <a:avLst/>
            </a:prstGeom>
          </p:spPr>
          <p:txBody>
            <a:bodyPr lIns="50800" tIns="50800" rIns="50800" bIns="50800" rtlCol="0" anchor="ctr"/>
            <a:lstStyle/>
            <a:p>
              <a:pPr algn="ctr">
                <a:lnSpc>
                  <a:spcPts val="2380"/>
                </a:lnSpc>
              </a:pPr>
              <a:endParaRPr/>
            </a:p>
          </p:txBody>
        </p:sp>
      </p:grpSp>
      <p:grpSp>
        <p:nvGrpSpPr>
          <p:cNvPr id="22" name="Group 22"/>
          <p:cNvGrpSpPr/>
          <p:nvPr/>
        </p:nvGrpSpPr>
        <p:grpSpPr>
          <a:xfrm>
            <a:off x="11674508" y="2709995"/>
            <a:ext cx="5577284" cy="1139752"/>
            <a:chOff x="0" y="0"/>
            <a:chExt cx="996444" cy="203629"/>
          </a:xfrm>
        </p:grpSpPr>
        <p:sp>
          <p:nvSpPr>
            <p:cNvPr id="23" name="Freeform 23"/>
            <p:cNvSpPr/>
            <p:nvPr/>
          </p:nvSpPr>
          <p:spPr>
            <a:xfrm>
              <a:off x="0" y="0"/>
              <a:ext cx="996444" cy="203629"/>
            </a:xfrm>
            <a:custGeom>
              <a:avLst/>
              <a:gdLst/>
              <a:ahLst/>
              <a:cxnLst/>
              <a:rect l="l" t="t" r="r" b="b"/>
              <a:pathLst>
                <a:path w="996444" h="203629">
                  <a:moveTo>
                    <a:pt x="0" y="0"/>
                  </a:moveTo>
                  <a:lnTo>
                    <a:pt x="996444" y="0"/>
                  </a:lnTo>
                  <a:lnTo>
                    <a:pt x="996444" y="203629"/>
                  </a:lnTo>
                  <a:lnTo>
                    <a:pt x="0" y="203629"/>
                  </a:lnTo>
                  <a:close/>
                </a:path>
              </a:pathLst>
            </a:custGeom>
            <a:solidFill>
              <a:srgbClr val="545454"/>
            </a:solidFill>
          </p:spPr>
        </p:sp>
        <p:sp>
          <p:nvSpPr>
            <p:cNvPr id="24" name="TextBox 24"/>
            <p:cNvSpPr txBox="1"/>
            <p:nvPr/>
          </p:nvSpPr>
          <p:spPr>
            <a:xfrm>
              <a:off x="0" y="-38100"/>
              <a:ext cx="996444" cy="241729"/>
            </a:xfrm>
            <a:prstGeom prst="rect">
              <a:avLst/>
            </a:prstGeom>
          </p:spPr>
          <p:txBody>
            <a:bodyPr lIns="50800" tIns="50800" rIns="50800" bIns="50800" rtlCol="0" anchor="ctr"/>
            <a:lstStyle/>
            <a:p>
              <a:pPr algn="ctr">
                <a:lnSpc>
                  <a:spcPts val="2380"/>
                </a:lnSpc>
              </a:pPr>
              <a:endParaRPr/>
            </a:p>
          </p:txBody>
        </p:sp>
      </p:grpSp>
      <p:grpSp>
        <p:nvGrpSpPr>
          <p:cNvPr id="25" name="Group 25"/>
          <p:cNvGrpSpPr/>
          <p:nvPr/>
        </p:nvGrpSpPr>
        <p:grpSpPr>
          <a:xfrm>
            <a:off x="5863211" y="3307561"/>
            <a:ext cx="5058822" cy="6305442"/>
            <a:chOff x="0" y="0"/>
            <a:chExt cx="903815" cy="1126537"/>
          </a:xfrm>
        </p:grpSpPr>
        <p:sp>
          <p:nvSpPr>
            <p:cNvPr id="26" name="Freeform 26"/>
            <p:cNvSpPr/>
            <p:nvPr/>
          </p:nvSpPr>
          <p:spPr>
            <a:xfrm>
              <a:off x="0" y="0"/>
              <a:ext cx="903815" cy="1126537"/>
            </a:xfrm>
            <a:custGeom>
              <a:avLst/>
              <a:gdLst/>
              <a:ahLst/>
              <a:cxnLst/>
              <a:rect l="l" t="t" r="r" b="b"/>
              <a:pathLst>
                <a:path w="903815" h="1126537">
                  <a:moveTo>
                    <a:pt x="0" y="0"/>
                  </a:moveTo>
                  <a:lnTo>
                    <a:pt x="903815" y="0"/>
                  </a:lnTo>
                  <a:lnTo>
                    <a:pt x="903815" y="1126537"/>
                  </a:lnTo>
                  <a:lnTo>
                    <a:pt x="0" y="1126537"/>
                  </a:lnTo>
                  <a:close/>
                </a:path>
              </a:pathLst>
            </a:custGeom>
            <a:solidFill>
              <a:srgbClr val="FF873D"/>
            </a:solidFill>
          </p:spPr>
        </p:sp>
        <p:sp>
          <p:nvSpPr>
            <p:cNvPr id="27" name="TextBox 27"/>
            <p:cNvSpPr txBox="1"/>
            <p:nvPr/>
          </p:nvSpPr>
          <p:spPr>
            <a:xfrm>
              <a:off x="0" y="-38100"/>
              <a:ext cx="903815" cy="1164637"/>
            </a:xfrm>
            <a:prstGeom prst="rect">
              <a:avLst/>
            </a:prstGeom>
          </p:spPr>
          <p:txBody>
            <a:bodyPr lIns="50800" tIns="50800" rIns="50800" bIns="50800" rtlCol="0" anchor="ctr"/>
            <a:lstStyle/>
            <a:p>
              <a:pPr algn="ctr">
                <a:lnSpc>
                  <a:spcPts val="2380"/>
                </a:lnSpc>
              </a:pPr>
              <a:endParaRPr/>
            </a:p>
          </p:txBody>
        </p:sp>
      </p:grpSp>
      <p:grpSp>
        <p:nvGrpSpPr>
          <p:cNvPr id="28" name="Group 28"/>
          <p:cNvGrpSpPr/>
          <p:nvPr/>
        </p:nvGrpSpPr>
        <p:grpSpPr>
          <a:xfrm>
            <a:off x="6235759" y="2709995"/>
            <a:ext cx="4313727" cy="1139752"/>
            <a:chOff x="0" y="0"/>
            <a:chExt cx="770695" cy="203629"/>
          </a:xfrm>
        </p:grpSpPr>
        <p:sp>
          <p:nvSpPr>
            <p:cNvPr id="29" name="Freeform 29"/>
            <p:cNvSpPr/>
            <p:nvPr/>
          </p:nvSpPr>
          <p:spPr>
            <a:xfrm>
              <a:off x="0" y="0"/>
              <a:ext cx="770695" cy="203629"/>
            </a:xfrm>
            <a:custGeom>
              <a:avLst/>
              <a:gdLst/>
              <a:ahLst/>
              <a:cxnLst/>
              <a:rect l="l" t="t" r="r" b="b"/>
              <a:pathLst>
                <a:path w="770695" h="203629">
                  <a:moveTo>
                    <a:pt x="0" y="0"/>
                  </a:moveTo>
                  <a:lnTo>
                    <a:pt x="770695" y="0"/>
                  </a:lnTo>
                  <a:lnTo>
                    <a:pt x="770695" y="203629"/>
                  </a:lnTo>
                  <a:lnTo>
                    <a:pt x="0" y="203629"/>
                  </a:lnTo>
                  <a:close/>
                </a:path>
              </a:pathLst>
            </a:custGeom>
            <a:solidFill>
              <a:srgbClr val="545454"/>
            </a:solidFill>
          </p:spPr>
        </p:sp>
        <p:sp>
          <p:nvSpPr>
            <p:cNvPr id="30" name="TextBox 30"/>
            <p:cNvSpPr txBox="1"/>
            <p:nvPr/>
          </p:nvSpPr>
          <p:spPr>
            <a:xfrm>
              <a:off x="0" y="-38100"/>
              <a:ext cx="770695" cy="241729"/>
            </a:xfrm>
            <a:prstGeom prst="rect">
              <a:avLst/>
            </a:prstGeom>
          </p:spPr>
          <p:txBody>
            <a:bodyPr lIns="50800" tIns="50800" rIns="50800" bIns="50800" rtlCol="0" anchor="ctr"/>
            <a:lstStyle/>
            <a:p>
              <a:pPr algn="ctr">
                <a:lnSpc>
                  <a:spcPts val="2380"/>
                </a:lnSpc>
              </a:pPr>
              <a:endParaRPr/>
            </a:p>
          </p:txBody>
        </p:sp>
      </p:grpSp>
      <p:sp>
        <p:nvSpPr>
          <p:cNvPr id="31" name="Freeform 31"/>
          <p:cNvSpPr/>
          <p:nvPr/>
        </p:nvSpPr>
        <p:spPr>
          <a:xfrm>
            <a:off x="11525829" y="3849747"/>
            <a:ext cx="5832274" cy="5727458"/>
          </a:xfrm>
          <a:custGeom>
            <a:avLst/>
            <a:gdLst/>
            <a:ahLst/>
            <a:cxnLst/>
            <a:rect l="l" t="t" r="r" b="b"/>
            <a:pathLst>
              <a:path w="5832274" h="5727458">
                <a:moveTo>
                  <a:pt x="0" y="0"/>
                </a:moveTo>
                <a:lnTo>
                  <a:pt x="5832274" y="0"/>
                </a:lnTo>
                <a:lnTo>
                  <a:pt x="5832274" y="5727458"/>
                </a:lnTo>
                <a:lnTo>
                  <a:pt x="0" y="5727458"/>
                </a:lnTo>
                <a:lnTo>
                  <a:pt x="0" y="0"/>
                </a:lnTo>
                <a:close/>
              </a:path>
            </a:pathLst>
          </a:custGeom>
          <a:blipFill>
            <a:blip r:embed="rId9"/>
            <a:stretch>
              <a:fillRect/>
            </a:stretch>
          </a:blipFill>
        </p:spPr>
      </p:sp>
      <p:sp>
        <p:nvSpPr>
          <p:cNvPr id="32" name="TextBox 32"/>
          <p:cNvSpPr txBox="1"/>
          <p:nvPr/>
        </p:nvSpPr>
        <p:spPr>
          <a:xfrm>
            <a:off x="1087200" y="2917116"/>
            <a:ext cx="4025722" cy="666590"/>
          </a:xfrm>
          <a:prstGeom prst="rect">
            <a:avLst/>
          </a:prstGeom>
        </p:spPr>
        <p:txBody>
          <a:bodyPr lIns="0" tIns="0" rIns="0" bIns="0" rtlCol="0" anchor="t">
            <a:spAutoFit/>
          </a:bodyPr>
          <a:lstStyle/>
          <a:p>
            <a:pPr algn="l">
              <a:lnSpc>
                <a:spcPts val="5159"/>
              </a:lnSpc>
            </a:pPr>
            <a:r>
              <a:rPr lang="en-US" sz="3685" b="1">
                <a:solidFill>
                  <a:srgbClr val="FFFFFF"/>
                </a:solidFill>
                <a:latin typeface="Poppins Ultra-Bold"/>
                <a:ea typeface="Poppins Ultra-Bold"/>
                <a:cs typeface="Poppins Ultra-Bold"/>
                <a:sym typeface="Poppins Ultra-Bold"/>
              </a:rPr>
              <a:t>REQUERIMIENTO</a:t>
            </a:r>
          </a:p>
        </p:txBody>
      </p:sp>
      <p:sp>
        <p:nvSpPr>
          <p:cNvPr id="33" name="TextBox 33"/>
          <p:cNvSpPr txBox="1"/>
          <p:nvPr/>
        </p:nvSpPr>
        <p:spPr>
          <a:xfrm>
            <a:off x="11525829" y="770766"/>
            <a:ext cx="5212638" cy="1746248"/>
          </a:xfrm>
          <a:prstGeom prst="rect">
            <a:avLst/>
          </a:prstGeom>
        </p:spPr>
        <p:txBody>
          <a:bodyPr lIns="0" tIns="0" rIns="0" bIns="0" rtlCol="0" anchor="t">
            <a:spAutoFit/>
          </a:bodyPr>
          <a:lstStyle/>
          <a:p>
            <a:pPr algn="just">
              <a:lnSpc>
                <a:spcPts val="3500"/>
              </a:lnSpc>
            </a:pPr>
            <a:r>
              <a:rPr lang="en-US" sz="2500" b="1">
                <a:solidFill>
                  <a:srgbClr val="545454"/>
                </a:solidFill>
                <a:latin typeface="Inter Medium"/>
                <a:ea typeface="Inter Medium"/>
                <a:cs typeface="Inter Medium"/>
                <a:sym typeface="Inter Medium"/>
              </a:rPr>
              <a:t>Aplicación manual de descuentos monetarios al valor total de venta.</a:t>
            </a:r>
          </a:p>
          <a:p>
            <a:pPr algn="just">
              <a:lnSpc>
                <a:spcPts val="3500"/>
              </a:lnSpc>
            </a:pPr>
            <a:r>
              <a:rPr lang="en-US" sz="2500" b="1">
                <a:solidFill>
                  <a:srgbClr val="545454"/>
                </a:solidFill>
                <a:latin typeface="Inter Medium"/>
                <a:ea typeface="Inter Medium"/>
                <a:cs typeface="Inter Medium"/>
                <a:sym typeface="Inter Medium"/>
              </a:rPr>
              <a:t>Corresponde al UR 2.15</a:t>
            </a:r>
          </a:p>
          <a:p>
            <a:pPr algn="just">
              <a:lnSpc>
                <a:spcPts val="3500"/>
              </a:lnSpc>
            </a:pPr>
            <a:endParaRPr lang="en-US" sz="2500" b="1">
              <a:solidFill>
                <a:srgbClr val="545454"/>
              </a:solidFill>
              <a:latin typeface="Inter Medium"/>
              <a:ea typeface="Inter Medium"/>
              <a:cs typeface="Inter Medium"/>
              <a:sym typeface="Inter Medium"/>
            </a:endParaRPr>
          </a:p>
        </p:txBody>
      </p:sp>
      <p:sp>
        <p:nvSpPr>
          <p:cNvPr id="34" name="TextBox 34"/>
          <p:cNvSpPr txBox="1"/>
          <p:nvPr/>
        </p:nvSpPr>
        <p:spPr>
          <a:xfrm>
            <a:off x="11674508" y="2917116"/>
            <a:ext cx="5577284" cy="668389"/>
          </a:xfrm>
          <a:prstGeom prst="rect">
            <a:avLst/>
          </a:prstGeom>
        </p:spPr>
        <p:txBody>
          <a:bodyPr lIns="0" tIns="0" rIns="0" bIns="0" rtlCol="0" anchor="t">
            <a:spAutoFit/>
          </a:bodyPr>
          <a:lstStyle/>
          <a:p>
            <a:pPr algn="ctr">
              <a:lnSpc>
                <a:spcPts val="5159"/>
              </a:lnSpc>
            </a:pPr>
            <a:r>
              <a:rPr lang="en-US" sz="3685" b="1">
                <a:solidFill>
                  <a:srgbClr val="FFFFFF"/>
                </a:solidFill>
                <a:latin typeface="Poppins Ultra-Bold"/>
                <a:ea typeface="Poppins Ultra-Bold"/>
                <a:cs typeface="Poppins Ultra-Bold"/>
                <a:sym typeface="Poppins Ultra-Bold"/>
              </a:rPr>
              <a:t>CASO DE USO</a:t>
            </a:r>
          </a:p>
        </p:txBody>
      </p:sp>
      <p:sp>
        <p:nvSpPr>
          <p:cNvPr id="35" name="TextBox 35"/>
          <p:cNvSpPr txBox="1"/>
          <p:nvPr/>
        </p:nvSpPr>
        <p:spPr>
          <a:xfrm>
            <a:off x="6523764" y="2917116"/>
            <a:ext cx="4025722" cy="668389"/>
          </a:xfrm>
          <a:prstGeom prst="rect">
            <a:avLst/>
          </a:prstGeom>
        </p:spPr>
        <p:txBody>
          <a:bodyPr lIns="0" tIns="0" rIns="0" bIns="0" rtlCol="0" anchor="t">
            <a:spAutoFit/>
          </a:bodyPr>
          <a:lstStyle/>
          <a:p>
            <a:pPr algn="ctr">
              <a:lnSpc>
                <a:spcPts val="5159"/>
              </a:lnSpc>
            </a:pPr>
            <a:r>
              <a:rPr lang="en-US" sz="3685" b="1">
                <a:solidFill>
                  <a:srgbClr val="FFFFFF"/>
                </a:solidFill>
                <a:latin typeface="Poppins Ultra-Bold"/>
                <a:ea typeface="Poppins Ultra-Bold"/>
                <a:cs typeface="Poppins Ultra-Bold"/>
                <a:sym typeface="Poppins Ultra-Bold"/>
              </a:rPr>
              <a:t>UR 2.15</a:t>
            </a:r>
          </a:p>
        </p:txBody>
      </p:sp>
      <p:sp>
        <p:nvSpPr>
          <p:cNvPr id="36" name="TextBox 36"/>
          <p:cNvSpPr txBox="1"/>
          <p:nvPr/>
        </p:nvSpPr>
        <p:spPr>
          <a:xfrm>
            <a:off x="426647" y="3935472"/>
            <a:ext cx="4998414" cy="2384332"/>
          </a:xfrm>
          <a:prstGeom prst="rect">
            <a:avLst/>
          </a:prstGeom>
        </p:spPr>
        <p:txBody>
          <a:bodyPr lIns="0" tIns="0" rIns="0" bIns="0" rtlCol="0" anchor="t">
            <a:spAutoFit/>
          </a:bodyPr>
          <a:lstStyle/>
          <a:p>
            <a:pPr algn="just">
              <a:lnSpc>
                <a:spcPts val="2380"/>
              </a:lnSpc>
            </a:pPr>
            <a:r>
              <a:rPr lang="en-US" sz="1700" b="1">
                <a:solidFill>
                  <a:srgbClr val="FFFFFF"/>
                </a:solidFill>
                <a:latin typeface="Inter Medium"/>
                <a:ea typeface="Inter Medium"/>
                <a:cs typeface="Inter Medium"/>
                <a:sym typeface="Inter Medium"/>
              </a:rPr>
              <a:t>El formulario de creación y edición de Notas de Venta debe incorporar una funcionalidad opcional destinada al ingreso de rebajas comerciales sobre el valor total de la transacción. </a:t>
            </a:r>
          </a:p>
          <a:p>
            <a:pPr algn="just">
              <a:lnSpc>
                <a:spcPts val="2380"/>
              </a:lnSpc>
            </a:pPr>
            <a:endParaRPr lang="en-US" sz="1700" b="1">
              <a:solidFill>
                <a:srgbClr val="FFFFFF"/>
              </a:solidFill>
              <a:latin typeface="Inter Medium"/>
              <a:ea typeface="Inter Medium"/>
              <a:cs typeface="Inter Medium"/>
              <a:sym typeface="Inter Medium"/>
            </a:endParaRPr>
          </a:p>
          <a:p>
            <a:pPr algn="just">
              <a:lnSpc>
                <a:spcPts val="2380"/>
              </a:lnSpc>
            </a:pPr>
            <a:endParaRPr lang="en-US" sz="1700" b="1">
              <a:solidFill>
                <a:srgbClr val="FFFFFF"/>
              </a:solidFill>
              <a:latin typeface="Inter Medium"/>
              <a:ea typeface="Inter Medium"/>
              <a:cs typeface="Inter Medium"/>
              <a:sym typeface="Inter Medium"/>
            </a:endParaRPr>
          </a:p>
          <a:p>
            <a:pPr algn="just">
              <a:lnSpc>
                <a:spcPts val="2380"/>
              </a:lnSpc>
              <a:spcBef>
                <a:spcPct val="0"/>
              </a:spcBef>
            </a:pPr>
            <a:endParaRPr lang="en-US" sz="1700" b="1">
              <a:solidFill>
                <a:srgbClr val="FFFFFF"/>
              </a:solidFill>
              <a:latin typeface="Inter Medium"/>
              <a:ea typeface="Inter Medium"/>
              <a:cs typeface="Inter Medium"/>
              <a:sym typeface="Inter Medium"/>
            </a:endParaRPr>
          </a:p>
        </p:txBody>
      </p:sp>
      <p:sp>
        <p:nvSpPr>
          <p:cNvPr id="37" name="TextBox 37"/>
          <p:cNvSpPr txBox="1"/>
          <p:nvPr/>
        </p:nvSpPr>
        <p:spPr>
          <a:xfrm>
            <a:off x="6235759" y="3935472"/>
            <a:ext cx="4313727" cy="3297371"/>
          </a:xfrm>
          <a:prstGeom prst="rect">
            <a:avLst/>
          </a:prstGeom>
        </p:spPr>
        <p:txBody>
          <a:bodyPr lIns="0" tIns="0" rIns="0" bIns="0" rtlCol="0" anchor="t">
            <a:spAutoFit/>
          </a:bodyPr>
          <a:lstStyle/>
          <a:p>
            <a:pPr algn="just">
              <a:lnSpc>
                <a:spcPts val="2380"/>
              </a:lnSpc>
            </a:pPr>
            <a:r>
              <a:rPr lang="en-US" sz="1700" b="1">
                <a:solidFill>
                  <a:srgbClr val="FFFFFF"/>
                </a:solidFill>
                <a:latin typeface="Inter Medium"/>
                <a:ea typeface="Inter Medium"/>
                <a:cs typeface="Inter Medium"/>
                <a:sym typeface="Inter Medium"/>
              </a:rPr>
              <a:t>Como usuario de finanzas, quiero aplicar descuentos en monto o porcentaje a una venta para ajustar el valor final de la transacción.</a:t>
            </a:r>
          </a:p>
          <a:p>
            <a:pPr algn="just">
              <a:lnSpc>
                <a:spcPts val="2380"/>
              </a:lnSpc>
            </a:pPr>
            <a:endParaRPr lang="en-US" sz="1700" b="1">
              <a:solidFill>
                <a:srgbClr val="FFFFFF"/>
              </a:solidFill>
              <a:latin typeface="Inter Medium"/>
              <a:ea typeface="Inter Medium"/>
              <a:cs typeface="Inter Medium"/>
              <a:sym typeface="Inter Medium"/>
            </a:endParaRPr>
          </a:p>
          <a:p>
            <a:pPr algn="just">
              <a:lnSpc>
                <a:spcPts val="2380"/>
              </a:lnSpc>
            </a:pPr>
            <a:r>
              <a:rPr lang="en-US" sz="1700" b="1">
                <a:solidFill>
                  <a:srgbClr val="FFFFFF"/>
                </a:solidFill>
                <a:latin typeface="Inter Medium"/>
                <a:ea typeface="Inter Medium"/>
                <a:cs typeface="Inter Medium"/>
                <a:sym typeface="Inter Medium"/>
              </a:rPr>
              <a:t>Necesidad: 1</a:t>
            </a:r>
          </a:p>
          <a:p>
            <a:pPr algn="just">
              <a:lnSpc>
                <a:spcPts val="2380"/>
              </a:lnSpc>
            </a:pPr>
            <a:r>
              <a:rPr lang="en-US" sz="1700" b="1">
                <a:solidFill>
                  <a:srgbClr val="FFFFFF"/>
                </a:solidFill>
                <a:latin typeface="Inter Medium"/>
                <a:ea typeface="Inter Medium"/>
                <a:cs typeface="Inter Medium"/>
                <a:sym typeface="Inter Medium"/>
              </a:rPr>
              <a:t>Prioridad: 1</a:t>
            </a:r>
          </a:p>
          <a:p>
            <a:pPr algn="just">
              <a:lnSpc>
                <a:spcPts val="2380"/>
              </a:lnSpc>
            </a:pPr>
            <a:r>
              <a:rPr lang="en-US" sz="1700" b="1">
                <a:solidFill>
                  <a:srgbClr val="FFFFFF"/>
                </a:solidFill>
                <a:latin typeface="Inter Medium"/>
                <a:ea typeface="Inter Medium"/>
                <a:cs typeface="Inter Medium"/>
                <a:sym typeface="Inter Medium"/>
              </a:rPr>
              <a:t>Estabilidad: 1</a:t>
            </a:r>
          </a:p>
          <a:p>
            <a:pPr algn="just">
              <a:lnSpc>
                <a:spcPts val="2380"/>
              </a:lnSpc>
            </a:pPr>
            <a:r>
              <a:rPr lang="en-US" sz="1700" b="1">
                <a:solidFill>
                  <a:srgbClr val="FFFFFF"/>
                </a:solidFill>
                <a:latin typeface="Inter Medium"/>
                <a:ea typeface="Inter Medium"/>
                <a:cs typeface="Inter Medium"/>
                <a:sym typeface="Inter Medium"/>
              </a:rPr>
              <a:t>Claridad: 1</a:t>
            </a:r>
          </a:p>
          <a:p>
            <a:pPr algn="just">
              <a:lnSpc>
                <a:spcPts val="2380"/>
              </a:lnSpc>
            </a:pPr>
            <a:r>
              <a:rPr lang="en-US" sz="1700" b="1">
                <a:solidFill>
                  <a:srgbClr val="FFFFFF"/>
                </a:solidFill>
                <a:latin typeface="Inter Medium"/>
                <a:ea typeface="Inter Medium"/>
                <a:cs typeface="Inter Medium"/>
                <a:sym typeface="Inter Medium"/>
              </a:rPr>
              <a:t>Verificalidad: 1</a:t>
            </a:r>
          </a:p>
          <a:p>
            <a:pPr algn="just">
              <a:lnSpc>
                <a:spcPts val="2380"/>
              </a:lnSpc>
              <a:spcBef>
                <a:spcPct val="0"/>
              </a:spcBef>
            </a:pPr>
            <a:r>
              <a:rPr lang="en-US" sz="1700" b="1">
                <a:solidFill>
                  <a:srgbClr val="FFFFFF"/>
                </a:solidFill>
                <a:latin typeface="Inter Medium"/>
                <a:ea typeface="Inter Medium"/>
                <a:cs typeface="Inter Medium"/>
                <a:sym typeface="Inter Medium"/>
              </a:rPr>
              <a:t>Fuente: 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2565518" y="-2454676"/>
            <a:ext cx="7186254" cy="718625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sp>
        <p:nvSpPr>
          <p:cNvPr id="5" name="Freeform 5"/>
          <p:cNvSpPr/>
          <p:nvPr/>
        </p:nvSpPr>
        <p:spPr>
          <a:xfrm rot="-10800000">
            <a:off x="14953988" y="1193634"/>
            <a:ext cx="5741326" cy="668082"/>
          </a:xfrm>
          <a:custGeom>
            <a:avLst/>
            <a:gdLst/>
            <a:ahLst/>
            <a:cxnLst/>
            <a:rect l="l" t="t" r="r" b="b"/>
            <a:pathLst>
              <a:path w="5741326" h="668082">
                <a:moveTo>
                  <a:pt x="0" y="0"/>
                </a:moveTo>
                <a:lnTo>
                  <a:pt x="5741325" y="0"/>
                </a:lnTo>
                <a:lnTo>
                  <a:pt x="5741325" y="668082"/>
                </a:lnTo>
                <a:lnTo>
                  <a:pt x="0" y="6680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rot="-5400000">
            <a:off x="1648039" y="-94030"/>
            <a:ext cx="219896" cy="1430217"/>
          </a:xfrm>
          <a:custGeom>
            <a:avLst/>
            <a:gdLst/>
            <a:ahLst/>
            <a:cxnLst/>
            <a:rect l="l" t="t" r="r" b="b"/>
            <a:pathLst>
              <a:path w="219896" h="1430217">
                <a:moveTo>
                  <a:pt x="0" y="0"/>
                </a:moveTo>
                <a:lnTo>
                  <a:pt x="219896" y="0"/>
                </a:lnTo>
                <a:lnTo>
                  <a:pt x="219896" y="1430217"/>
                </a:lnTo>
                <a:lnTo>
                  <a:pt x="0" y="143021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7" name="Group 7"/>
          <p:cNvGrpSpPr/>
          <p:nvPr/>
        </p:nvGrpSpPr>
        <p:grpSpPr>
          <a:xfrm>
            <a:off x="15705644" y="1751109"/>
            <a:ext cx="234493" cy="8229600"/>
            <a:chOff x="0" y="0"/>
            <a:chExt cx="61760" cy="2167467"/>
          </a:xfrm>
        </p:grpSpPr>
        <p:sp>
          <p:nvSpPr>
            <p:cNvPr id="8" name="Freeform 8"/>
            <p:cNvSpPr/>
            <p:nvPr/>
          </p:nvSpPr>
          <p:spPr>
            <a:xfrm>
              <a:off x="0" y="0"/>
              <a:ext cx="61760" cy="2167467"/>
            </a:xfrm>
            <a:custGeom>
              <a:avLst/>
              <a:gdLst/>
              <a:ahLst/>
              <a:cxnLst/>
              <a:rect l="l" t="t" r="r" b="b"/>
              <a:pathLst>
                <a:path w="61760" h="2167467">
                  <a:moveTo>
                    <a:pt x="0" y="0"/>
                  </a:moveTo>
                  <a:lnTo>
                    <a:pt x="61760" y="0"/>
                  </a:lnTo>
                  <a:lnTo>
                    <a:pt x="61760" y="2167467"/>
                  </a:lnTo>
                  <a:lnTo>
                    <a:pt x="0" y="2167467"/>
                  </a:lnTo>
                  <a:close/>
                </a:path>
              </a:pathLst>
            </a:custGeom>
            <a:solidFill>
              <a:srgbClr val="FF873D"/>
            </a:solidFill>
          </p:spPr>
        </p:sp>
        <p:sp>
          <p:nvSpPr>
            <p:cNvPr id="9" name="TextBox 9"/>
            <p:cNvSpPr txBox="1"/>
            <p:nvPr/>
          </p:nvSpPr>
          <p:spPr>
            <a:xfrm>
              <a:off x="0" y="-38100"/>
              <a:ext cx="61760" cy="2205567"/>
            </a:xfrm>
            <a:prstGeom prst="rect">
              <a:avLst/>
            </a:prstGeom>
          </p:spPr>
          <p:txBody>
            <a:bodyPr lIns="50800" tIns="50800" rIns="50800" bIns="50800" rtlCol="0" anchor="ctr"/>
            <a:lstStyle/>
            <a:p>
              <a:pPr algn="ctr">
                <a:lnSpc>
                  <a:spcPts val="2380"/>
                </a:lnSpc>
              </a:pPr>
              <a:endParaRPr/>
            </a:p>
          </p:txBody>
        </p:sp>
      </p:grpSp>
      <p:grpSp>
        <p:nvGrpSpPr>
          <p:cNvPr id="10" name="Group 10"/>
          <p:cNvGrpSpPr/>
          <p:nvPr/>
        </p:nvGrpSpPr>
        <p:grpSpPr>
          <a:xfrm>
            <a:off x="-231633" y="-1921513"/>
            <a:ext cx="3860075" cy="386007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grpSp>
        <p:nvGrpSpPr>
          <p:cNvPr id="13" name="Group 13"/>
          <p:cNvGrpSpPr/>
          <p:nvPr/>
        </p:nvGrpSpPr>
        <p:grpSpPr>
          <a:xfrm>
            <a:off x="-450373" y="8525"/>
            <a:ext cx="2148777" cy="10278475"/>
            <a:chOff x="0" y="0"/>
            <a:chExt cx="229394" cy="1097284"/>
          </a:xfrm>
        </p:grpSpPr>
        <p:sp>
          <p:nvSpPr>
            <p:cNvPr id="14" name="Freeform 14"/>
            <p:cNvSpPr/>
            <p:nvPr/>
          </p:nvSpPr>
          <p:spPr>
            <a:xfrm>
              <a:off x="0" y="0"/>
              <a:ext cx="229394" cy="1097284"/>
            </a:xfrm>
            <a:custGeom>
              <a:avLst/>
              <a:gdLst/>
              <a:ahLst/>
              <a:cxnLst/>
              <a:rect l="l" t="t" r="r" b="b"/>
              <a:pathLst>
                <a:path w="229394" h="1097284">
                  <a:moveTo>
                    <a:pt x="0" y="0"/>
                  </a:moveTo>
                  <a:lnTo>
                    <a:pt x="229394" y="0"/>
                  </a:lnTo>
                  <a:lnTo>
                    <a:pt x="229394" y="1097284"/>
                  </a:lnTo>
                  <a:lnTo>
                    <a:pt x="0" y="1097284"/>
                  </a:lnTo>
                  <a:close/>
                </a:path>
              </a:pathLst>
            </a:custGeom>
            <a:solidFill>
              <a:srgbClr val="FF873D"/>
            </a:solidFill>
          </p:spPr>
        </p:sp>
        <p:sp>
          <p:nvSpPr>
            <p:cNvPr id="15" name="TextBox 15"/>
            <p:cNvSpPr txBox="1"/>
            <p:nvPr/>
          </p:nvSpPr>
          <p:spPr>
            <a:xfrm>
              <a:off x="0" y="-38100"/>
              <a:ext cx="229394" cy="1135384"/>
            </a:xfrm>
            <a:prstGeom prst="rect">
              <a:avLst/>
            </a:prstGeom>
          </p:spPr>
          <p:txBody>
            <a:bodyPr lIns="50800" tIns="50800" rIns="50800" bIns="50800" rtlCol="0" anchor="ctr"/>
            <a:lstStyle/>
            <a:p>
              <a:pPr algn="ctr">
                <a:lnSpc>
                  <a:spcPts val="2380"/>
                </a:lnSpc>
              </a:pPr>
              <a:endParaRPr/>
            </a:p>
          </p:txBody>
        </p:sp>
      </p:grpSp>
      <p:grpSp>
        <p:nvGrpSpPr>
          <p:cNvPr id="16" name="Group 16"/>
          <p:cNvGrpSpPr/>
          <p:nvPr/>
        </p:nvGrpSpPr>
        <p:grpSpPr>
          <a:xfrm>
            <a:off x="9547785" y="7287542"/>
            <a:ext cx="5386334" cy="5386334"/>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p:spPr>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sp>
        <p:nvSpPr>
          <p:cNvPr id="19" name="Freeform 19"/>
          <p:cNvSpPr/>
          <p:nvPr/>
        </p:nvSpPr>
        <p:spPr>
          <a:xfrm>
            <a:off x="5943600" y="50926"/>
            <a:ext cx="8858043" cy="10274174"/>
          </a:xfrm>
          <a:custGeom>
            <a:avLst/>
            <a:gdLst/>
            <a:ahLst/>
            <a:cxnLst/>
            <a:rect l="l" t="t" r="r" b="b"/>
            <a:pathLst>
              <a:path w="8858043" h="10274174">
                <a:moveTo>
                  <a:pt x="0" y="0"/>
                </a:moveTo>
                <a:lnTo>
                  <a:pt x="8858044" y="0"/>
                </a:lnTo>
                <a:lnTo>
                  <a:pt x="8858044" y="10274174"/>
                </a:lnTo>
                <a:lnTo>
                  <a:pt x="0" y="10274174"/>
                </a:lnTo>
                <a:lnTo>
                  <a:pt x="0" y="0"/>
                </a:lnTo>
                <a:close/>
              </a:path>
            </a:pathLst>
          </a:custGeom>
          <a:blipFill>
            <a:blip r:embed="rId7"/>
            <a:stretch>
              <a:fillRect/>
            </a:stretch>
          </a:blipFill>
        </p:spPr>
      </p:sp>
      <p:sp>
        <p:nvSpPr>
          <p:cNvPr id="20" name="TextBox 20"/>
          <p:cNvSpPr txBox="1"/>
          <p:nvPr/>
        </p:nvSpPr>
        <p:spPr>
          <a:xfrm>
            <a:off x="1869033" y="797981"/>
            <a:ext cx="5081004" cy="5656579"/>
          </a:xfrm>
          <a:prstGeom prst="rect">
            <a:avLst/>
          </a:prstGeom>
        </p:spPr>
        <p:txBody>
          <a:bodyPr wrap="square" lIns="0" tIns="0" rIns="0" bIns="0" rtlCol="0" anchor="t">
            <a:spAutoFit/>
          </a:bodyPr>
          <a:lstStyle/>
          <a:p>
            <a:pPr algn="l">
              <a:lnSpc>
                <a:spcPts val="10734"/>
              </a:lnSpc>
            </a:pPr>
            <a:r>
              <a:rPr lang="en-US" sz="9499" dirty="0">
                <a:solidFill>
                  <a:srgbClr val="000000"/>
                </a:solidFill>
                <a:latin typeface="Impact"/>
                <a:ea typeface="Impact"/>
                <a:cs typeface="Impact"/>
                <a:sym typeface="Impact"/>
              </a:rPr>
              <a:t>RF19 - DIAGRAMA CASO DE USO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29169" y="8438291"/>
            <a:ext cx="18317169" cy="1848709"/>
            <a:chOff x="0" y="0"/>
            <a:chExt cx="4824275" cy="486903"/>
          </a:xfrm>
        </p:grpSpPr>
        <p:sp>
          <p:nvSpPr>
            <p:cNvPr id="3" name="Freeform 3"/>
            <p:cNvSpPr/>
            <p:nvPr/>
          </p:nvSpPr>
          <p:spPr>
            <a:xfrm>
              <a:off x="0" y="0"/>
              <a:ext cx="4824275" cy="486903"/>
            </a:xfrm>
            <a:custGeom>
              <a:avLst/>
              <a:gdLst/>
              <a:ahLst/>
              <a:cxnLst/>
              <a:rect l="l" t="t" r="r" b="b"/>
              <a:pathLst>
                <a:path w="4824275" h="486903">
                  <a:moveTo>
                    <a:pt x="0" y="0"/>
                  </a:moveTo>
                  <a:lnTo>
                    <a:pt x="4824275" y="0"/>
                  </a:lnTo>
                  <a:lnTo>
                    <a:pt x="4824275" y="486903"/>
                  </a:lnTo>
                  <a:lnTo>
                    <a:pt x="0" y="486903"/>
                  </a:lnTo>
                  <a:close/>
                </a:path>
              </a:pathLst>
            </a:custGeom>
            <a:solidFill>
              <a:srgbClr val="545454"/>
            </a:solidFill>
          </p:spPr>
        </p:sp>
        <p:sp>
          <p:nvSpPr>
            <p:cNvPr id="4" name="TextBox 4"/>
            <p:cNvSpPr txBox="1"/>
            <p:nvPr/>
          </p:nvSpPr>
          <p:spPr>
            <a:xfrm>
              <a:off x="0" y="-38100"/>
              <a:ext cx="4824275" cy="525003"/>
            </a:xfrm>
            <a:prstGeom prst="rect">
              <a:avLst/>
            </a:prstGeom>
          </p:spPr>
          <p:txBody>
            <a:bodyPr lIns="50800" tIns="50800" rIns="50800" bIns="50800" rtlCol="0" anchor="ctr"/>
            <a:lstStyle/>
            <a:p>
              <a:pPr algn="ctr">
                <a:lnSpc>
                  <a:spcPts val="2380"/>
                </a:lnSpc>
              </a:pPr>
              <a:endParaRPr/>
            </a:p>
          </p:txBody>
        </p:sp>
      </p:grpSp>
      <p:sp>
        <p:nvSpPr>
          <p:cNvPr id="5" name="TextBox 5"/>
          <p:cNvSpPr txBox="1"/>
          <p:nvPr/>
        </p:nvSpPr>
        <p:spPr>
          <a:xfrm>
            <a:off x="1042879" y="1014626"/>
            <a:ext cx="14672755" cy="1570354"/>
          </a:xfrm>
          <a:prstGeom prst="rect">
            <a:avLst/>
          </a:prstGeom>
        </p:spPr>
        <p:txBody>
          <a:bodyPr lIns="0" tIns="0" rIns="0" bIns="0" rtlCol="0" anchor="t">
            <a:spAutoFit/>
          </a:bodyPr>
          <a:lstStyle/>
          <a:p>
            <a:pPr algn="l">
              <a:lnSpc>
                <a:spcPts val="10734"/>
              </a:lnSpc>
            </a:pPr>
            <a:r>
              <a:rPr lang="en-US" sz="9499">
                <a:solidFill>
                  <a:srgbClr val="000000"/>
                </a:solidFill>
                <a:latin typeface="Impact"/>
                <a:ea typeface="Impact"/>
                <a:cs typeface="Impact"/>
                <a:sym typeface="Impact"/>
              </a:rPr>
              <a:t>RF19 - DIAGRAMA SECUENCIA</a:t>
            </a:r>
          </a:p>
        </p:txBody>
      </p:sp>
      <p:grpSp>
        <p:nvGrpSpPr>
          <p:cNvPr id="6" name="Group 6"/>
          <p:cNvGrpSpPr/>
          <p:nvPr/>
        </p:nvGrpSpPr>
        <p:grpSpPr>
          <a:xfrm>
            <a:off x="13202488" y="-2972048"/>
            <a:ext cx="7186254" cy="718625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sp>
        <p:nvSpPr>
          <p:cNvPr id="9" name="Freeform 9"/>
          <p:cNvSpPr/>
          <p:nvPr/>
        </p:nvSpPr>
        <p:spPr>
          <a:xfrm rot="-10800000">
            <a:off x="14953988" y="1193634"/>
            <a:ext cx="5741326" cy="668082"/>
          </a:xfrm>
          <a:custGeom>
            <a:avLst/>
            <a:gdLst/>
            <a:ahLst/>
            <a:cxnLst/>
            <a:rect l="l" t="t" r="r" b="b"/>
            <a:pathLst>
              <a:path w="5741326" h="668082">
                <a:moveTo>
                  <a:pt x="0" y="0"/>
                </a:moveTo>
                <a:lnTo>
                  <a:pt x="5741325" y="0"/>
                </a:lnTo>
                <a:lnTo>
                  <a:pt x="5741325" y="668082"/>
                </a:lnTo>
                <a:lnTo>
                  <a:pt x="0" y="6680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rot="-5400000">
            <a:off x="1648039" y="-94030"/>
            <a:ext cx="219896" cy="1430217"/>
          </a:xfrm>
          <a:custGeom>
            <a:avLst/>
            <a:gdLst/>
            <a:ahLst/>
            <a:cxnLst/>
            <a:rect l="l" t="t" r="r" b="b"/>
            <a:pathLst>
              <a:path w="219896" h="1430217">
                <a:moveTo>
                  <a:pt x="0" y="0"/>
                </a:moveTo>
                <a:lnTo>
                  <a:pt x="219896" y="0"/>
                </a:lnTo>
                <a:lnTo>
                  <a:pt x="219896" y="1430217"/>
                </a:lnTo>
                <a:lnTo>
                  <a:pt x="0" y="143021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a:off x="992556" y="2391546"/>
            <a:ext cx="16302889" cy="6867592"/>
          </a:xfrm>
          <a:custGeom>
            <a:avLst/>
            <a:gdLst/>
            <a:ahLst/>
            <a:cxnLst/>
            <a:rect l="l" t="t" r="r" b="b"/>
            <a:pathLst>
              <a:path w="16302889" h="6867592">
                <a:moveTo>
                  <a:pt x="0" y="0"/>
                </a:moveTo>
                <a:lnTo>
                  <a:pt x="16302888" y="0"/>
                </a:lnTo>
                <a:lnTo>
                  <a:pt x="16302888" y="6867592"/>
                </a:lnTo>
                <a:lnTo>
                  <a:pt x="0" y="6867592"/>
                </a:lnTo>
                <a:lnTo>
                  <a:pt x="0" y="0"/>
                </a:lnTo>
                <a:close/>
              </a:path>
            </a:pathLst>
          </a:custGeom>
          <a:blipFill>
            <a:blip r:embed="rId7"/>
            <a:stretch>
              <a:fillRect/>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29169" y="8231276"/>
            <a:ext cx="18317169" cy="2055724"/>
            <a:chOff x="0" y="0"/>
            <a:chExt cx="4824275" cy="541425"/>
          </a:xfrm>
        </p:grpSpPr>
        <p:sp>
          <p:nvSpPr>
            <p:cNvPr id="3" name="Freeform 3"/>
            <p:cNvSpPr/>
            <p:nvPr/>
          </p:nvSpPr>
          <p:spPr>
            <a:xfrm>
              <a:off x="0" y="0"/>
              <a:ext cx="4824275" cy="541425"/>
            </a:xfrm>
            <a:custGeom>
              <a:avLst/>
              <a:gdLst/>
              <a:ahLst/>
              <a:cxnLst/>
              <a:rect l="l" t="t" r="r" b="b"/>
              <a:pathLst>
                <a:path w="4824275" h="541425">
                  <a:moveTo>
                    <a:pt x="0" y="0"/>
                  </a:moveTo>
                  <a:lnTo>
                    <a:pt x="4824275" y="0"/>
                  </a:lnTo>
                  <a:lnTo>
                    <a:pt x="4824275" y="541425"/>
                  </a:lnTo>
                  <a:lnTo>
                    <a:pt x="0" y="541425"/>
                  </a:lnTo>
                  <a:close/>
                </a:path>
              </a:pathLst>
            </a:custGeom>
            <a:solidFill>
              <a:srgbClr val="545454"/>
            </a:solidFill>
          </p:spPr>
        </p:sp>
        <p:sp>
          <p:nvSpPr>
            <p:cNvPr id="4" name="TextBox 4"/>
            <p:cNvSpPr txBox="1"/>
            <p:nvPr/>
          </p:nvSpPr>
          <p:spPr>
            <a:xfrm>
              <a:off x="0" y="-38100"/>
              <a:ext cx="4824275" cy="579525"/>
            </a:xfrm>
            <a:prstGeom prst="rect">
              <a:avLst/>
            </a:prstGeom>
          </p:spPr>
          <p:txBody>
            <a:bodyPr lIns="50800" tIns="50800" rIns="50800" bIns="50800" rtlCol="0" anchor="ctr"/>
            <a:lstStyle/>
            <a:p>
              <a:pPr algn="ctr">
                <a:lnSpc>
                  <a:spcPts val="2380"/>
                </a:lnSpc>
              </a:pPr>
              <a:endParaRPr/>
            </a:p>
          </p:txBody>
        </p:sp>
      </p:grpSp>
      <p:sp>
        <p:nvSpPr>
          <p:cNvPr id="5" name="TextBox 5"/>
          <p:cNvSpPr txBox="1"/>
          <p:nvPr/>
        </p:nvSpPr>
        <p:spPr>
          <a:xfrm>
            <a:off x="1042879" y="1014626"/>
            <a:ext cx="14672755" cy="1570354"/>
          </a:xfrm>
          <a:prstGeom prst="rect">
            <a:avLst/>
          </a:prstGeom>
        </p:spPr>
        <p:txBody>
          <a:bodyPr lIns="0" tIns="0" rIns="0" bIns="0" rtlCol="0" anchor="t">
            <a:spAutoFit/>
          </a:bodyPr>
          <a:lstStyle/>
          <a:p>
            <a:pPr algn="l">
              <a:lnSpc>
                <a:spcPts val="10734"/>
              </a:lnSpc>
            </a:pPr>
            <a:r>
              <a:rPr lang="en-US" sz="9499">
                <a:solidFill>
                  <a:srgbClr val="000000"/>
                </a:solidFill>
                <a:latin typeface="Impact"/>
                <a:ea typeface="Impact"/>
                <a:cs typeface="Impact"/>
                <a:sym typeface="Impact"/>
              </a:rPr>
              <a:t>RF19 - DIAGRAMA EXCEPCIÓN 1</a:t>
            </a:r>
          </a:p>
        </p:txBody>
      </p:sp>
      <p:grpSp>
        <p:nvGrpSpPr>
          <p:cNvPr id="6" name="Group 6"/>
          <p:cNvGrpSpPr/>
          <p:nvPr/>
        </p:nvGrpSpPr>
        <p:grpSpPr>
          <a:xfrm>
            <a:off x="12565518" y="-2454676"/>
            <a:ext cx="7186254" cy="718625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sp>
        <p:nvSpPr>
          <p:cNvPr id="9" name="Freeform 9"/>
          <p:cNvSpPr/>
          <p:nvPr/>
        </p:nvSpPr>
        <p:spPr>
          <a:xfrm rot="-10800000">
            <a:off x="15392400" y="1193634"/>
            <a:ext cx="5741326" cy="668082"/>
          </a:xfrm>
          <a:custGeom>
            <a:avLst/>
            <a:gdLst/>
            <a:ahLst/>
            <a:cxnLst/>
            <a:rect l="l" t="t" r="r" b="b"/>
            <a:pathLst>
              <a:path w="5741326" h="668082">
                <a:moveTo>
                  <a:pt x="0" y="0"/>
                </a:moveTo>
                <a:lnTo>
                  <a:pt x="5741325" y="0"/>
                </a:lnTo>
                <a:lnTo>
                  <a:pt x="5741325" y="668082"/>
                </a:lnTo>
                <a:lnTo>
                  <a:pt x="0" y="6680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rot="-5400000">
            <a:off x="1648039" y="-94030"/>
            <a:ext cx="219896" cy="1430217"/>
          </a:xfrm>
          <a:custGeom>
            <a:avLst/>
            <a:gdLst/>
            <a:ahLst/>
            <a:cxnLst/>
            <a:rect l="l" t="t" r="r" b="b"/>
            <a:pathLst>
              <a:path w="219896" h="1430217">
                <a:moveTo>
                  <a:pt x="0" y="0"/>
                </a:moveTo>
                <a:lnTo>
                  <a:pt x="219896" y="0"/>
                </a:lnTo>
                <a:lnTo>
                  <a:pt x="219896" y="1430217"/>
                </a:lnTo>
                <a:lnTo>
                  <a:pt x="0" y="143021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a:off x="1159916" y="2328441"/>
            <a:ext cx="15968169" cy="6706631"/>
          </a:xfrm>
          <a:custGeom>
            <a:avLst/>
            <a:gdLst/>
            <a:ahLst/>
            <a:cxnLst/>
            <a:rect l="l" t="t" r="r" b="b"/>
            <a:pathLst>
              <a:path w="15968169" h="6706631">
                <a:moveTo>
                  <a:pt x="0" y="0"/>
                </a:moveTo>
                <a:lnTo>
                  <a:pt x="15968168" y="0"/>
                </a:lnTo>
                <a:lnTo>
                  <a:pt x="15968168" y="6706631"/>
                </a:lnTo>
                <a:lnTo>
                  <a:pt x="0" y="6706631"/>
                </a:lnTo>
                <a:lnTo>
                  <a:pt x="0" y="0"/>
                </a:lnTo>
                <a:close/>
              </a:path>
            </a:pathLst>
          </a:custGeom>
          <a:blipFill>
            <a:blip r:embed="rId7"/>
            <a:stretch>
              <a:fillRect/>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29169" y="8231276"/>
            <a:ext cx="18317169" cy="2055724"/>
            <a:chOff x="0" y="0"/>
            <a:chExt cx="4824275" cy="541425"/>
          </a:xfrm>
        </p:grpSpPr>
        <p:sp>
          <p:nvSpPr>
            <p:cNvPr id="3" name="Freeform 3"/>
            <p:cNvSpPr/>
            <p:nvPr/>
          </p:nvSpPr>
          <p:spPr>
            <a:xfrm>
              <a:off x="0" y="0"/>
              <a:ext cx="4824275" cy="541425"/>
            </a:xfrm>
            <a:custGeom>
              <a:avLst/>
              <a:gdLst/>
              <a:ahLst/>
              <a:cxnLst/>
              <a:rect l="l" t="t" r="r" b="b"/>
              <a:pathLst>
                <a:path w="4824275" h="541425">
                  <a:moveTo>
                    <a:pt x="0" y="0"/>
                  </a:moveTo>
                  <a:lnTo>
                    <a:pt x="4824275" y="0"/>
                  </a:lnTo>
                  <a:lnTo>
                    <a:pt x="4824275" y="541425"/>
                  </a:lnTo>
                  <a:lnTo>
                    <a:pt x="0" y="541425"/>
                  </a:lnTo>
                  <a:close/>
                </a:path>
              </a:pathLst>
            </a:custGeom>
            <a:solidFill>
              <a:srgbClr val="545454"/>
            </a:solidFill>
          </p:spPr>
        </p:sp>
        <p:sp>
          <p:nvSpPr>
            <p:cNvPr id="4" name="TextBox 4"/>
            <p:cNvSpPr txBox="1"/>
            <p:nvPr/>
          </p:nvSpPr>
          <p:spPr>
            <a:xfrm>
              <a:off x="0" y="-38100"/>
              <a:ext cx="4824275" cy="579525"/>
            </a:xfrm>
            <a:prstGeom prst="rect">
              <a:avLst/>
            </a:prstGeom>
          </p:spPr>
          <p:txBody>
            <a:bodyPr lIns="50800" tIns="50800" rIns="50800" bIns="50800" rtlCol="0" anchor="ctr"/>
            <a:lstStyle/>
            <a:p>
              <a:pPr algn="ctr">
                <a:lnSpc>
                  <a:spcPts val="2380"/>
                </a:lnSpc>
              </a:pPr>
              <a:endParaRPr/>
            </a:p>
          </p:txBody>
        </p:sp>
      </p:grpSp>
      <p:sp>
        <p:nvSpPr>
          <p:cNvPr id="5" name="TextBox 5"/>
          <p:cNvSpPr txBox="1"/>
          <p:nvPr/>
        </p:nvSpPr>
        <p:spPr>
          <a:xfrm>
            <a:off x="1042879" y="1014626"/>
            <a:ext cx="14672755" cy="1570354"/>
          </a:xfrm>
          <a:prstGeom prst="rect">
            <a:avLst/>
          </a:prstGeom>
        </p:spPr>
        <p:txBody>
          <a:bodyPr lIns="0" tIns="0" rIns="0" bIns="0" rtlCol="0" anchor="t">
            <a:spAutoFit/>
          </a:bodyPr>
          <a:lstStyle/>
          <a:p>
            <a:pPr algn="l">
              <a:lnSpc>
                <a:spcPts val="10734"/>
              </a:lnSpc>
            </a:pPr>
            <a:r>
              <a:rPr lang="en-US" sz="9499">
                <a:solidFill>
                  <a:srgbClr val="000000"/>
                </a:solidFill>
                <a:latin typeface="Impact"/>
                <a:ea typeface="Impact"/>
                <a:cs typeface="Impact"/>
                <a:sym typeface="Impact"/>
              </a:rPr>
              <a:t>RF19 - DIAGRAMA EXCEPCIÓN 2</a:t>
            </a:r>
          </a:p>
        </p:txBody>
      </p:sp>
      <p:grpSp>
        <p:nvGrpSpPr>
          <p:cNvPr id="6" name="Group 6"/>
          <p:cNvGrpSpPr/>
          <p:nvPr/>
        </p:nvGrpSpPr>
        <p:grpSpPr>
          <a:xfrm>
            <a:off x="12565518" y="-2454676"/>
            <a:ext cx="7186254" cy="718625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sp>
        <p:nvSpPr>
          <p:cNvPr id="9" name="Freeform 9"/>
          <p:cNvSpPr/>
          <p:nvPr/>
        </p:nvSpPr>
        <p:spPr>
          <a:xfrm rot="-10800000">
            <a:off x="15518474" y="1183379"/>
            <a:ext cx="5741326" cy="668082"/>
          </a:xfrm>
          <a:custGeom>
            <a:avLst/>
            <a:gdLst/>
            <a:ahLst/>
            <a:cxnLst/>
            <a:rect l="l" t="t" r="r" b="b"/>
            <a:pathLst>
              <a:path w="5741326" h="668082">
                <a:moveTo>
                  <a:pt x="0" y="0"/>
                </a:moveTo>
                <a:lnTo>
                  <a:pt x="5741325" y="0"/>
                </a:lnTo>
                <a:lnTo>
                  <a:pt x="5741325" y="668082"/>
                </a:lnTo>
                <a:lnTo>
                  <a:pt x="0" y="6680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rot="-5400000">
            <a:off x="1648039" y="-94030"/>
            <a:ext cx="219896" cy="1430217"/>
          </a:xfrm>
          <a:custGeom>
            <a:avLst/>
            <a:gdLst/>
            <a:ahLst/>
            <a:cxnLst/>
            <a:rect l="l" t="t" r="r" b="b"/>
            <a:pathLst>
              <a:path w="219896" h="1430217">
                <a:moveTo>
                  <a:pt x="0" y="0"/>
                </a:moveTo>
                <a:lnTo>
                  <a:pt x="219896" y="0"/>
                </a:lnTo>
                <a:lnTo>
                  <a:pt x="219896" y="1430217"/>
                </a:lnTo>
                <a:lnTo>
                  <a:pt x="0" y="143021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a:off x="1429632" y="2584980"/>
            <a:ext cx="15428736" cy="6518641"/>
          </a:xfrm>
          <a:custGeom>
            <a:avLst/>
            <a:gdLst/>
            <a:ahLst/>
            <a:cxnLst/>
            <a:rect l="l" t="t" r="r" b="b"/>
            <a:pathLst>
              <a:path w="15428736" h="6518641">
                <a:moveTo>
                  <a:pt x="0" y="0"/>
                </a:moveTo>
                <a:lnTo>
                  <a:pt x="15428736" y="0"/>
                </a:lnTo>
                <a:lnTo>
                  <a:pt x="15428736" y="6518641"/>
                </a:lnTo>
                <a:lnTo>
                  <a:pt x="0" y="6518641"/>
                </a:lnTo>
                <a:lnTo>
                  <a:pt x="0" y="0"/>
                </a:lnTo>
                <a:close/>
              </a:path>
            </a:pathLst>
          </a:custGeom>
          <a:blipFill>
            <a:blip r:embed="rId7"/>
            <a:stretch>
              <a:fillRect/>
            </a:stretch>
          </a:blipFill>
        </p:spPr>
      </p:sp>
      <p:sp>
        <p:nvSpPr>
          <p:cNvPr id="12" name="TextBox 12"/>
          <p:cNvSpPr txBox="1"/>
          <p:nvPr/>
        </p:nvSpPr>
        <p:spPr>
          <a:xfrm>
            <a:off x="13588555" y="7742328"/>
            <a:ext cx="2730865" cy="450848"/>
          </a:xfrm>
          <a:prstGeom prst="rect">
            <a:avLst/>
          </a:prstGeom>
        </p:spPr>
        <p:txBody>
          <a:bodyPr lIns="0" tIns="0" rIns="0" bIns="0" rtlCol="0" anchor="t">
            <a:spAutoFit/>
          </a:bodyPr>
          <a:lstStyle/>
          <a:p>
            <a:pPr algn="l">
              <a:lnSpc>
                <a:spcPts val="3500"/>
              </a:lnSpc>
            </a:pPr>
            <a:r>
              <a:rPr lang="en-US" sz="2500" b="1">
                <a:solidFill>
                  <a:srgbClr val="FFFFFF"/>
                </a:solidFill>
                <a:latin typeface="Poppins Ultra-Bold"/>
                <a:ea typeface="Poppins Ultra-Bold"/>
                <a:cs typeface="Poppins Ultra-Bold"/>
                <a:sym typeface="Poppins Ultra-Bold"/>
              </a:rPr>
              <a:t>EFFICIENCY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3244373" y="1028700"/>
            <a:ext cx="3706184" cy="9258300"/>
            <a:chOff x="0" y="0"/>
            <a:chExt cx="752722" cy="1880350"/>
          </a:xfrm>
        </p:grpSpPr>
        <p:sp>
          <p:nvSpPr>
            <p:cNvPr id="3" name="Freeform 3"/>
            <p:cNvSpPr/>
            <p:nvPr/>
          </p:nvSpPr>
          <p:spPr>
            <a:xfrm>
              <a:off x="0" y="0"/>
              <a:ext cx="752722" cy="1880350"/>
            </a:xfrm>
            <a:custGeom>
              <a:avLst/>
              <a:gdLst/>
              <a:ahLst/>
              <a:cxnLst/>
              <a:rect l="l" t="t" r="r" b="b"/>
              <a:pathLst>
                <a:path w="752722" h="1880350">
                  <a:moveTo>
                    <a:pt x="0" y="0"/>
                  </a:moveTo>
                  <a:lnTo>
                    <a:pt x="752722" y="0"/>
                  </a:lnTo>
                  <a:lnTo>
                    <a:pt x="752722" y="1880350"/>
                  </a:lnTo>
                  <a:lnTo>
                    <a:pt x="0" y="1880350"/>
                  </a:lnTo>
                  <a:close/>
                </a:path>
              </a:pathLst>
            </a:custGeom>
            <a:solidFill>
              <a:srgbClr val="FF873D">
                <a:alpha val="18824"/>
              </a:srgbClr>
            </a:solidFill>
          </p:spPr>
        </p:sp>
        <p:sp>
          <p:nvSpPr>
            <p:cNvPr id="4" name="TextBox 4"/>
            <p:cNvSpPr txBox="1"/>
            <p:nvPr/>
          </p:nvSpPr>
          <p:spPr>
            <a:xfrm>
              <a:off x="0" y="-38100"/>
              <a:ext cx="752722" cy="1918450"/>
            </a:xfrm>
            <a:prstGeom prst="rect">
              <a:avLst/>
            </a:prstGeom>
          </p:spPr>
          <p:txBody>
            <a:bodyPr lIns="50800" tIns="50800" rIns="50800" bIns="50800" rtlCol="0" anchor="ctr"/>
            <a:lstStyle/>
            <a:p>
              <a:pPr algn="ctr">
                <a:lnSpc>
                  <a:spcPts val="2380"/>
                </a:lnSpc>
              </a:pPr>
              <a:endParaRPr/>
            </a:p>
          </p:txBody>
        </p:sp>
      </p:grpSp>
      <p:grpSp>
        <p:nvGrpSpPr>
          <p:cNvPr id="5" name="Group 5"/>
          <p:cNvGrpSpPr/>
          <p:nvPr/>
        </p:nvGrpSpPr>
        <p:grpSpPr>
          <a:xfrm>
            <a:off x="2257416" y="1830592"/>
            <a:ext cx="12789840" cy="7488898"/>
            <a:chOff x="0" y="0"/>
            <a:chExt cx="3368518" cy="1972385"/>
          </a:xfrm>
        </p:grpSpPr>
        <p:sp>
          <p:nvSpPr>
            <p:cNvPr id="6" name="Freeform 6"/>
            <p:cNvSpPr/>
            <p:nvPr/>
          </p:nvSpPr>
          <p:spPr>
            <a:xfrm>
              <a:off x="0" y="0"/>
              <a:ext cx="3368518" cy="1972385"/>
            </a:xfrm>
            <a:custGeom>
              <a:avLst/>
              <a:gdLst/>
              <a:ahLst/>
              <a:cxnLst/>
              <a:rect l="l" t="t" r="r" b="b"/>
              <a:pathLst>
                <a:path w="3368518" h="1972385">
                  <a:moveTo>
                    <a:pt x="0" y="0"/>
                  </a:moveTo>
                  <a:lnTo>
                    <a:pt x="3368518" y="0"/>
                  </a:lnTo>
                  <a:lnTo>
                    <a:pt x="3368518" y="1972385"/>
                  </a:lnTo>
                  <a:lnTo>
                    <a:pt x="0" y="1972385"/>
                  </a:lnTo>
                  <a:close/>
                </a:path>
              </a:pathLst>
            </a:custGeom>
            <a:solidFill>
              <a:srgbClr val="FF873D"/>
            </a:solidFill>
          </p:spPr>
        </p:sp>
        <p:sp>
          <p:nvSpPr>
            <p:cNvPr id="7" name="TextBox 7"/>
            <p:cNvSpPr txBox="1"/>
            <p:nvPr/>
          </p:nvSpPr>
          <p:spPr>
            <a:xfrm>
              <a:off x="0" y="-38100"/>
              <a:ext cx="3368518" cy="2010485"/>
            </a:xfrm>
            <a:prstGeom prst="rect">
              <a:avLst/>
            </a:prstGeom>
          </p:spPr>
          <p:txBody>
            <a:bodyPr lIns="50800" tIns="50800" rIns="50800" bIns="50800" rtlCol="0" anchor="ctr"/>
            <a:lstStyle/>
            <a:p>
              <a:pPr algn="ctr">
                <a:lnSpc>
                  <a:spcPts val="2380"/>
                </a:lnSpc>
              </a:pPr>
              <a:endParaRPr/>
            </a:p>
          </p:txBody>
        </p:sp>
      </p:grpSp>
      <p:grpSp>
        <p:nvGrpSpPr>
          <p:cNvPr id="8" name="Group 8"/>
          <p:cNvGrpSpPr/>
          <p:nvPr/>
        </p:nvGrpSpPr>
        <p:grpSpPr>
          <a:xfrm>
            <a:off x="16021065" y="8467047"/>
            <a:ext cx="4001993" cy="400199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sp>
        <p:nvSpPr>
          <p:cNvPr id="11" name="Freeform 11"/>
          <p:cNvSpPr/>
          <p:nvPr/>
        </p:nvSpPr>
        <p:spPr>
          <a:xfrm rot="-5400000">
            <a:off x="16434244" y="8604381"/>
            <a:ext cx="219896" cy="1430217"/>
          </a:xfrm>
          <a:custGeom>
            <a:avLst/>
            <a:gdLst/>
            <a:ahLst/>
            <a:cxnLst/>
            <a:rect l="l" t="t" r="r" b="b"/>
            <a:pathLst>
              <a:path w="219896" h="1430217">
                <a:moveTo>
                  <a:pt x="0" y="0"/>
                </a:moveTo>
                <a:lnTo>
                  <a:pt x="219895" y="0"/>
                </a:lnTo>
                <a:lnTo>
                  <a:pt x="219895" y="1430217"/>
                </a:lnTo>
                <a:lnTo>
                  <a:pt x="0" y="143021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Freeform 12"/>
          <p:cNvSpPr/>
          <p:nvPr/>
        </p:nvSpPr>
        <p:spPr>
          <a:xfrm>
            <a:off x="1028700" y="1028700"/>
            <a:ext cx="1088196" cy="1088196"/>
          </a:xfrm>
          <a:custGeom>
            <a:avLst/>
            <a:gdLst/>
            <a:ahLst/>
            <a:cxnLst/>
            <a:rect l="l" t="t" r="r" b="b"/>
            <a:pathLst>
              <a:path w="1088196" h="1088196">
                <a:moveTo>
                  <a:pt x="0" y="0"/>
                </a:moveTo>
                <a:lnTo>
                  <a:pt x="1088196" y="0"/>
                </a:lnTo>
                <a:lnTo>
                  <a:pt x="1088196" y="1088196"/>
                </a:lnTo>
                <a:lnTo>
                  <a:pt x="0" y="108819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pic>
        <p:nvPicPr>
          <p:cNvPr id="13" name="Picture 1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9"/>
          <a:srcRect/>
          <a:stretch>
            <a:fillRect/>
          </a:stretch>
        </p:blipFill>
        <p:spPr>
          <a:xfrm>
            <a:off x="2557733" y="2233108"/>
            <a:ext cx="12176862" cy="6849485"/>
          </a:xfrm>
          <a:prstGeom prst="rect">
            <a:avLst/>
          </a:prstGeom>
        </p:spPr>
      </p:pic>
      <p:sp>
        <p:nvSpPr>
          <p:cNvPr id="14" name="TextBox 14"/>
          <p:cNvSpPr txBox="1"/>
          <p:nvPr/>
        </p:nvSpPr>
        <p:spPr>
          <a:xfrm>
            <a:off x="9601201" y="260240"/>
            <a:ext cx="7930406" cy="1372171"/>
          </a:xfrm>
          <a:prstGeom prst="rect">
            <a:avLst/>
          </a:prstGeom>
        </p:spPr>
        <p:txBody>
          <a:bodyPr wrap="square" lIns="0" tIns="0" rIns="0" bIns="0" rtlCol="0" anchor="t">
            <a:spAutoFit/>
          </a:bodyPr>
          <a:lstStyle/>
          <a:p>
            <a:pPr algn="r">
              <a:lnSpc>
                <a:spcPts val="10734"/>
              </a:lnSpc>
            </a:pPr>
            <a:r>
              <a:rPr lang="en-US" sz="9499" dirty="0">
                <a:solidFill>
                  <a:srgbClr val="000000"/>
                </a:solidFill>
                <a:latin typeface="Impact"/>
                <a:ea typeface="Impact"/>
                <a:cs typeface="Impact"/>
                <a:sym typeface="Impact"/>
              </a:rPr>
              <a:t>DEMOSTRACIÓN </a:t>
            </a:r>
          </a:p>
        </p:txBody>
      </p:sp>
    </p:spTree>
  </p:cSld>
  <p:clrMapOvr>
    <a:masterClrMapping/>
  </p:clrMapOvr>
  <p:timing>
    <p:tnLst>
      <p:par>
        <p:cTn id="1" dur="indefinite" restart="never" nodeType="tmRoot">
          <p:childTnLst>
            <p:video>
              <p:cMediaNode vol="100000">
                <p:cTn id="2" fill="hold" display="0">
                  <p:stCondLst>
                    <p:cond delay="indefinite"/>
                  </p:stCondLst>
                </p:cTn>
                <p:tgtEl>
                  <p:spTgt spid="13"/>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4432416" y="4521897"/>
            <a:ext cx="7613660" cy="761366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grpSp>
        <p:nvGrpSpPr>
          <p:cNvPr id="5" name="Group 5"/>
          <p:cNvGrpSpPr/>
          <p:nvPr/>
        </p:nvGrpSpPr>
        <p:grpSpPr>
          <a:xfrm>
            <a:off x="-106638" y="7971220"/>
            <a:ext cx="18501275" cy="2547950"/>
            <a:chOff x="0" y="0"/>
            <a:chExt cx="4872764" cy="671065"/>
          </a:xfrm>
        </p:grpSpPr>
        <p:sp>
          <p:nvSpPr>
            <p:cNvPr id="6" name="Freeform 6"/>
            <p:cNvSpPr/>
            <p:nvPr/>
          </p:nvSpPr>
          <p:spPr>
            <a:xfrm>
              <a:off x="0" y="0"/>
              <a:ext cx="4872764" cy="671065"/>
            </a:xfrm>
            <a:custGeom>
              <a:avLst/>
              <a:gdLst/>
              <a:ahLst/>
              <a:cxnLst/>
              <a:rect l="l" t="t" r="r" b="b"/>
              <a:pathLst>
                <a:path w="4872764" h="671065">
                  <a:moveTo>
                    <a:pt x="0" y="0"/>
                  </a:moveTo>
                  <a:lnTo>
                    <a:pt x="4872764" y="0"/>
                  </a:lnTo>
                  <a:lnTo>
                    <a:pt x="4872764" y="671065"/>
                  </a:lnTo>
                  <a:lnTo>
                    <a:pt x="0" y="671065"/>
                  </a:lnTo>
                  <a:close/>
                </a:path>
              </a:pathLst>
            </a:custGeom>
            <a:solidFill>
              <a:srgbClr val="545454"/>
            </a:solidFill>
          </p:spPr>
        </p:sp>
        <p:sp>
          <p:nvSpPr>
            <p:cNvPr id="7" name="TextBox 7"/>
            <p:cNvSpPr txBox="1"/>
            <p:nvPr/>
          </p:nvSpPr>
          <p:spPr>
            <a:xfrm>
              <a:off x="0" y="-38100"/>
              <a:ext cx="4872764" cy="709165"/>
            </a:xfrm>
            <a:prstGeom prst="rect">
              <a:avLst/>
            </a:prstGeom>
          </p:spPr>
          <p:txBody>
            <a:bodyPr lIns="50800" tIns="50800" rIns="50800" bIns="50800" rtlCol="0" anchor="ctr"/>
            <a:lstStyle/>
            <a:p>
              <a:pPr algn="ctr">
                <a:lnSpc>
                  <a:spcPts val="2380"/>
                </a:lnSpc>
              </a:pPr>
              <a:endParaRPr/>
            </a:p>
          </p:txBody>
        </p:sp>
      </p:grpSp>
      <p:grpSp>
        <p:nvGrpSpPr>
          <p:cNvPr id="8" name="Group 8"/>
          <p:cNvGrpSpPr/>
          <p:nvPr/>
        </p:nvGrpSpPr>
        <p:grpSpPr>
          <a:xfrm>
            <a:off x="13172228" y="2080353"/>
            <a:ext cx="2291432" cy="229143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sp>
        <p:nvSpPr>
          <p:cNvPr id="11" name="Freeform 11"/>
          <p:cNvSpPr/>
          <p:nvPr/>
        </p:nvSpPr>
        <p:spPr>
          <a:xfrm flipH="1">
            <a:off x="10749198" y="6312597"/>
            <a:ext cx="4714462" cy="420373"/>
          </a:xfrm>
          <a:custGeom>
            <a:avLst/>
            <a:gdLst/>
            <a:ahLst/>
            <a:cxnLst/>
            <a:rect l="l" t="t" r="r" b="b"/>
            <a:pathLst>
              <a:path w="4714462" h="420373">
                <a:moveTo>
                  <a:pt x="4714463" y="0"/>
                </a:moveTo>
                <a:lnTo>
                  <a:pt x="0" y="0"/>
                </a:lnTo>
                <a:lnTo>
                  <a:pt x="0" y="420373"/>
                </a:lnTo>
                <a:lnTo>
                  <a:pt x="4714463" y="420373"/>
                </a:lnTo>
                <a:lnTo>
                  <a:pt x="4714463"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2" name="Group 12"/>
          <p:cNvGrpSpPr/>
          <p:nvPr/>
        </p:nvGrpSpPr>
        <p:grpSpPr>
          <a:xfrm>
            <a:off x="-2609694" y="5597423"/>
            <a:ext cx="4689577" cy="4689577"/>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soli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grpSp>
        <p:nvGrpSpPr>
          <p:cNvPr id="15" name="Group 15"/>
          <p:cNvGrpSpPr/>
          <p:nvPr/>
        </p:nvGrpSpPr>
        <p:grpSpPr>
          <a:xfrm>
            <a:off x="14740038" y="-3443680"/>
            <a:ext cx="6669748" cy="6669748"/>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p:spPr>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sp>
        <p:nvSpPr>
          <p:cNvPr id="18" name="Freeform 18"/>
          <p:cNvSpPr/>
          <p:nvPr/>
        </p:nvSpPr>
        <p:spPr>
          <a:xfrm>
            <a:off x="14317944" y="8835817"/>
            <a:ext cx="1145716" cy="422483"/>
          </a:xfrm>
          <a:custGeom>
            <a:avLst/>
            <a:gdLst/>
            <a:ahLst/>
            <a:cxnLst/>
            <a:rect l="l" t="t" r="r" b="b"/>
            <a:pathLst>
              <a:path w="1145716" h="422483">
                <a:moveTo>
                  <a:pt x="0" y="0"/>
                </a:moveTo>
                <a:lnTo>
                  <a:pt x="1145717" y="0"/>
                </a:lnTo>
                <a:lnTo>
                  <a:pt x="1145717" y="422483"/>
                </a:lnTo>
                <a:lnTo>
                  <a:pt x="0" y="42248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9" name="TextBox 19"/>
          <p:cNvSpPr txBox="1"/>
          <p:nvPr/>
        </p:nvSpPr>
        <p:spPr>
          <a:xfrm>
            <a:off x="2523541" y="2461975"/>
            <a:ext cx="13797808" cy="2854324"/>
          </a:xfrm>
          <a:prstGeom prst="rect">
            <a:avLst/>
          </a:prstGeom>
        </p:spPr>
        <p:txBody>
          <a:bodyPr lIns="0" tIns="0" rIns="0" bIns="0" rtlCol="0" anchor="t">
            <a:spAutoFit/>
          </a:bodyPr>
          <a:lstStyle/>
          <a:p>
            <a:pPr algn="ctr">
              <a:lnSpc>
                <a:spcPts val="10299"/>
              </a:lnSpc>
            </a:pPr>
            <a:r>
              <a:rPr lang="en-US" sz="9999">
                <a:solidFill>
                  <a:srgbClr val="000000"/>
                </a:solidFill>
                <a:latin typeface="Impact"/>
                <a:ea typeface="Impact"/>
                <a:cs typeface="Impact"/>
                <a:sym typeface="Impact"/>
              </a:rPr>
              <a:t>GRUPO 18:PUERTAS BLINDADAS - MODULO FINANCIERO</a:t>
            </a:r>
          </a:p>
        </p:txBody>
      </p:sp>
      <p:sp>
        <p:nvSpPr>
          <p:cNvPr id="20" name="TextBox 20"/>
          <p:cNvSpPr txBox="1"/>
          <p:nvPr/>
        </p:nvSpPr>
        <p:spPr>
          <a:xfrm>
            <a:off x="4349834" y="5678872"/>
            <a:ext cx="5851822" cy="1758948"/>
          </a:xfrm>
          <a:prstGeom prst="rect">
            <a:avLst/>
          </a:prstGeom>
        </p:spPr>
        <p:txBody>
          <a:bodyPr lIns="0" tIns="0" rIns="0" bIns="0" rtlCol="0" anchor="t">
            <a:spAutoFit/>
          </a:bodyPr>
          <a:lstStyle/>
          <a:p>
            <a:pPr algn="just">
              <a:lnSpc>
                <a:spcPts val="2800"/>
              </a:lnSpc>
            </a:pPr>
            <a:r>
              <a:rPr lang="en-US" sz="2000" b="1">
                <a:solidFill>
                  <a:srgbClr val="7D7C7C"/>
                </a:solidFill>
                <a:latin typeface="Inter Medium"/>
                <a:ea typeface="Inter Medium"/>
                <a:cs typeface="Inter Medium"/>
                <a:sym typeface="Inter Medium"/>
              </a:rPr>
              <a:t>Angella Sanchez</a:t>
            </a:r>
          </a:p>
          <a:p>
            <a:pPr algn="just">
              <a:lnSpc>
                <a:spcPts val="2800"/>
              </a:lnSpc>
            </a:pPr>
            <a:r>
              <a:rPr lang="en-US" sz="2000" b="1">
                <a:solidFill>
                  <a:srgbClr val="7D7C7C"/>
                </a:solidFill>
                <a:latin typeface="Inter Medium"/>
                <a:ea typeface="Inter Medium"/>
                <a:cs typeface="Inter Medium"/>
                <a:sym typeface="Inter Medium"/>
              </a:rPr>
              <a:t>Daniella Lecanda</a:t>
            </a:r>
          </a:p>
          <a:p>
            <a:pPr algn="just">
              <a:lnSpc>
                <a:spcPts val="2800"/>
              </a:lnSpc>
            </a:pPr>
            <a:r>
              <a:rPr lang="en-US" sz="2000" b="1">
                <a:solidFill>
                  <a:srgbClr val="7D7C7C"/>
                </a:solidFill>
                <a:latin typeface="Inter Medium"/>
                <a:ea typeface="Inter Medium"/>
                <a:cs typeface="Inter Medium"/>
                <a:sym typeface="Inter Medium"/>
              </a:rPr>
              <a:t>Gianella Catalán</a:t>
            </a:r>
          </a:p>
          <a:p>
            <a:pPr algn="just">
              <a:lnSpc>
                <a:spcPts val="2800"/>
              </a:lnSpc>
            </a:pPr>
            <a:r>
              <a:rPr lang="en-US" sz="2000" b="1">
                <a:solidFill>
                  <a:srgbClr val="7D7C7C"/>
                </a:solidFill>
                <a:latin typeface="Inter Medium"/>
                <a:ea typeface="Inter Medium"/>
                <a:cs typeface="Inter Medium"/>
                <a:sym typeface="Inter Medium"/>
              </a:rPr>
              <a:t>Sebastian Bravo</a:t>
            </a:r>
          </a:p>
          <a:p>
            <a:pPr algn="just">
              <a:lnSpc>
                <a:spcPts val="2800"/>
              </a:lnSpc>
            </a:pPr>
            <a:r>
              <a:rPr lang="en-US" sz="2000" b="1">
                <a:solidFill>
                  <a:srgbClr val="7D7C7C"/>
                </a:solidFill>
                <a:latin typeface="Inter Medium"/>
                <a:ea typeface="Inter Medium"/>
                <a:cs typeface="Inter Medium"/>
                <a:sym typeface="Inter Medium"/>
              </a:rPr>
              <a:t>Vicente Hernandez</a:t>
            </a:r>
          </a:p>
        </p:txBody>
      </p:sp>
      <p:sp>
        <p:nvSpPr>
          <p:cNvPr id="21" name="Freeform 21"/>
          <p:cNvSpPr/>
          <p:nvPr/>
        </p:nvSpPr>
        <p:spPr>
          <a:xfrm>
            <a:off x="285085" y="176461"/>
            <a:ext cx="5519290" cy="2028339"/>
          </a:xfrm>
          <a:custGeom>
            <a:avLst/>
            <a:gdLst/>
            <a:ahLst/>
            <a:cxnLst/>
            <a:rect l="l" t="t" r="r" b="b"/>
            <a:pathLst>
              <a:path w="5519290" h="2028339">
                <a:moveTo>
                  <a:pt x="0" y="0"/>
                </a:moveTo>
                <a:lnTo>
                  <a:pt x="5519289" y="0"/>
                </a:lnTo>
                <a:lnTo>
                  <a:pt x="5519289" y="2028339"/>
                </a:lnTo>
                <a:lnTo>
                  <a:pt x="0" y="2028339"/>
                </a:lnTo>
                <a:lnTo>
                  <a:pt x="0" y="0"/>
                </a:lnTo>
                <a:close/>
              </a:path>
            </a:pathLst>
          </a:custGeom>
          <a:blipFill>
            <a:blip r:embed="rId7"/>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1591</Words>
  <Application>Microsoft Office PowerPoint</Application>
  <PresentationFormat>Personalizado</PresentationFormat>
  <Paragraphs>194</Paragraphs>
  <Slides>18</Slides>
  <Notes>18</Notes>
  <HiddenSlides>0</HiddenSlides>
  <MMClips>1</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18</vt:i4>
      </vt:variant>
    </vt:vector>
  </HeadingPairs>
  <TitlesOfParts>
    <vt:vector size="28" baseType="lpstr">
      <vt:lpstr>Impact</vt:lpstr>
      <vt:lpstr>Calibri</vt:lpstr>
      <vt:lpstr>Inter Bold</vt:lpstr>
      <vt:lpstr>Open Sans</vt:lpstr>
      <vt:lpstr>Inter</vt:lpstr>
      <vt:lpstr>Open Sans Bold</vt:lpstr>
      <vt:lpstr>Poppins Ultra-Bold</vt:lpstr>
      <vt:lpstr>Inter Medium</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Puertas Blindadas: Sistema financiero</dc:title>
  <dc:creator>Biblioteca</dc:creator>
  <cp:lastModifiedBy>Biblioteca</cp:lastModifiedBy>
  <cp:revision>2</cp:revision>
  <dcterms:created xsi:type="dcterms:W3CDTF">2006-08-16T00:00:00Z</dcterms:created>
  <dcterms:modified xsi:type="dcterms:W3CDTF">2026-06-16T15:18:15Z</dcterms:modified>
  <dc:identifier>DAHMBrIOJqo</dc:identifier>
</cp:coreProperties>
</file>